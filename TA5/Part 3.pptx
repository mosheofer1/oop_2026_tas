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61" r:id="rId4"/>
  </p:sldMasterIdLst>
  <p:sldIdLst>
    <p:sldId id="256" r:id="rId5"/>
    <p:sldId id="520" r:id="rId6"/>
    <p:sldId id="522" r:id="rId7"/>
    <p:sldId id="523" r:id="rId8"/>
    <p:sldId id="524" r:id="rId9"/>
    <p:sldId id="458" r:id="rId10"/>
    <p:sldId id="541" r:id="rId11"/>
    <p:sldId id="459" r:id="rId12"/>
    <p:sldId id="525" r:id="rId13"/>
    <p:sldId id="527" r:id="rId14"/>
    <p:sldId id="528" r:id="rId15"/>
    <p:sldId id="529" r:id="rId16"/>
    <p:sldId id="530"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016" autoAdjust="0"/>
    <p:restoredTop sz="94660"/>
  </p:normalViewPr>
  <p:slideViewPr>
    <p:cSldViewPr snapToGrid="0" showGuides="1">
      <p:cViewPr varScale="1">
        <p:scale>
          <a:sx n="56" d="100"/>
          <a:sy n="56" d="100"/>
        </p:scale>
        <p:origin x="354" y="6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4464028"/>
            <a:ext cx="9144000" cy="1641490"/>
          </a:xfrm>
        </p:spPr>
        <p:txBody>
          <a:bodyPr wrap="none" anchor="t">
            <a:normAutofit/>
          </a:bodyPr>
          <a:lstStyle>
            <a:lvl1pPr algn="r">
              <a:defRPr sz="9600" b="0" spc="-300">
                <a:gradFill flip="none" rotWithShape="1">
                  <a:gsLst>
                    <a:gs pos="32000">
                      <a:schemeClr val="tx1">
                        <a:lumMod val="89000"/>
                      </a:schemeClr>
                    </a:gs>
                    <a:gs pos="0">
                      <a:schemeClr val="bg1">
                        <a:lumMod val="41000"/>
                        <a:lumOff val="59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he-IL"/>
              <a:t>לחץ כדי לערוך סגנון כותרת של תבנית בסיס</a:t>
            </a:r>
            <a:endParaRPr lang="en-US" dirty="0"/>
          </a:p>
        </p:txBody>
      </p:sp>
      <p:sp>
        <p:nvSpPr>
          <p:cNvPr id="3" name="Subtitle 2"/>
          <p:cNvSpPr>
            <a:spLocks noGrp="1"/>
          </p:cNvSpPr>
          <p:nvPr>
            <p:ph type="subTitle" idx="1"/>
          </p:nvPr>
        </p:nvSpPr>
        <p:spPr>
          <a:xfrm>
            <a:off x="2209799" y="3694375"/>
            <a:ext cx="9144000" cy="754025"/>
          </a:xfrm>
        </p:spPr>
        <p:txBody>
          <a:bodyPr anchor="b">
            <a:normAutofit/>
          </a:bodyPr>
          <a:lstStyle>
            <a:lvl1pPr marL="0" indent="0" algn="r">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7" name="Date Placeholder 6"/>
          <p:cNvSpPr>
            <a:spLocks noGrp="1"/>
          </p:cNvSpPr>
          <p:nvPr>
            <p:ph type="dt" sz="half" idx="10"/>
          </p:nvPr>
        </p:nvSpPr>
        <p:spPr/>
        <p:txBody>
          <a:bodyPr/>
          <a:lstStyle/>
          <a:p>
            <a:fld id="{4B7B02FD-C73F-4FD5-BD33-C8D0A8E1AAC6}"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2852785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8"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B7B02FD-C73F-4FD5-BD33-C8D0A8E1AAC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23699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7" name="Title 1"/>
          <p:cNvSpPr>
            <a:spLocks noGrp="1"/>
          </p:cNvSpPr>
          <p:nvPr>
            <p:ph type="ctrTitle"/>
          </p:nvPr>
        </p:nvSpPr>
        <p:spPr>
          <a:xfrm>
            <a:off x="854532" y="4464028"/>
            <a:ext cx="9144000" cy="1641490"/>
          </a:xfrm>
        </p:spPr>
        <p:txBody>
          <a:bodyPr wrap="none" anchor="t">
            <a:normAutofit/>
          </a:bodyPr>
          <a:lstStyle>
            <a:lvl1pPr algn="l">
              <a:defRPr sz="9600" b="0" spc="-300">
                <a:gradFill flip="none" rotWithShape="1">
                  <a:gsLst>
                    <a:gs pos="32000">
                      <a:schemeClr val="tx1">
                        <a:lumMod val="89000"/>
                      </a:schemeClr>
                    </a:gs>
                    <a:gs pos="0">
                      <a:schemeClr val="bg1">
                        <a:lumMod val="47000"/>
                        <a:lumOff val="53000"/>
                      </a:schemeClr>
                    </a:gs>
                    <a:gs pos="100000">
                      <a:schemeClr val="tx2">
                        <a:lumMod val="0"/>
                        <a:lumOff val="100000"/>
                      </a:schemeClr>
                    </a:gs>
                  </a:gsLst>
                  <a:lin ang="8100000" scaled="1"/>
                  <a:tileRect/>
                </a:gradFill>
                <a:effectLst>
                  <a:outerShdw blurRad="469900" dist="342900" dir="5400000" sy="-20000" rotWithShape="0">
                    <a:prstClr val="black">
                      <a:alpha val="66000"/>
                    </a:prstClr>
                  </a:outerShdw>
                </a:effectLst>
                <a:latin typeface="+mj-lt"/>
              </a:defRPr>
            </a:lvl1pPr>
          </a:lstStyle>
          <a:p>
            <a:r>
              <a:rPr lang="he-IL"/>
              <a:t>לחץ כדי לערוך סגנון כותרת של תבנית בסיס</a:t>
            </a:r>
            <a:endParaRPr lang="en-US" dirty="0"/>
          </a:p>
        </p:txBody>
      </p:sp>
      <p:sp>
        <p:nvSpPr>
          <p:cNvPr id="8" name="Subtitle 2"/>
          <p:cNvSpPr>
            <a:spLocks noGrp="1"/>
          </p:cNvSpPr>
          <p:nvPr>
            <p:ph type="subTitle" idx="1"/>
          </p:nvPr>
        </p:nvSpPr>
        <p:spPr>
          <a:xfrm>
            <a:off x="854532" y="3693674"/>
            <a:ext cx="9144000" cy="754025"/>
          </a:xfrm>
        </p:spPr>
        <p:txBody>
          <a:bodyPr anchor="b">
            <a:normAutofit/>
          </a:bodyPr>
          <a:lstStyle>
            <a:lvl1pPr marL="0" indent="0" algn="l">
              <a:buNone/>
              <a:defRPr sz="3200" b="0">
                <a:gradFill flip="none" rotWithShape="1">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tileRect/>
                </a:gra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US" dirty="0"/>
          </a:p>
        </p:txBody>
      </p:sp>
      <p:sp>
        <p:nvSpPr>
          <p:cNvPr id="4" name="Date Placeholder 3"/>
          <p:cNvSpPr>
            <a:spLocks noGrp="1"/>
          </p:cNvSpPr>
          <p:nvPr>
            <p:ph type="dt" sz="half" idx="10"/>
          </p:nvPr>
        </p:nvSpPr>
        <p:spPr/>
        <p:txBody>
          <a:bodyPr/>
          <a:lstStyle/>
          <a:p>
            <a:fld id="{4B7B02FD-C73F-4FD5-BD33-C8D0A8E1AAC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5271344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Content Placeholder 2"/>
          <p:cNvSpPr>
            <a:spLocks noGrp="1"/>
          </p:cNvSpPr>
          <p:nvPr>
            <p:ph sz="half" idx="1"/>
          </p:nvPr>
        </p:nvSpPr>
        <p:spPr>
          <a:xfrm>
            <a:off x="1120000" y="1825625"/>
            <a:ext cx="5025216"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Content Placeholder 3"/>
          <p:cNvSpPr>
            <a:spLocks noGrp="1"/>
          </p:cNvSpPr>
          <p:nvPr>
            <p:ph sz="half" idx="2"/>
          </p:nvPr>
        </p:nvSpPr>
        <p:spPr>
          <a:xfrm>
            <a:off x="6319840" y="1825625"/>
            <a:ext cx="503396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414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20000" y="1681163"/>
            <a:ext cx="5025216" cy="823912"/>
          </a:xfrm>
        </p:spPr>
        <p:txBody>
          <a:bodyPr anchor="b"/>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Content Placeholder 3"/>
          <p:cNvSpPr>
            <a:spLocks noGrp="1"/>
          </p:cNvSpPr>
          <p:nvPr>
            <p:ph sz="half" idx="2"/>
          </p:nvPr>
        </p:nvSpPr>
        <p:spPr>
          <a:xfrm>
            <a:off x="1120000" y="2505075"/>
            <a:ext cx="5025216"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5" name="Text Placeholder 4"/>
          <p:cNvSpPr>
            <a:spLocks noGrp="1"/>
          </p:cNvSpPr>
          <p:nvPr>
            <p:ph type="body" sz="quarter" idx="3"/>
          </p:nvPr>
        </p:nvSpPr>
        <p:spPr>
          <a:xfrm>
            <a:off x="6319840" y="1681163"/>
            <a:ext cx="5035548" cy="823912"/>
          </a:xfrm>
        </p:spPr>
        <p:txBody>
          <a:bodyPr vert="horz" lIns="91440" tIns="45720" rIns="91440" bIns="45720" rtlCol="0" anchor="b">
            <a:norm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he-IL"/>
              <a:t>לחץ כדי לערוך סגנונות טקסט של תבנית בסיס</a:t>
            </a:r>
          </a:p>
        </p:txBody>
      </p:sp>
      <p:sp>
        <p:nvSpPr>
          <p:cNvPr id="6" name="Content Placeholder 5"/>
          <p:cNvSpPr>
            <a:spLocks noGrp="1"/>
          </p:cNvSpPr>
          <p:nvPr>
            <p:ph sz="quarter" idx="4"/>
          </p:nvPr>
        </p:nvSpPr>
        <p:spPr>
          <a:xfrm>
            <a:off x="6319840" y="2505075"/>
            <a:ext cx="503554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7" name="Date Placeholder 6"/>
          <p:cNvSpPr>
            <a:spLocks noGrp="1"/>
          </p:cNvSpPr>
          <p:nvPr>
            <p:ph type="dt" sz="half" idx="10"/>
          </p:nvPr>
        </p:nvSpPr>
        <p:spPr/>
        <p:txBody>
          <a:bodyPr/>
          <a:lstStyle/>
          <a:p>
            <a:fld id="{4B7B02FD-C73F-4FD5-BD33-C8D0A8E1AAC6}" type="datetimeFigureOut">
              <a:rPr lang="en-US" smtClean="0"/>
              <a:t>11/9/2025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3632577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Date Placeholder 2"/>
          <p:cNvSpPr>
            <a:spLocks noGrp="1"/>
          </p:cNvSpPr>
          <p:nvPr>
            <p:ph type="dt" sz="half" idx="10"/>
          </p:nvPr>
        </p:nvSpPr>
        <p:spPr/>
        <p:txBody>
          <a:bodyPr/>
          <a:lstStyle/>
          <a:p>
            <a:fld id="{4B7B02FD-C73F-4FD5-BD33-C8D0A8E1AAC6}"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34905996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7B02FD-C73F-4FD5-BD33-C8D0A8E1AAC6}" type="datetimeFigureOut">
              <a:rPr lang="en-US" smtClean="0"/>
              <a:t>11/9/2025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10361106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Content Placeholder 2"/>
          <p:cNvSpPr>
            <a:spLocks noGrp="1"/>
          </p:cNvSpPr>
          <p:nvPr>
            <p:ph idx="1"/>
          </p:nvPr>
        </p:nvSpPr>
        <p:spPr>
          <a:xfrm>
            <a:off x="5183188" y="987425"/>
            <a:ext cx="6172200" cy="4873625"/>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4949432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1120000" y="2057400"/>
            <a:ext cx="3652025" cy="3811588"/>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2996421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תמונה פנורמית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4367160"/>
            <a:ext cx="10515600" cy="819355"/>
          </a:xfrm>
        </p:spPr>
        <p:txBody>
          <a:bodyPr anchor="b"/>
          <a:lstStyle>
            <a:lvl1pPr>
              <a:defRPr sz="3200"/>
            </a:lvl1pPr>
          </a:lstStyle>
          <a:p>
            <a:r>
              <a:rPr lang="he-IL"/>
              <a:t>לחץ כדי לערוך סגנון כותרת של תבנית בסיס</a:t>
            </a:r>
            <a:endParaRPr lang="en-US" dirty="0"/>
          </a:p>
        </p:txBody>
      </p:sp>
      <p:sp>
        <p:nvSpPr>
          <p:cNvPr id="3" name="Picture Placeholder 2"/>
          <p:cNvSpPr>
            <a:spLocks noGrp="1" noChangeAspect="1"/>
          </p:cNvSpPr>
          <p:nvPr>
            <p:ph type="pic" idx="1"/>
          </p:nvPr>
        </p:nvSpPr>
        <p:spPr>
          <a:xfrm>
            <a:off x="839788" y="987425"/>
            <a:ext cx="10515600" cy="337973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he-IL"/>
              <a:t>לחץ על הסמל כדי להוסיף תמונה</a:t>
            </a:r>
            <a:endParaRPr lang="en-US" dirty="0"/>
          </a:p>
        </p:txBody>
      </p:sp>
      <p:sp>
        <p:nvSpPr>
          <p:cNvPr id="4" name="Text Placeholder 3"/>
          <p:cNvSpPr>
            <a:spLocks noGrp="1"/>
          </p:cNvSpPr>
          <p:nvPr>
            <p:ph type="body" sz="half" idx="2"/>
          </p:nvPr>
        </p:nvSpPr>
        <p:spPr>
          <a:xfrm>
            <a:off x="839788" y="5186516"/>
            <a:ext cx="10514012" cy="682472"/>
          </a:xfrm>
        </p:spPr>
        <p:txBody>
          <a:bodyPr/>
          <a:lstStyle>
            <a:lvl1pPr marL="0" indent="0">
              <a:buNone/>
              <a:defRPr sz="1600">
                <a:gradFill>
                  <a:gsLst>
                    <a:gs pos="15000">
                      <a:schemeClr val="tx2"/>
                    </a:gs>
                    <a:gs pos="73000">
                      <a:schemeClr val="tx2">
                        <a:lumMod val="60000"/>
                        <a:lumOff val="40000"/>
                      </a:schemeClr>
                    </a:gs>
                    <a:gs pos="0">
                      <a:schemeClr val="tx1"/>
                    </a:gs>
                    <a:gs pos="100000">
                      <a:schemeClr val="tx2">
                        <a:lumMod val="0"/>
                        <a:lumOff val="100000"/>
                      </a:schemeClr>
                    </a:gs>
                  </a:gsLst>
                  <a:lin ang="16200000" scaled="1"/>
                </a:gra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3043263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כותרת וכיתוב">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3534344"/>
          </a:xfrm>
        </p:spPr>
        <p:txBody>
          <a:bodyPr anchor="ctr"/>
          <a:lstStyle>
            <a:lvl1pPr>
              <a:defRPr sz="32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839788" y="4489399"/>
            <a:ext cx="10514012" cy="1501826"/>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42711672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ציטוט עם כיתוב">
    <p:spTree>
      <p:nvGrpSpPr>
        <p:cNvPr id="1" name=""/>
        <p:cNvGrpSpPr/>
        <p:nvPr/>
      </p:nvGrpSpPr>
      <p:grpSpPr>
        <a:xfrm>
          <a:off x="0" y="0"/>
          <a:ext cx="0" cy="0"/>
          <a:chOff x="0" y="0"/>
          <a:chExt cx="0" cy="0"/>
        </a:xfrm>
      </p:grpSpPr>
      <p:sp>
        <p:nvSpPr>
          <p:cNvPr id="2" name="Title 1"/>
          <p:cNvSpPr>
            <a:spLocks noGrp="1"/>
          </p:cNvSpPr>
          <p:nvPr>
            <p:ph type="title"/>
          </p:nvPr>
        </p:nvSpPr>
        <p:spPr>
          <a:xfrm>
            <a:off x="1446212" y="365125"/>
            <a:ext cx="9302752" cy="2992904"/>
          </a:xfrm>
        </p:spPr>
        <p:txBody>
          <a:bodyPr anchor="ctr"/>
          <a:lstStyle>
            <a:lvl1pPr>
              <a:defRPr sz="4400"/>
            </a:lvl1pPr>
          </a:lstStyle>
          <a:p>
            <a:r>
              <a:rPr lang="he-IL"/>
              <a:t>לחץ כדי לערוך סגנון כותרת של תבנית בסיס</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4" name="Text Placeholder 3"/>
          <p:cNvSpPr>
            <a:spLocks noGrp="1"/>
          </p:cNvSpPr>
          <p:nvPr>
            <p:ph type="body" sz="half" idx="2"/>
          </p:nvPr>
        </p:nvSpPr>
        <p:spPr>
          <a:xfrm>
            <a:off x="838200" y="4501729"/>
            <a:ext cx="10512424" cy="1489496"/>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
        <p:nvSpPr>
          <p:cNvPr id="9" name="TextBox 8"/>
          <p:cNvSpPr txBox="1"/>
          <p:nvPr/>
        </p:nvSpPr>
        <p:spPr>
          <a:xfrm>
            <a:off x="1111044"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4796170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כרטיס שם">
    <p:spTree>
      <p:nvGrpSpPr>
        <p:cNvPr id="1" name=""/>
        <p:cNvGrpSpPr/>
        <p:nvPr/>
      </p:nvGrpSpPr>
      <p:grpSpPr>
        <a:xfrm>
          <a:off x="0" y="0"/>
          <a:ext cx="0" cy="0"/>
          <a:chOff x="0" y="0"/>
          <a:chExt cx="0" cy="0"/>
        </a:xfrm>
      </p:grpSpPr>
      <p:sp>
        <p:nvSpPr>
          <p:cNvPr id="2" name="Title 1"/>
          <p:cNvSpPr>
            <a:spLocks noGrp="1"/>
          </p:cNvSpPr>
          <p:nvPr>
            <p:ph type="title"/>
          </p:nvPr>
        </p:nvSpPr>
        <p:spPr>
          <a:xfrm>
            <a:off x="839788" y="2326967"/>
            <a:ext cx="10515600" cy="2511835"/>
          </a:xfrm>
        </p:spPr>
        <p:txBody>
          <a:bodyPr anchor="b">
            <a:normAutofit/>
          </a:bodyPr>
          <a:lstStyle>
            <a:lvl1pPr>
              <a:defRPr sz="5400"/>
            </a:lvl1pPr>
          </a:lstStyle>
          <a:p>
            <a:r>
              <a:rPr lang="he-IL"/>
              <a:t>לחץ כדי לערוך סגנון כותרת של תבנית בסיס</a:t>
            </a:r>
            <a:endParaRPr lang="en-US" dirty="0"/>
          </a:p>
        </p:txBody>
      </p:sp>
      <p:sp>
        <p:nvSpPr>
          <p:cNvPr id="4" name="Text Placeholder 3"/>
          <p:cNvSpPr>
            <a:spLocks noGrp="1"/>
          </p:cNvSpPr>
          <p:nvPr>
            <p:ph type="body" sz="half" idx="2"/>
          </p:nvPr>
        </p:nvSpPr>
        <p:spPr>
          <a:xfrm>
            <a:off x="839788" y="4850581"/>
            <a:ext cx="10514012" cy="114064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Date Placeholder 4"/>
          <p:cNvSpPr>
            <a:spLocks noGrp="1"/>
          </p:cNvSpPr>
          <p:nvPr>
            <p:ph type="dt" sz="half" idx="10"/>
          </p:nvPr>
        </p:nvSpPr>
        <p:spPr/>
        <p:txBody>
          <a:bodyPr/>
          <a:lstStyle/>
          <a:p>
            <a:fld id="{4B7B02FD-C73F-4FD5-BD33-C8D0A8E1AAC6}" type="datetimeFigureOut">
              <a:rPr lang="en-US" smtClean="0"/>
              <a:t>11/9/2025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37029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עמודות">
    <p:spTree>
      <p:nvGrpSpPr>
        <p:cNvPr id="1" name=""/>
        <p:cNvGrpSpPr/>
        <p:nvPr/>
      </p:nvGrpSpPr>
      <p:grpSpPr>
        <a:xfrm>
          <a:off x="0" y="0"/>
          <a:ext cx="0" cy="0"/>
          <a:chOff x="0" y="0"/>
          <a:chExt cx="0" cy="0"/>
        </a:xfrm>
      </p:grpSpPr>
      <p:sp>
        <p:nvSpPr>
          <p:cNvPr id="15" name="Title 1"/>
          <p:cNvSpPr>
            <a:spLocks noGrp="1"/>
          </p:cNvSpPr>
          <p:nvPr>
            <p:ph type="title"/>
          </p:nvPr>
        </p:nvSpPr>
        <p:spPr>
          <a:xfrm>
            <a:off x="838200" y="365125"/>
            <a:ext cx="10515600" cy="1325563"/>
          </a:xfrm>
        </p:spPr>
        <p:txBody>
          <a:bodyPr/>
          <a:lstStyle/>
          <a:p>
            <a:r>
              <a:rPr lang="he-IL"/>
              <a:t>לחץ כדי לערוך סגנון כותרת של תבנית בסיס</a:t>
            </a:r>
            <a:endParaRPr lang="en-US" dirty="0"/>
          </a:p>
        </p:txBody>
      </p:sp>
      <p:sp>
        <p:nvSpPr>
          <p:cNvPr id="7" name="Text Placeholder 2"/>
          <p:cNvSpPr>
            <a:spLocks noGrp="1"/>
          </p:cNvSpPr>
          <p:nvPr>
            <p:ph type="body" idx="1"/>
          </p:nvPr>
        </p:nvSpPr>
        <p:spPr>
          <a:xfrm>
            <a:off x="1337282" y="1885950"/>
            <a:ext cx="2946866" cy="576262"/>
          </a:xfrm>
        </p:spPr>
        <p:txBody>
          <a:bodyPr anchor="b">
            <a:noAutofit/>
          </a:bodyPr>
          <a:lstStyle>
            <a:lvl1pPr marL="0" indent="0">
              <a:buNone/>
              <a:defRPr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8" name="Text Placeholder 3"/>
          <p:cNvSpPr>
            <a:spLocks noGrp="1"/>
          </p:cNvSpPr>
          <p:nvPr>
            <p:ph type="body" sz="half" idx="15"/>
          </p:nvPr>
        </p:nvSpPr>
        <p:spPr>
          <a:xfrm>
            <a:off x="1356798" y="257175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9" name="Text Placeholder 4"/>
          <p:cNvSpPr>
            <a:spLocks noGrp="1"/>
          </p:cNvSpPr>
          <p:nvPr>
            <p:ph type="body" sz="quarter" idx="3"/>
          </p:nvPr>
        </p:nvSpPr>
        <p:spPr>
          <a:xfrm>
            <a:off x="4587994" y="1885950"/>
            <a:ext cx="2936241" cy="576262"/>
          </a:xfrm>
        </p:spPr>
        <p:txBody>
          <a:bodyPr vert="horz" lIns="91440" tIns="45720" rIns="91440" bIns="45720" rtlCol="0" anchor="b">
            <a:noAutofit/>
          </a:bodyPr>
          <a:lstStyle>
            <a:lvl1pPr>
              <a:buNone/>
              <a:defRPr lang="en-US" sz="2400" b="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he-IL"/>
              <a:t>לחץ כדי לערוך סגנונות טקסט של תבנית בסיס</a:t>
            </a:r>
          </a:p>
        </p:txBody>
      </p:sp>
      <p:sp>
        <p:nvSpPr>
          <p:cNvPr id="10" name="Text Placeholder 3"/>
          <p:cNvSpPr>
            <a:spLocks noGrp="1"/>
          </p:cNvSpPr>
          <p:nvPr>
            <p:ph type="body" sz="half" idx="16"/>
          </p:nvPr>
        </p:nvSpPr>
        <p:spPr>
          <a:xfrm>
            <a:off x="4577441" y="257175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11" name="Text Placeholder 4"/>
          <p:cNvSpPr>
            <a:spLocks noGrp="1"/>
          </p:cNvSpPr>
          <p:nvPr>
            <p:ph type="body" sz="quarter" idx="13"/>
          </p:nvPr>
        </p:nvSpPr>
        <p:spPr>
          <a:xfrm>
            <a:off x="7829035" y="1885950"/>
            <a:ext cx="2932113" cy="576262"/>
          </a:xfrm>
        </p:spPr>
        <p:txBody>
          <a:bodyPr vert="horz" lIns="91440" tIns="45720" rIns="91440" bIns="45720" rtlCol="0" anchor="b">
            <a:noAutofit/>
          </a:bodyPr>
          <a:lstStyle>
            <a:lvl1pPr>
              <a:buNone/>
              <a:defRPr lang="en-US" sz="2400" b="0" dirty="0">
                <a:gradFill>
                  <a:gsLst>
                    <a:gs pos="15000">
                      <a:schemeClr val="tx2"/>
                    </a:gs>
                    <a:gs pos="73000">
                      <a:schemeClr val="tx2">
                        <a:lumMod val="60000"/>
                        <a:lumOff val="40000"/>
                      </a:schemeClr>
                    </a:gs>
                    <a:gs pos="0">
                      <a:schemeClr val="tx2">
                        <a:lumMod val="90000"/>
                        <a:lumOff val="10000"/>
                      </a:schemeClr>
                    </a:gs>
                    <a:gs pos="100000">
                      <a:schemeClr val="tx2">
                        <a:lumMod val="0"/>
                        <a:lumOff val="100000"/>
                      </a:schemeClr>
                    </a:gs>
                  </a:gsLst>
                  <a:lin ang="16200000" scaled="1"/>
                </a:gradFill>
              </a:defRPr>
            </a:lvl1pPr>
          </a:lstStyle>
          <a:p>
            <a:pPr marL="0" lvl="0" indent="0">
              <a:buNone/>
            </a:pPr>
            <a:r>
              <a:rPr lang="he-IL"/>
              <a:t>לחץ כדי לערוך סגנונות טקסט של תבנית בסיס</a:t>
            </a:r>
          </a:p>
        </p:txBody>
      </p:sp>
      <p:sp>
        <p:nvSpPr>
          <p:cNvPr id="12" name="Text Placeholder 3"/>
          <p:cNvSpPr>
            <a:spLocks noGrp="1"/>
          </p:cNvSpPr>
          <p:nvPr>
            <p:ph type="body" sz="half" idx="17"/>
          </p:nvPr>
        </p:nvSpPr>
        <p:spPr>
          <a:xfrm>
            <a:off x="7829035" y="257175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4B7B02FD-C73F-4FD5-BD33-C8D0A8E1AAC6}"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18391050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עמודת 3 תמונות">
    <p:spTree>
      <p:nvGrpSpPr>
        <p:cNvPr id="1" name=""/>
        <p:cNvGrpSpPr/>
        <p:nvPr/>
      </p:nvGrpSpPr>
      <p:grpSpPr>
        <a:xfrm>
          <a:off x="0" y="0"/>
          <a:ext cx="0" cy="0"/>
          <a:chOff x="0" y="0"/>
          <a:chExt cx="0" cy="0"/>
        </a:xfrm>
      </p:grpSpPr>
      <p:sp>
        <p:nvSpPr>
          <p:cNvPr id="30" name="Title 1"/>
          <p:cNvSpPr>
            <a:spLocks noGrp="1"/>
          </p:cNvSpPr>
          <p:nvPr>
            <p:ph type="title"/>
          </p:nvPr>
        </p:nvSpPr>
        <p:spPr>
          <a:xfrm>
            <a:off x="838200" y="365125"/>
            <a:ext cx="10515600" cy="1325563"/>
          </a:xfrm>
        </p:spPr>
        <p:txBody>
          <a:bodyPr/>
          <a:lstStyle/>
          <a:p>
            <a:r>
              <a:rPr lang="he-IL"/>
              <a:t>לחץ כדי לערוך סגנון כותרת של תבנית בסיס</a:t>
            </a:r>
            <a:endParaRPr lang="en-US" dirty="0"/>
          </a:p>
        </p:txBody>
      </p:sp>
      <p:sp>
        <p:nvSpPr>
          <p:cNvPr id="19" name="Text Placeholder 2"/>
          <p:cNvSpPr>
            <a:spLocks noGrp="1"/>
          </p:cNvSpPr>
          <p:nvPr>
            <p:ph type="body" idx="1"/>
          </p:nvPr>
        </p:nvSpPr>
        <p:spPr>
          <a:xfrm>
            <a:off x="1332085" y="4297503"/>
            <a:ext cx="2940050"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0" name="Picture Placeholder 2"/>
          <p:cNvSpPr>
            <a:spLocks noGrp="1" noChangeAspect="1"/>
          </p:cNvSpPr>
          <p:nvPr>
            <p:ph type="pic" idx="15"/>
          </p:nvPr>
        </p:nvSpPr>
        <p:spPr>
          <a:xfrm>
            <a:off x="1332085" y="2256354"/>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1" name="Text Placeholder 3"/>
          <p:cNvSpPr>
            <a:spLocks noGrp="1"/>
          </p:cNvSpPr>
          <p:nvPr>
            <p:ph type="body" sz="half" idx="18"/>
          </p:nvPr>
        </p:nvSpPr>
        <p:spPr>
          <a:xfrm>
            <a:off x="1332085" y="4873765"/>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2" name="Text Placeholder 4"/>
          <p:cNvSpPr>
            <a:spLocks noGrp="1"/>
          </p:cNvSpPr>
          <p:nvPr>
            <p:ph type="body" sz="quarter" idx="3"/>
          </p:nvPr>
        </p:nvSpPr>
        <p:spPr>
          <a:xfrm>
            <a:off x="4568997" y="4297503"/>
            <a:ext cx="2930525"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3" name="Picture Placeholder 2"/>
          <p:cNvSpPr>
            <a:spLocks noGrp="1" noChangeAspect="1"/>
          </p:cNvSpPr>
          <p:nvPr>
            <p:ph type="pic" idx="21"/>
          </p:nvPr>
        </p:nvSpPr>
        <p:spPr>
          <a:xfrm>
            <a:off x="4568996" y="2256354"/>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4" name="Text Placeholder 3"/>
          <p:cNvSpPr>
            <a:spLocks noGrp="1"/>
          </p:cNvSpPr>
          <p:nvPr>
            <p:ph type="body" sz="half" idx="19"/>
          </p:nvPr>
        </p:nvSpPr>
        <p:spPr>
          <a:xfrm>
            <a:off x="4567644" y="4873764"/>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25" name="Text Placeholder 4"/>
          <p:cNvSpPr>
            <a:spLocks noGrp="1"/>
          </p:cNvSpPr>
          <p:nvPr>
            <p:ph type="body" sz="quarter" idx="13"/>
          </p:nvPr>
        </p:nvSpPr>
        <p:spPr>
          <a:xfrm>
            <a:off x="7804322" y="4297503"/>
            <a:ext cx="2932113" cy="576262"/>
          </a:xfrm>
        </p:spPr>
        <p:txBody>
          <a:bodyPr anchor="b">
            <a:noAutofit/>
          </a:bodyPr>
          <a:lstStyle>
            <a:lvl1pPr marL="0" indent="0">
              <a:buNone/>
              <a:defRPr sz="2400" b="0">
                <a:gradFill>
                  <a:gsLst>
                    <a:gs pos="34000">
                      <a:schemeClr val="tx1">
                        <a:lumMod val="93000"/>
                      </a:schemeClr>
                    </a:gs>
                    <a:gs pos="0">
                      <a:schemeClr val="bg1">
                        <a:lumMod val="41000"/>
                        <a:lumOff val="59000"/>
                      </a:schemeClr>
                    </a:gs>
                    <a:gs pos="100000">
                      <a:schemeClr val="tx2">
                        <a:lumMod val="0"/>
                        <a:lumOff val="100000"/>
                      </a:schemeClr>
                    </a:gs>
                  </a:gsLst>
                  <a:lin ang="4800000" scaled="0"/>
                </a:gra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26" name="Picture Placeholder 2"/>
          <p:cNvSpPr>
            <a:spLocks noGrp="1" noChangeAspect="1"/>
          </p:cNvSpPr>
          <p:nvPr>
            <p:ph type="pic" idx="22"/>
          </p:nvPr>
        </p:nvSpPr>
        <p:spPr>
          <a:xfrm>
            <a:off x="7804321" y="2256354"/>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he-IL"/>
              <a:t>לחץ על הסמל כדי להוסיף תמונה</a:t>
            </a:r>
            <a:endParaRPr lang="en-US" dirty="0"/>
          </a:p>
        </p:txBody>
      </p:sp>
      <p:sp>
        <p:nvSpPr>
          <p:cNvPr id="27" name="Text Placeholder 3"/>
          <p:cNvSpPr>
            <a:spLocks noGrp="1"/>
          </p:cNvSpPr>
          <p:nvPr>
            <p:ph type="body" sz="half" idx="20"/>
          </p:nvPr>
        </p:nvSpPr>
        <p:spPr>
          <a:xfrm>
            <a:off x="7804197" y="4873762"/>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he-IL"/>
              <a:t>לחץ כדי לערוך סגנונות טקסט של תבנית בסיס</a:t>
            </a:r>
          </a:p>
        </p:txBody>
      </p:sp>
      <p:sp>
        <p:nvSpPr>
          <p:cNvPr id="3" name="Date Placeholder 2"/>
          <p:cNvSpPr>
            <a:spLocks noGrp="1"/>
          </p:cNvSpPr>
          <p:nvPr>
            <p:ph type="dt" sz="half" idx="10"/>
          </p:nvPr>
        </p:nvSpPr>
        <p:spPr/>
        <p:txBody>
          <a:bodyPr/>
          <a:lstStyle/>
          <a:p>
            <a:fld id="{4B7B02FD-C73F-4FD5-BD33-C8D0A8E1AAC6}" type="datetimeFigureOut">
              <a:rPr lang="en-US" smtClean="0"/>
              <a:t>11/9/2025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7804045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B7B02FD-C73F-4FD5-BD33-C8D0A8E1AAC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36072962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10"/>
          </p:nvPr>
        </p:nvSpPr>
        <p:spPr/>
        <p:txBody>
          <a:bodyPr/>
          <a:lstStyle/>
          <a:p>
            <a:fld id="{4B7B02FD-C73F-4FD5-BD33-C8D0A8E1AAC6}" type="datetimeFigureOut">
              <a:rPr lang="en-US" smtClean="0"/>
              <a:t>11/9/2025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08B2EC-BBCC-499D-B8A8-68117442586C}" type="slidenum">
              <a:rPr lang="en-US" smtClean="0"/>
              <a:t>‹#›</a:t>
            </a:fld>
            <a:endParaRPr lang="en-US"/>
          </a:p>
        </p:txBody>
      </p:sp>
    </p:spTree>
    <p:extLst>
      <p:ext uri="{BB962C8B-B14F-4D97-AF65-F5344CB8AC3E}">
        <p14:creationId xmlns:p14="http://schemas.microsoft.com/office/powerpoint/2010/main" val="4759424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6311" y="680729"/>
            <a:ext cx="10679379" cy="4708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1828800" y="3840480"/>
            <a:ext cx="8534400" cy="3368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11/9/2025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9252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he-IL"/>
              <a:t>לחץ כדי לערוך סגנון כותרת של תבנית בסיס</a:t>
            </a:r>
            <a:endParaRPr lang="en-US" dirty="0"/>
          </a:p>
        </p:txBody>
      </p:sp>
      <p:sp>
        <p:nvSpPr>
          <p:cNvPr id="3" name="Text Placeholder 2"/>
          <p:cNvSpPr>
            <a:spLocks noGrp="1"/>
          </p:cNvSpPr>
          <p:nvPr>
            <p:ph type="body" idx="1"/>
          </p:nvPr>
        </p:nvSpPr>
        <p:spPr>
          <a:xfrm>
            <a:off x="1120000" y="1825625"/>
            <a:ext cx="10233800" cy="4351338"/>
          </a:xfrm>
          <a:prstGeom prst="rect">
            <a:avLst/>
          </a:prstGeom>
        </p:spPr>
        <p:txBody>
          <a:bodyPr vert="horz" lIns="91440" tIns="45720" rIns="91440" bIns="45720" rtlCol="0">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4B7B02FD-C73F-4FD5-BD33-C8D0A8E1AAC6}" type="datetimeFigureOut">
              <a:rPr lang="en-US" smtClean="0"/>
              <a:t>11/9/2025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gradFill flip="none" rotWithShape="1">
                  <a:gsLst>
                    <a:gs pos="28000">
                      <a:schemeClr val="tx1">
                        <a:lumMod val="93000"/>
                      </a:schemeClr>
                    </a:gs>
                    <a:gs pos="0">
                      <a:schemeClr val="bg1">
                        <a:lumMod val="38000"/>
                        <a:lumOff val="62000"/>
                      </a:schemeClr>
                    </a:gs>
                    <a:gs pos="100000">
                      <a:schemeClr val="tx2">
                        <a:lumMod val="0"/>
                        <a:lumOff val="100000"/>
                      </a:schemeClr>
                    </a:gs>
                  </a:gsLst>
                  <a:lin ang="5400000" scaled="1"/>
                  <a:tileRect/>
                </a:gradFill>
              </a:defRPr>
            </a:lvl1pPr>
          </a:lstStyle>
          <a:p>
            <a:fld id="{6E08B2EC-BBCC-499D-B8A8-68117442586C}" type="slidenum">
              <a:rPr lang="en-US" smtClean="0"/>
              <a:t>‹#›</a:t>
            </a:fld>
            <a:endParaRPr lang="en-US"/>
          </a:p>
        </p:txBody>
      </p:sp>
    </p:spTree>
    <p:extLst>
      <p:ext uri="{BB962C8B-B14F-4D97-AF65-F5344CB8AC3E}">
        <p14:creationId xmlns:p14="http://schemas.microsoft.com/office/powerpoint/2010/main" val="521282729"/>
      </p:ext>
    </p:extLst>
  </p:cSld>
  <p:clrMap bg1="dk1" tx1="lt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p:txStyles>
    <p:titleStyle>
      <a:lvl1pPr algn="l" defTabSz="914400" rtl="0" eaLnBrk="1" latinLnBrk="0" hangingPunct="1">
        <a:lnSpc>
          <a:spcPct val="90000"/>
        </a:lnSpc>
        <a:spcBef>
          <a:spcPct val="0"/>
        </a:spcBef>
        <a:buNone/>
        <a:defRPr sz="5400" b="0" kern="1200">
          <a:gradFill flip="none" rotWithShape="1">
            <a:gsLst>
              <a:gs pos="28000">
                <a:schemeClr val="tx1">
                  <a:lumMod val="93000"/>
                </a:schemeClr>
              </a:gs>
              <a:gs pos="0">
                <a:schemeClr val="bg1">
                  <a:lumMod val="25000"/>
                  <a:lumOff val="75000"/>
                </a:schemeClr>
              </a:gs>
              <a:gs pos="100000">
                <a:schemeClr val="tx2">
                  <a:lumMod val="0"/>
                  <a:lumOff val="100000"/>
                </a:schemeClr>
              </a:gs>
            </a:gsLst>
            <a:lin ang="4800000" scaled="0"/>
            <a:tileRect/>
          </a:gra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gradFill>
            <a:gsLst>
              <a:gs pos="34000">
                <a:schemeClr val="tx1">
                  <a:lumMod val="93000"/>
                </a:schemeClr>
              </a:gs>
              <a:gs pos="0">
                <a:schemeClr val="bg1">
                  <a:lumMod val="25000"/>
                  <a:lumOff val="75000"/>
                </a:schemeClr>
              </a:gs>
              <a:gs pos="100000">
                <a:schemeClr val="tx2">
                  <a:lumMod val="0"/>
                  <a:lumOff val="100000"/>
                </a:schemeClr>
              </a:gs>
            </a:gsLst>
            <a:lin ang="4800000" scaled="0"/>
          </a:gra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8.xml"/><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18.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8.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18.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8.xml"/><Relationship Id="rId5" Type="http://schemas.openxmlformats.org/officeDocument/2006/relationships/hyperlink" Target="https://www.journaldev.com/1377/java-singleton-design-pattern-best-practices-examples" TargetMode="External"/><Relationship Id="rId4" Type="http://schemas.openxmlformats.org/officeDocument/2006/relationships/hyperlink" Target="https://www2.slideshare.net/LiliaSfaxi/software-engineering-chp4-design-patterns"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DD3C62CE-76AE-0232-2075-6DAFE6A8F72E}"/>
              </a:ext>
            </a:extLst>
          </p:cNvPr>
          <p:cNvSpPr>
            <a:spLocks noGrp="1"/>
          </p:cNvSpPr>
          <p:nvPr>
            <p:ph type="ctrTitle"/>
          </p:nvPr>
        </p:nvSpPr>
        <p:spPr>
          <a:xfrm>
            <a:off x="1524000" y="2608255"/>
            <a:ext cx="9144000" cy="1641490"/>
          </a:xfrm>
        </p:spPr>
        <p:txBody>
          <a:bodyPr/>
          <a:lstStyle/>
          <a:p>
            <a:pPr algn="ctr"/>
            <a:r>
              <a:rPr lang="en-US" dirty="0"/>
              <a:t>Part 3</a:t>
            </a:r>
          </a:p>
        </p:txBody>
      </p:sp>
    </p:spTree>
    <p:extLst>
      <p:ext uri="{BB962C8B-B14F-4D97-AF65-F5344CB8AC3E}">
        <p14:creationId xmlns:p14="http://schemas.microsoft.com/office/powerpoint/2010/main" val="3137354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5164" y="159830"/>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Functions</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r" defTabSz="457189" rtl="1"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88129" y="952546"/>
            <a:ext cx="9129623" cy="307777"/>
          </a:xfrm>
          <a:prstGeom prst="rect">
            <a:avLst/>
          </a:prstGeom>
          <a:noFill/>
        </p:spPr>
        <p:txBody>
          <a:bodyPr wrap="square">
            <a:spAutoFit/>
          </a:bodyPr>
          <a:lstStyle/>
          <a:p>
            <a:r>
              <a:rPr lang="he-IL" sz="1400" dirty="0" err="1"/>
              <a:t>I</a:t>
            </a:r>
            <a:r>
              <a:rPr lang="en-US" sz="1400" dirty="0"/>
              <a:t>n Python a function is defined using the </a:t>
            </a:r>
            <a:r>
              <a:rPr lang="en-US" sz="1400" b="1" dirty="0"/>
              <a:t>def</a:t>
            </a:r>
            <a:r>
              <a:rPr lang="en-US" sz="1400" dirty="0"/>
              <a:t> keyword:</a:t>
            </a:r>
          </a:p>
        </p:txBody>
      </p:sp>
      <p:sp>
        <p:nvSpPr>
          <p:cNvPr id="16" name="תיבת טקסט 9">
            <a:extLst>
              <a:ext uri="{FF2B5EF4-FFF2-40B4-BE49-F238E27FC236}">
                <a16:creationId xmlns:a16="http://schemas.microsoft.com/office/drawing/2014/main" id="{45BE2277-1138-4135-A583-B02ED45A4F9C}"/>
              </a:ext>
            </a:extLst>
          </p:cNvPr>
          <p:cNvSpPr txBox="1"/>
          <p:nvPr/>
        </p:nvSpPr>
        <p:spPr>
          <a:xfrm>
            <a:off x="745165" y="2663413"/>
            <a:ext cx="9129623" cy="307777"/>
          </a:xfrm>
          <a:prstGeom prst="rect">
            <a:avLst/>
          </a:prstGeom>
          <a:noFill/>
        </p:spPr>
        <p:txBody>
          <a:bodyPr wrap="square">
            <a:spAutoFit/>
          </a:bodyPr>
          <a:lstStyle/>
          <a:p>
            <a:r>
              <a:rPr lang="en-US" sz="1400" dirty="0"/>
              <a:t>To call a function, use the function name followed by parenthesis:</a:t>
            </a:r>
          </a:p>
        </p:txBody>
      </p:sp>
      <p:pic>
        <p:nvPicPr>
          <p:cNvPr id="5" name="Picture 4">
            <a:extLst>
              <a:ext uri="{FF2B5EF4-FFF2-40B4-BE49-F238E27FC236}">
                <a16:creationId xmlns:a16="http://schemas.microsoft.com/office/drawing/2014/main" id="{D1AF3751-08C8-45ED-B30B-3CF0617411CB}"/>
              </a:ext>
            </a:extLst>
          </p:cNvPr>
          <p:cNvPicPr>
            <a:picLocks noChangeAspect="1"/>
          </p:cNvPicPr>
          <p:nvPr/>
        </p:nvPicPr>
        <p:blipFill>
          <a:blip r:embed="rId2"/>
          <a:stretch>
            <a:fillRect/>
          </a:stretch>
        </p:blipFill>
        <p:spPr>
          <a:xfrm>
            <a:off x="840502" y="1397937"/>
            <a:ext cx="3307367" cy="1127859"/>
          </a:xfrm>
          <a:prstGeom prst="rect">
            <a:avLst/>
          </a:prstGeom>
        </p:spPr>
      </p:pic>
      <p:pic>
        <p:nvPicPr>
          <p:cNvPr id="7" name="Picture 6">
            <a:extLst>
              <a:ext uri="{FF2B5EF4-FFF2-40B4-BE49-F238E27FC236}">
                <a16:creationId xmlns:a16="http://schemas.microsoft.com/office/drawing/2014/main" id="{5B78D863-E5E7-4103-A775-5FC400CAEEA4}"/>
              </a:ext>
            </a:extLst>
          </p:cNvPr>
          <p:cNvPicPr>
            <a:picLocks noChangeAspect="1"/>
          </p:cNvPicPr>
          <p:nvPr/>
        </p:nvPicPr>
        <p:blipFill>
          <a:blip r:embed="rId3"/>
          <a:stretch>
            <a:fillRect/>
          </a:stretch>
        </p:blipFill>
        <p:spPr>
          <a:xfrm>
            <a:off x="5606596" y="1761632"/>
            <a:ext cx="1569856" cy="342931"/>
          </a:xfrm>
          <a:prstGeom prst="rect">
            <a:avLst/>
          </a:prstGeom>
        </p:spPr>
      </p:pic>
      <p:sp>
        <p:nvSpPr>
          <p:cNvPr id="12" name="תיבת טקסט 9">
            <a:extLst>
              <a:ext uri="{FF2B5EF4-FFF2-40B4-BE49-F238E27FC236}">
                <a16:creationId xmlns:a16="http://schemas.microsoft.com/office/drawing/2014/main" id="{ACF18D42-302A-4EB9-8418-6DCA13AB7F00}"/>
              </a:ext>
            </a:extLst>
          </p:cNvPr>
          <p:cNvSpPr txBox="1"/>
          <p:nvPr/>
        </p:nvSpPr>
        <p:spPr>
          <a:xfrm>
            <a:off x="788129" y="3369068"/>
            <a:ext cx="9129623" cy="1600438"/>
          </a:xfrm>
          <a:prstGeom prst="rect">
            <a:avLst/>
          </a:prstGeom>
          <a:noFill/>
        </p:spPr>
        <p:txBody>
          <a:bodyPr wrap="square">
            <a:spAutoFit/>
          </a:bodyPr>
          <a:lstStyle/>
          <a:p>
            <a:r>
              <a:rPr lang="en-US" sz="1400" dirty="0"/>
              <a:t>Information can be passed into functions as arguments.</a:t>
            </a:r>
          </a:p>
          <a:p>
            <a:endParaRPr lang="en-US" sz="1400" dirty="0"/>
          </a:p>
          <a:p>
            <a:r>
              <a:rPr lang="en-US" sz="1400" dirty="0"/>
              <a:t>Arguments are specified after the function name, inside the parentheses. You can add as many arguments as you want, just separate them with a comma.</a:t>
            </a:r>
          </a:p>
          <a:p>
            <a:endParaRPr lang="en-US" sz="1400" dirty="0"/>
          </a:p>
          <a:p>
            <a:r>
              <a:rPr lang="en-US" sz="1400" dirty="0"/>
              <a:t>The following example has a function with one argument (</a:t>
            </a:r>
            <a:r>
              <a:rPr lang="en-US" sz="1400" dirty="0" err="1"/>
              <a:t>fname</a:t>
            </a:r>
            <a:r>
              <a:rPr lang="en-US" sz="1400" dirty="0"/>
              <a:t>). When the function is called, we pass along a first name, which is used inside the function to print the full name:</a:t>
            </a:r>
          </a:p>
        </p:txBody>
      </p:sp>
      <p:pic>
        <p:nvPicPr>
          <p:cNvPr id="13" name="Picture 12">
            <a:extLst>
              <a:ext uri="{FF2B5EF4-FFF2-40B4-BE49-F238E27FC236}">
                <a16:creationId xmlns:a16="http://schemas.microsoft.com/office/drawing/2014/main" id="{F36A3273-D5B1-4822-895A-26B79A28DE24}"/>
              </a:ext>
            </a:extLst>
          </p:cNvPr>
          <p:cNvPicPr>
            <a:picLocks noChangeAspect="1"/>
          </p:cNvPicPr>
          <p:nvPr/>
        </p:nvPicPr>
        <p:blipFill>
          <a:blip r:embed="rId4"/>
          <a:stretch>
            <a:fillRect/>
          </a:stretch>
        </p:blipFill>
        <p:spPr>
          <a:xfrm>
            <a:off x="840500" y="5216489"/>
            <a:ext cx="2933955" cy="1341236"/>
          </a:xfrm>
          <a:prstGeom prst="rect">
            <a:avLst/>
          </a:prstGeom>
        </p:spPr>
      </p:pic>
    </p:spTree>
    <p:extLst>
      <p:ext uri="{BB962C8B-B14F-4D97-AF65-F5344CB8AC3E}">
        <p14:creationId xmlns:p14="http://schemas.microsoft.com/office/powerpoint/2010/main" val="5498039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699055" y="1261155"/>
            <a:ext cx="9129623" cy="523220"/>
          </a:xfrm>
          <a:prstGeom prst="rect">
            <a:avLst/>
          </a:prstGeom>
          <a:noFill/>
        </p:spPr>
        <p:txBody>
          <a:bodyPr wrap="square">
            <a:spAutoFit/>
          </a:bodyPr>
          <a:lstStyle/>
          <a:p>
            <a:r>
              <a:rPr lang="en-US" sz="1400" dirty="0"/>
              <a:t>By default, a function must be called with the correct number of arguments. Meaning that if your function expects 2 arguments, you have to call the function with 2 arguments, not more, and not less.</a:t>
            </a:r>
          </a:p>
        </p:txBody>
      </p:sp>
      <p:pic>
        <p:nvPicPr>
          <p:cNvPr id="4" name="Picture 3">
            <a:extLst>
              <a:ext uri="{FF2B5EF4-FFF2-40B4-BE49-F238E27FC236}">
                <a16:creationId xmlns:a16="http://schemas.microsoft.com/office/drawing/2014/main" id="{1B833606-2C29-4A42-8356-382437B36D58}"/>
              </a:ext>
            </a:extLst>
          </p:cNvPr>
          <p:cNvPicPr>
            <a:picLocks noChangeAspect="1"/>
          </p:cNvPicPr>
          <p:nvPr/>
        </p:nvPicPr>
        <p:blipFill>
          <a:blip r:embed="rId2"/>
          <a:stretch>
            <a:fillRect/>
          </a:stretch>
        </p:blipFill>
        <p:spPr>
          <a:xfrm>
            <a:off x="730551" y="1834870"/>
            <a:ext cx="5845047" cy="1425063"/>
          </a:xfrm>
          <a:prstGeom prst="rect">
            <a:avLst/>
          </a:prstGeom>
        </p:spPr>
      </p:pic>
      <p:sp>
        <p:nvSpPr>
          <p:cNvPr id="14" name="תיבת טקסט 9">
            <a:extLst>
              <a:ext uri="{FF2B5EF4-FFF2-40B4-BE49-F238E27FC236}">
                <a16:creationId xmlns:a16="http://schemas.microsoft.com/office/drawing/2014/main" id="{71E74AD8-3B44-4664-AC71-7DA9CCD03477}"/>
              </a:ext>
            </a:extLst>
          </p:cNvPr>
          <p:cNvSpPr txBox="1"/>
          <p:nvPr/>
        </p:nvSpPr>
        <p:spPr>
          <a:xfrm>
            <a:off x="715937" y="3459481"/>
            <a:ext cx="9129623" cy="954107"/>
          </a:xfrm>
          <a:prstGeom prst="rect">
            <a:avLst/>
          </a:prstGeom>
          <a:noFill/>
        </p:spPr>
        <p:txBody>
          <a:bodyPr wrap="square">
            <a:spAutoFit/>
          </a:bodyPr>
          <a:lstStyle/>
          <a:p>
            <a:r>
              <a:rPr lang="en-US" sz="1400" dirty="0"/>
              <a:t>Keyword Arguments</a:t>
            </a:r>
          </a:p>
          <a:p>
            <a:r>
              <a:rPr lang="en-US" sz="1400" dirty="0"/>
              <a:t>You can also send arguments with the key = value syntax.</a:t>
            </a:r>
          </a:p>
          <a:p>
            <a:endParaRPr lang="en-US" sz="1400" dirty="0"/>
          </a:p>
          <a:p>
            <a:r>
              <a:rPr lang="en-US" sz="1400" dirty="0"/>
              <a:t>This way the order of the arguments does not matter.</a:t>
            </a:r>
          </a:p>
        </p:txBody>
      </p:sp>
      <p:pic>
        <p:nvPicPr>
          <p:cNvPr id="9" name="Picture 8">
            <a:extLst>
              <a:ext uri="{FF2B5EF4-FFF2-40B4-BE49-F238E27FC236}">
                <a16:creationId xmlns:a16="http://schemas.microsoft.com/office/drawing/2014/main" id="{A5BEF5E2-31BC-4CB7-8B41-72D8DDD4DB98}"/>
              </a:ext>
            </a:extLst>
          </p:cNvPr>
          <p:cNvPicPr>
            <a:picLocks noChangeAspect="1"/>
          </p:cNvPicPr>
          <p:nvPr/>
        </p:nvPicPr>
        <p:blipFill>
          <a:blip r:embed="rId3"/>
          <a:stretch>
            <a:fillRect/>
          </a:stretch>
        </p:blipFill>
        <p:spPr>
          <a:xfrm>
            <a:off x="730552" y="4613135"/>
            <a:ext cx="5730737" cy="1386960"/>
          </a:xfrm>
          <a:prstGeom prst="rect">
            <a:avLst/>
          </a:prstGeom>
        </p:spPr>
      </p:pic>
      <p:sp>
        <p:nvSpPr>
          <p:cNvPr id="11" name="object 2">
            <a:extLst>
              <a:ext uri="{FF2B5EF4-FFF2-40B4-BE49-F238E27FC236}">
                <a16:creationId xmlns:a16="http://schemas.microsoft.com/office/drawing/2014/main" id="{FB71147A-F2FE-9341-B7AC-E9AEF74E8AE7}"/>
              </a:ext>
            </a:extLst>
          </p:cNvPr>
          <p:cNvSpPr txBox="1"/>
          <p:nvPr/>
        </p:nvSpPr>
        <p:spPr>
          <a:xfrm>
            <a:off x="730551" y="393225"/>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Functions</a:t>
            </a:r>
          </a:p>
        </p:txBody>
      </p:sp>
    </p:spTree>
    <p:extLst>
      <p:ext uri="{BB962C8B-B14F-4D97-AF65-F5344CB8AC3E}">
        <p14:creationId xmlns:p14="http://schemas.microsoft.com/office/powerpoint/2010/main" val="2732805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650969" y="764034"/>
            <a:ext cx="9129623" cy="954107"/>
          </a:xfrm>
          <a:prstGeom prst="rect">
            <a:avLst/>
          </a:prstGeom>
          <a:noFill/>
        </p:spPr>
        <p:txBody>
          <a:bodyPr wrap="square">
            <a:spAutoFit/>
          </a:bodyPr>
          <a:lstStyle/>
          <a:p>
            <a:r>
              <a:rPr lang="en-US" sz="1400" dirty="0"/>
              <a:t>Default Parameter Value</a:t>
            </a:r>
          </a:p>
          <a:p>
            <a:r>
              <a:rPr lang="en-US" sz="1400" dirty="0"/>
              <a:t>The following example shows how to use a default parameter value.</a:t>
            </a:r>
          </a:p>
          <a:p>
            <a:endParaRPr lang="en-US" sz="1400" dirty="0"/>
          </a:p>
          <a:p>
            <a:r>
              <a:rPr lang="en-US" sz="1400" dirty="0"/>
              <a:t>If we call the function without argument, it uses the default value:</a:t>
            </a:r>
          </a:p>
        </p:txBody>
      </p:sp>
      <p:sp>
        <p:nvSpPr>
          <p:cNvPr id="14" name="תיבת טקסט 9">
            <a:extLst>
              <a:ext uri="{FF2B5EF4-FFF2-40B4-BE49-F238E27FC236}">
                <a16:creationId xmlns:a16="http://schemas.microsoft.com/office/drawing/2014/main" id="{71E74AD8-3B44-4664-AC71-7DA9CCD03477}"/>
              </a:ext>
            </a:extLst>
          </p:cNvPr>
          <p:cNvSpPr txBox="1"/>
          <p:nvPr/>
        </p:nvSpPr>
        <p:spPr>
          <a:xfrm>
            <a:off x="650969" y="4163950"/>
            <a:ext cx="9129623" cy="738664"/>
          </a:xfrm>
          <a:prstGeom prst="rect">
            <a:avLst/>
          </a:prstGeom>
          <a:noFill/>
        </p:spPr>
        <p:txBody>
          <a:bodyPr wrap="square">
            <a:spAutoFit/>
          </a:bodyPr>
          <a:lstStyle/>
          <a:p>
            <a:r>
              <a:rPr lang="en-US" sz="1400" dirty="0"/>
              <a:t>You can send any data types of argument to a function (string, number, list, dictionary etc.), and it will be treated as the same data type inside the function.</a:t>
            </a:r>
          </a:p>
          <a:p>
            <a:r>
              <a:rPr lang="en-US" sz="1400" dirty="0"/>
              <a:t>E.g. if you send a List as an argument, it will still be a List when it reaches the function:</a:t>
            </a:r>
          </a:p>
        </p:txBody>
      </p:sp>
      <p:pic>
        <p:nvPicPr>
          <p:cNvPr id="5" name="Picture 4">
            <a:extLst>
              <a:ext uri="{FF2B5EF4-FFF2-40B4-BE49-F238E27FC236}">
                <a16:creationId xmlns:a16="http://schemas.microsoft.com/office/drawing/2014/main" id="{6B2C293D-7BA2-4A88-AD2D-B3C6AED5AC27}"/>
              </a:ext>
            </a:extLst>
          </p:cNvPr>
          <p:cNvPicPr>
            <a:picLocks noChangeAspect="1"/>
          </p:cNvPicPr>
          <p:nvPr/>
        </p:nvPicPr>
        <p:blipFill>
          <a:blip r:embed="rId2"/>
          <a:stretch>
            <a:fillRect/>
          </a:stretch>
        </p:blipFill>
        <p:spPr>
          <a:xfrm>
            <a:off x="677637" y="1718140"/>
            <a:ext cx="3718883" cy="2232853"/>
          </a:xfrm>
          <a:prstGeom prst="rect">
            <a:avLst/>
          </a:prstGeom>
        </p:spPr>
      </p:pic>
      <p:pic>
        <p:nvPicPr>
          <p:cNvPr id="7" name="Picture 6">
            <a:extLst>
              <a:ext uri="{FF2B5EF4-FFF2-40B4-BE49-F238E27FC236}">
                <a16:creationId xmlns:a16="http://schemas.microsoft.com/office/drawing/2014/main" id="{11104D5D-9269-4F15-B285-F2DBFC83C895}"/>
              </a:ext>
            </a:extLst>
          </p:cNvPr>
          <p:cNvPicPr>
            <a:picLocks noChangeAspect="1"/>
          </p:cNvPicPr>
          <p:nvPr/>
        </p:nvPicPr>
        <p:blipFill>
          <a:blip r:embed="rId3"/>
          <a:stretch>
            <a:fillRect/>
          </a:stretch>
        </p:blipFill>
        <p:spPr>
          <a:xfrm>
            <a:off x="677639" y="4902614"/>
            <a:ext cx="4351397" cy="1828959"/>
          </a:xfrm>
          <a:prstGeom prst="rect">
            <a:avLst/>
          </a:prstGeom>
        </p:spPr>
      </p:pic>
      <p:sp>
        <p:nvSpPr>
          <p:cNvPr id="9" name="object 2">
            <a:extLst>
              <a:ext uri="{FF2B5EF4-FFF2-40B4-BE49-F238E27FC236}">
                <a16:creationId xmlns:a16="http://schemas.microsoft.com/office/drawing/2014/main" id="{98B099D7-17D4-034A-BD5A-D3744ECCF740}"/>
              </a:ext>
            </a:extLst>
          </p:cNvPr>
          <p:cNvSpPr txBox="1"/>
          <p:nvPr/>
        </p:nvSpPr>
        <p:spPr>
          <a:xfrm>
            <a:off x="745164" y="159830"/>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Functions</a:t>
            </a:r>
          </a:p>
        </p:txBody>
      </p:sp>
    </p:spTree>
    <p:extLst>
      <p:ext uri="{BB962C8B-B14F-4D97-AF65-F5344CB8AC3E}">
        <p14:creationId xmlns:p14="http://schemas.microsoft.com/office/powerpoint/2010/main" val="40404219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745165" y="941563"/>
            <a:ext cx="9129623" cy="646331"/>
          </a:xfrm>
          <a:prstGeom prst="rect">
            <a:avLst/>
          </a:prstGeom>
          <a:noFill/>
        </p:spPr>
        <p:txBody>
          <a:bodyPr wrap="square">
            <a:spAutoFit/>
          </a:bodyPr>
          <a:lstStyle/>
          <a:p>
            <a:r>
              <a:rPr lang="en-US" dirty="0"/>
              <a:t>Return Values</a:t>
            </a:r>
          </a:p>
          <a:p>
            <a:r>
              <a:rPr lang="en-US" dirty="0"/>
              <a:t>To let a function return a value, use the return statement:</a:t>
            </a:r>
          </a:p>
        </p:txBody>
      </p:sp>
      <p:sp>
        <p:nvSpPr>
          <p:cNvPr id="14" name="תיבת טקסט 9">
            <a:extLst>
              <a:ext uri="{FF2B5EF4-FFF2-40B4-BE49-F238E27FC236}">
                <a16:creationId xmlns:a16="http://schemas.microsoft.com/office/drawing/2014/main" id="{71E74AD8-3B44-4664-AC71-7DA9CCD03477}"/>
              </a:ext>
            </a:extLst>
          </p:cNvPr>
          <p:cNvSpPr txBox="1"/>
          <p:nvPr/>
        </p:nvSpPr>
        <p:spPr>
          <a:xfrm>
            <a:off x="716266" y="4523735"/>
            <a:ext cx="9129623" cy="923330"/>
          </a:xfrm>
          <a:prstGeom prst="rect">
            <a:avLst/>
          </a:prstGeom>
          <a:noFill/>
        </p:spPr>
        <p:txBody>
          <a:bodyPr wrap="square">
            <a:spAutoFit/>
          </a:bodyPr>
          <a:lstStyle/>
          <a:p>
            <a:r>
              <a:rPr lang="en-US" dirty="0"/>
              <a:t>The pass Statement</a:t>
            </a:r>
          </a:p>
          <a:p>
            <a:r>
              <a:rPr lang="en-US" dirty="0"/>
              <a:t>function definitions cannot be empty, but if you for some reason have a function definition with no content, put in the pass statement to avoid getting an error.</a:t>
            </a:r>
          </a:p>
        </p:txBody>
      </p:sp>
      <p:pic>
        <p:nvPicPr>
          <p:cNvPr id="4" name="Picture 3">
            <a:extLst>
              <a:ext uri="{FF2B5EF4-FFF2-40B4-BE49-F238E27FC236}">
                <a16:creationId xmlns:a16="http://schemas.microsoft.com/office/drawing/2014/main" id="{80215806-4C97-442F-89EB-A2E13CD2DDCF}"/>
              </a:ext>
            </a:extLst>
          </p:cNvPr>
          <p:cNvPicPr>
            <a:picLocks noChangeAspect="1"/>
          </p:cNvPicPr>
          <p:nvPr/>
        </p:nvPicPr>
        <p:blipFill>
          <a:blip r:embed="rId2"/>
          <a:stretch>
            <a:fillRect/>
          </a:stretch>
        </p:blipFill>
        <p:spPr>
          <a:xfrm>
            <a:off x="868423" y="1838237"/>
            <a:ext cx="3801717" cy="1885812"/>
          </a:xfrm>
          <a:prstGeom prst="rect">
            <a:avLst/>
          </a:prstGeom>
        </p:spPr>
      </p:pic>
      <p:sp>
        <p:nvSpPr>
          <p:cNvPr id="9" name="object 2">
            <a:extLst>
              <a:ext uri="{FF2B5EF4-FFF2-40B4-BE49-F238E27FC236}">
                <a16:creationId xmlns:a16="http://schemas.microsoft.com/office/drawing/2014/main" id="{0FB9A932-6EC0-0443-B950-B618D2A82580}"/>
              </a:ext>
            </a:extLst>
          </p:cNvPr>
          <p:cNvSpPr txBox="1"/>
          <p:nvPr/>
        </p:nvSpPr>
        <p:spPr>
          <a:xfrm>
            <a:off x="745164" y="159830"/>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Functions</a:t>
            </a:r>
          </a:p>
        </p:txBody>
      </p:sp>
      <p:pic>
        <p:nvPicPr>
          <p:cNvPr id="3" name="תמונה 2">
            <a:extLst>
              <a:ext uri="{FF2B5EF4-FFF2-40B4-BE49-F238E27FC236}">
                <a16:creationId xmlns:a16="http://schemas.microsoft.com/office/drawing/2014/main" id="{A0EDE38F-09A1-9D78-F59B-B33E9AFCA804}"/>
              </a:ext>
            </a:extLst>
          </p:cNvPr>
          <p:cNvPicPr>
            <a:picLocks noChangeAspect="1"/>
          </p:cNvPicPr>
          <p:nvPr/>
        </p:nvPicPr>
        <p:blipFill>
          <a:blip r:embed="rId3"/>
          <a:stretch>
            <a:fillRect/>
          </a:stretch>
        </p:blipFill>
        <p:spPr>
          <a:xfrm>
            <a:off x="745164" y="5692753"/>
            <a:ext cx="1632034" cy="844593"/>
          </a:xfrm>
          <a:prstGeom prst="rect">
            <a:avLst/>
          </a:prstGeom>
        </p:spPr>
      </p:pic>
    </p:spTree>
    <p:extLst>
      <p:ext uri="{BB962C8B-B14F-4D97-AF65-F5344CB8AC3E}">
        <p14:creationId xmlns:p14="http://schemas.microsoft.com/office/powerpoint/2010/main" val="4194286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9823" y="392001"/>
            <a:ext cx="10210800" cy="505267"/>
          </a:xfrm>
          <a:prstGeom prst="rect">
            <a:avLst/>
          </a:prstGeom>
        </p:spPr>
        <p:txBody>
          <a:bodyPr vert="horz" wrap="square" lIns="0" tIns="12700" rIns="0" bIns="0" rtlCol="0">
            <a:spAutoFit/>
          </a:bodyPr>
          <a:lstStyle/>
          <a:p>
            <a:pPr marL="12700">
              <a:spcBef>
                <a:spcPts val="100"/>
              </a:spcBef>
            </a:pPr>
            <a:r>
              <a:rPr lang="fr-FR" sz="3200" dirty="0">
                <a:latin typeface="+mj-lt"/>
                <a:cs typeface="Trebuchet MS"/>
              </a:rPr>
              <a:t>Python - Global Variables</a:t>
            </a:r>
            <a:endParaRPr lang="en-US" sz="3200" dirty="0">
              <a:latin typeface="+mj-lt"/>
              <a:cs typeface="Trebuchet MS"/>
            </a:endParaRPr>
          </a:p>
        </p:txBody>
      </p:sp>
      <p:sp>
        <p:nvSpPr>
          <p:cNvPr id="6" name="object 3">
            <a:extLst>
              <a:ext uri="{FF2B5EF4-FFF2-40B4-BE49-F238E27FC236}">
                <a16:creationId xmlns:a16="http://schemas.microsoft.com/office/drawing/2014/main" id="{504C54EB-F689-45AF-9B50-A537385B0172}"/>
              </a:ext>
            </a:extLst>
          </p:cNvPr>
          <p:cNvSpPr txBox="1"/>
          <p:nvPr/>
        </p:nvSpPr>
        <p:spPr>
          <a:xfrm>
            <a:off x="620517" y="1627203"/>
            <a:ext cx="8561705" cy="1120820"/>
          </a:xfrm>
          <a:prstGeom prst="rect">
            <a:avLst/>
          </a:prstGeom>
        </p:spPr>
        <p:txBody>
          <a:bodyPr vert="horz" wrap="square" lIns="0" tIns="12700" rIns="0" bIns="0" rtlCol="0">
            <a:spAutoFit/>
          </a:bodyPr>
          <a:lstStyle/>
          <a:p>
            <a:pPr algn="l" fontAlgn="base"/>
            <a:r>
              <a:rPr lang="en-US" dirty="0"/>
              <a:t>Global Variables</a:t>
            </a:r>
          </a:p>
          <a:p>
            <a:pPr algn="l" fontAlgn="base"/>
            <a:r>
              <a:rPr lang="en-US" dirty="0"/>
              <a:t>Variables that are created outside of a function (as in all of the examples above) are known as global variables.</a:t>
            </a:r>
          </a:p>
          <a:p>
            <a:pPr algn="l" fontAlgn="base"/>
            <a:r>
              <a:rPr lang="en-US" dirty="0"/>
              <a:t>Global variables can be used by everyone, both inside of functions and outside.</a:t>
            </a:r>
          </a:p>
        </p:txBody>
      </p:sp>
      <p:pic>
        <p:nvPicPr>
          <p:cNvPr id="4" name="תמונה 3">
            <a:extLst>
              <a:ext uri="{FF2B5EF4-FFF2-40B4-BE49-F238E27FC236}">
                <a16:creationId xmlns:a16="http://schemas.microsoft.com/office/drawing/2014/main" id="{14E13A8A-9ECA-452F-AB46-D6C5E0023418}"/>
              </a:ext>
            </a:extLst>
          </p:cNvPr>
          <p:cNvPicPr>
            <a:picLocks noChangeAspect="1"/>
          </p:cNvPicPr>
          <p:nvPr/>
        </p:nvPicPr>
        <p:blipFill>
          <a:blip r:embed="rId2"/>
          <a:stretch>
            <a:fillRect/>
          </a:stretch>
        </p:blipFill>
        <p:spPr>
          <a:xfrm>
            <a:off x="620517" y="3108641"/>
            <a:ext cx="6905625" cy="2105025"/>
          </a:xfrm>
          <a:prstGeom prst="rect">
            <a:avLst/>
          </a:prstGeom>
        </p:spPr>
      </p:pic>
      <p:pic>
        <p:nvPicPr>
          <p:cNvPr id="10" name="תמונה 9">
            <a:extLst>
              <a:ext uri="{FF2B5EF4-FFF2-40B4-BE49-F238E27FC236}">
                <a16:creationId xmlns:a16="http://schemas.microsoft.com/office/drawing/2014/main" id="{522C7B4E-5F6A-43E5-BE31-41B8A451DDA7}"/>
              </a:ext>
            </a:extLst>
          </p:cNvPr>
          <p:cNvPicPr>
            <a:picLocks noChangeAspect="1"/>
          </p:cNvPicPr>
          <p:nvPr/>
        </p:nvPicPr>
        <p:blipFill>
          <a:blip r:embed="rId3"/>
          <a:stretch>
            <a:fillRect/>
          </a:stretch>
        </p:blipFill>
        <p:spPr>
          <a:xfrm>
            <a:off x="7957815" y="4440569"/>
            <a:ext cx="2320991" cy="600061"/>
          </a:xfrm>
          <a:prstGeom prst="rect">
            <a:avLst/>
          </a:prstGeom>
        </p:spPr>
      </p:pic>
    </p:spTree>
    <p:extLst>
      <p:ext uri="{BB962C8B-B14F-4D97-AF65-F5344CB8AC3E}">
        <p14:creationId xmlns:p14="http://schemas.microsoft.com/office/powerpoint/2010/main" val="1501658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29823" y="392001"/>
            <a:ext cx="10210800" cy="505267"/>
          </a:xfrm>
          <a:prstGeom prst="rect">
            <a:avLst/>
          </a:prstGeom>
        </p:spPr>
        <p:txBody>
          <a:bodyPr vert="horz" wrap="square" lIns="0" tIns="12700" rIns="0" bIns="0" rtlCol="0">
            <a:spAutoFit/>
          </a:bodyPr>
          <a:lstStyle/>
          <a:p>
            <a:pPr marL="12700">
              <a:spcBef>
                <a:spcPts val="100"/>
              </a:spcBef>
            </a:pPr>
            <a:r>
              <a:rPr lang="fr-FR" sz="3200" dirty="0">
                <a:latin typeface="+mj-lt"/>
                <a:cs typeface="Trebuchet MS"/>
              </a:rPr>
              <a:t>Python - Global Variables</a:t>
            </a:r>
            <a:endParaRPr lang="en-US" sz="3200" dirty="0">
              <a:latin typeface="+mj-lt"/>
              <a:cs typeface="Trebuchet MS"/>
            </a:endParaRPr>
          </a:p>
        </p:txBody>
      </p:sp>
      <p:sp>
        <p:nvSpPr>
          <p:cNvPr id="8" name="object 3">
            <a:extLst>
              <a:ext uri="{FF2B5EF4-FFF2-40B4-BE49-F238E27FC236}">
                <a16:creationId xmlns:a16="http://schemas.microsoft.com/office/drawing/2014/main" id="{BAB998D1-0355-4374-BE6C-58AB9395D3F0}"/>
              </a:ext>
            </a:extLst>
          </p:cNvPr>
          <p:cNvSpPr txBox="1"/>
          <p:nvPr/>
        </p:nvSpPr>
        <p:spPr>
          <a:xfrm>
            <a:off x="629824" y="1886709"/>
            <a:ext cx="8561705" cy="751488"/>
          </a:xfrm>
          <a:prstGeom prst="rect">
            <a:avLst/>
          </a:prstGeom>
        </p:spPr>
        <p:txBody>
          <a:bodyPr vert="horz" wrap="square" lIns="0" tIns="12700" rIns="0" bIns="0" rtlCol="0">
            <a:spAutoFit/>
          </a:bodyPr>
          <a:lstStyle/>
          <a:p>
            <a:pPr algn="l" fontAlgn="base"/>
            <a:r>
              <a:rPr lang="en-US" sz="1600" dirty="0"/>
              <a:t>If you create a variable with the same name inside a function, this variable will be local, and can only be used inside the function. The global variable with the same name will remain as it was, global and with the original value.</a:t>
            </a:r>
          </a:p>
        </p:txBody>
      </p:sp>
      <p:pic>
        <p:nvPicPr>
          <p:cNvPr id="13" name="תמונה 12">
            <a:extLst>
              <a:ext uri="{FF2B5EF4-FFF2-40B4-BE49-F238E27FC236}">
                <a16:creationId xmlns:a16="http://schemas.microsoft.com/office/drawing/2014/main" id="{33E37D12-F845-4AF5-866F-7703746D4D40}"/>
              </a:ext>
            </a:extLst>
          </p:cNvPr>
          <p:cNvPicPr>
            <a:picLocks noChangeAspect="1"/>
          </p:cNvPicPr>
          <p:nvPr/>
        </p:nvPicPr>
        <p:blipFill>
          <a:blip r:embed="rId2"/>
          <a:stretch>
            <a:fillRect/>
          </a:stretch>
        </p:blipFill>
        <p:spPr>
          <a:xfrm>
            <a:off x="629823" y="2915409"/>
            <a:ext cx="9637483" cy="3085341"/>
          </a:xfrm>
          <a:prstGeom prst="rect">
            <a:avLst/>
          </a:prstGeom>
        </p:spPr>
      </p:pic>
    </p:spTree>
    <p:extLst>
      <p:ext uri="{BB962C8B-B14F-4D97-AF65-F5344CB8AC3E}">
        <p14:creationId xmlns:p14="http://schemas.microsoft.com/office/powerpoint/2010/main" val="13190126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3">
            <a:extLst>
              <a:ext uri="{FF2B5EF4-FFF2-40B4-BE49-F238E27FC236}">
                <a16:creationId xmlns:a16="http://schemas.microsoft.com/office/drawing/2014/main" id="{504C54EB-F689-45AF-9B50-A537385B0172}"/>
              </a:ext>
            </a:extLst>
          </p:cNvPr>
          <p:cNvSpPr txBox="1"/>
          <p:nvPr/>
        </p:nvSpPr>
        <p:spPr>
          <a:xfrm>
            <a:off x="538382" y="1046248"/>
            <a:ext cx="8561705" cy="1090042"/>
          </a:xfrm>
          <a:prstGeom prst="rect">
            <a:avLst/>
          </a:prstGeom>
        </p:spPr>
        <p:txBody>
          <a:bodyPr vert="horz" wrap="square" lIns="0" tIns="12700" rIns="0" bIns="0" rtlCol="0">
            <a:spAutoFit/>
          </a:bodyPr>
          <a:lstStyle/>
          <a:p>
            <a:pPr algn="l" fontAlgn="base"/>
            <a:r>
              <a:rPr lang="en-US" sz="1400" dirty="0"/>
              <a:t>The global Keyword</a:t>
            </a:r>
          </a:p>
          <a:p>
            <a:pPr algn="l" fontAlgn="base"/>
            <a:r>
              <a:rPr lang="en-US" sz="1400" dirty="0"/>
              <a:t>Normally, when you create a variable inside a function, that variable is local, and can only be used inside that function.</a:t>
            </a:r>
          </a:p>
          <a:p>
            <a:pPr algn="l" fontAlgn="base"/>
            <a:endParaRPr lang="en-US" sz="1400" dirty="0"/>
          </a:p>
          <a:p>
            <a:pPr algn="l" fontAlgn="base"/>
            <a:r>
              <a:rPr lang="en-US" sz="1400" dirty="0"/>
              <a:t>To create a global variable inside a function, you can use the global keyword.</a:t>
            </a:r>
          </a:p>
        </p:txBody>
      </p:sp>
      <p:sp>
        <p:nvSpPr>
          <p:cNvPr id="8" name="object 3">
            <a:extLst>
              <a:ext uri="{FF2B5EF4-FFF2-40B4-BE49-F238E27FC236}">
                <a16:creationId xmlns:a16="http://schemas.microsoft.com/office/drawing/2014/main" id="{BAB998D1-0355-4374-BE6C-58AB9395D3F0}"/>
              </a:ext>
            </a:extLst>
          </p:cNvPr>
          <p:cNvSpPr txBox="1"/>
          <p:nvPr/>
        </p:nvSpPr>
        <p:spPr>
          <a:xfrm>
            <a:off x="538384" y="4376601"/>
            <a:ext cx="8561705" cy="228268"/>
          </a:xfrm>
          <a:prstGeom prst="rect">
            <a:avLst/>
          </a:prstGeom>
        </p:spPr>
        <p:txBody>
          <a:bodyPr vert="horz" wrap="square" lIns="0" tIns="12700" rIns="0" bIns="0" rtlCol="0">
            <a:spAutoFit/>
          </a:bodyPr>
          <a:lstStyle/>
          <a:p>
            <a:pPr algn="l" fontAlgn="base"/>
            <a:r>
              <a:rPr lang="en-US" sz="1400" dirty="0"/>
              <a:t>Also, use the global keyword if you want to change a global variable inside a function.</a:t>
            </a:r>
          </a:p>
        </p:txBody>
      </p:sp>
      <p:pic>
        <p:nvPicPr>
          <p:cNvPr id="5" name="תמונה 4">
            <a:extLst>
              <a:ext uri="{FF2B5EF4-FFF2-40B4-BE49-F238E27FC236}">
                <a16:creationId xmlns:a16="http://schemas.microsoft.com/office/drawing/2014/main" id="{B905B2AD-FE29-45FF-AB42-18788046F82F}"/>
              </a:ext>
            </a:extLst>
          </p:cNvPr>
          <p:cNvPicPr>
            <a:picLocks noChangeAspect="1"/>
          </p:cNvPicPr>
          <p:nvPr/>
        </p:nvPicPr>
        <p:blipFill>
          <a:blip r:embed="rId2"/>
          <a:stretch>
            <a:fillRect/>
          </a:stretch>
        </p:blipFill>
        <p:spPr>
          <a:xfrm>
            <a:off x="538383" y="2136289"/>
            <a:ext cx="6216748" cy="2021083"/>
          </a:xfrm>
          <a:prstGeom prst="rect">
            <a:avLst/>
          </a:prstGeom>
        </p:spPr>
      </p:pic>
      <p:pic>
        <p:nvPicPr>
          <p:cNvPr id="9" name="תמונה 8">
            <a:extLst>
              <a:ext uri="{FF2B5EF4-FFF2-40B4-BE49-F238E27FC236}">
                <a16:creationId xmlns:a16="http://schemas.microsoft.com/office/drawing/2014/main" id="{C0E77BA9-05B1-4B15-99B3-C6EA9A3F5937}"/>
              </a:ext>
            </a:extLst>
          </p:cNvPr>
          <p:cNvPicPr>
            <a:picLocks noChangeAspect="1"/>
          </p:cNvPicPr>
          <p:nvPr/>
        </p:nvPicPr>
        <p:blipFill>
          <a:blip r:embed="rId3"/>
          <a:stretch>
            <a:fillRect/>
          </a:stretch>
        </p:blipFill>
        <p:spPr>
          <a:xfrm>
            <a:off x="7233604" y="3633497"/>
            <a:ext cx="2257425" cy="523875"/>
          </a:xfrm>
          <a:prstGeom prst="rect">
            <a:avLst/>
          </a:prstGeom>
        </p:spPr>
      </p:pic>
      <p:pic>
        <p:nvPicPr>
          <p:cNvPr id="12" name="תמונה 11">
            <a:extLst>
              <a:ext uri="{FF2B5EF4-FFF2-40B4-BE49-F238E27FC236}">
                <a16:creationId xmlns:a16="http://schemas.microsoft.com/office/drawing/2014/main" id="{91F6131C-9399-4038-9217-741CC839F4D8}"/>
              </a:ext>
            </a:extLst>
          </p:cNvPr>
          <p:cNvPicPr>
            <a:picLocks noChangeAspect="1"/>
          </p:cNvPicPr>
          <p:nvPr/>
        </p:nvPicPr>
        <p:blipFill>
          <a:blip r:embed="rId4"/>
          <a:stretch>
            <a:fillRect/>
          </a:stretch>
        </p:blipFill>
        <p:spPr>
          <a:xfrm>
            <a:off x="538383" y="4604867"/>
            <a:ext cx="7954011" cy="2224496"/>
          </a:xfrm>
          <a:prstGeom prst="rect">
            <a:avLst/>
          </a:prstGeom>
        </p:spPr>
      </p:pic>
      <p:pic>
        <p:nvPicPr>
          <p:cNvPr id="15" name="תמונה 14">
            <a:extLst>
              <a:ext uri="{FF2B5EF4-FFF2-40B4-BE49-F238E27FC236}">
                <a16:creationId xmlns:a16="http://schemas.microsoft.com/office/drawing/2014/main" id="{F52C9571-3675-40DD-83C7-146A50178EDA}"/>
              </a:ext>
            </a:extLst>
          </p:cNvPr>
          <p:cNvPicPr>
            <a:picLocks noChangeAspect="1"/>
          </p:cNvPicPr>
          <p:nvPr/>
        </p:nvPicPr>
        <p:blipFill>
          <a:blip r:embed="rId5"/>
          <a:stretch>
            <a:fillRect/>
          </a:stretch>
        </p:blipFill>
        <p:spPr>
          <a:xfrm>
            <a:off x="8610601" y="6110287"/>
            <a:ext cx="1962151" cy="476251"/>
          </a:xfrm>
          <a:prstGeom prst="rect">
            <a:avLst/>
          </a:prstGeom>
        </p:spPr>
      </p:pic>
      <p:sp>
        <p:nvSpPr>
          <p:cNvPr id="10" name="object 2">
            <a:extLst>
              <a:ext uri="{FF2B5EF4-FFF2-40B4-BE49-F238E27FC236}">
                <a16:creationId xmlns:a16="http://schemas.microsoft.com/office/drawing/2014/main" id="{7D372FCE-7886-E341-971E-D149E4F9297D}"/>
              </a:ext>
            </a:extLst>
          </p:cNvPr>
          <p:cNvSpPr txBox="1"/>
          <p:nvPr/>
        </p:nvSpPr>
        <p:spPr>
          <a:xfrm>
            <a:off x="629823" y="392001"/>
            <a:ext cx="10210800" cy="505267"/>
          </a:xfrm>
          <a:prstGeom prst="rect">
            <a:avLst/>
          </a:prstGeom>
        </p:spPr>
        <p:txBody>
          <a:bodyPr vert="horz" wrap="square" lIns="0" tIns="12700" rIns="0" bIns="0" rtlCol="0">
            <a:spAutoFit/>
          </a:bodyPr>
          <a:lstStyle/>
          <a:p>
            <a:pPr marL="12700">
              <a:spcBef>
                <a:spcPts val="100"/>
              </a:spcBef>
            </a:pPr>
            <a:r>
              <a:rPr lang="fr-FR" sz="3200" dirty="0">
                <a:latin typeface="+mj-lt"/>
                <a:cs typeface="Trebuchet MS"/>
              </a:rPr>
              <a:t>Python - Global Variables</a:t>
            </a:r>
            <a:endParaRPr lang="en-US" sz="3200" dirty="0">
              <a:latin typeface="+mj-lt"/>
              <a:cs typeface="Trebuchet MS"/>
            </a:endParaRPr>
          </a:p>
        </p:txBody>
      </p:sp>
    </p:spTree>
    <p:extLst>
      <p:ext uri="{BB962C8B-B14F-4D97-AF65-F5344CB8AC3E}">
        <p14:creationId xmlns:p14="http://schemas.microsoft.com/office/powerpoint/2010/main" val="2041623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89040" y="264034"/>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String Formatting</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514350" y="837868"/>
            <a:ext cx="9129623" cy="1169551"/>
          </a:xfrm>
          <a:prstGeom prst="rect">
            <a:avLst/>
          </a:prstGeom>
          <a:noFill/>
        </p:spPr>
        <p:txBody>
          <a:bodyPr wrap="square">
            <a:spAutoFit/>
          </a:bodyPr>
          <a:lstStyle/>
          <a:p>
            <a:r>
              <a:rPr lang="en-US" sz="1400" dirty="0"/>
              <a:t>To make sure a string will display as expected, we can format the result with the format() method.</a:t>
            </a:r>
            <a:endParaRPr lang="he-IL" sz="1400" dirty="0"/>
          </a:p>
          <a:p>
            <a:r>
              <a:rPr lang="en-US" sz="1400" dirty="0"/>
              <a:t>The format() method allows you to format selected parts of a string.</a:t>
            </a:r>
          </a:p>
          <a:p>
            <a:r>
              <a:rPr lang="en-US" sz="1400" dirty="0"/>
              <a:t>Sometimes there are parts of a text that you do not control, maybe they come from a database, or user input?</a:t>
            </a:r>
          </a:p>
          <a:p>
            <a:r>
              <a:rPr lang="en-US" sz="1400" dirty="0"/>
              <a:t>To control such values, add placeholders (curly brackets {}) in the text, and run the values through the format() method:</a:t>
            </a:r>
          </a:p>
        </p:txBody>
      </p:sp>
      <p:sp>
        <p:nvSpPr>
          <p:cNvPr id="14" name="תיבת טקסט 9">
            <a:extLst>
              <a:ext uri="{FF2B5EF4-FFF2-40B4-BE49-F238E27FC236}">
                <a16:creationId xmlns:a16="http://schemas.microsoft.com/office/drawing/2014/main" id="{71E74AD8-3B44-4664-AC71-7DA9CCD03477}"/>
              </a:ext>
            </a:extLst>
          </p:cNvPr>
          <p:cNvSpPr txBox="1"/>
          <p:nvPr/>
        </p:nvSpPr>
        <p:spPr>
          <a:xfrm>
            <a:off x="581227" y="3600827"/>
            <a:ext cx="9129623" cy="307777"/>
          </a:xfrm>
          <a:prstGeom prst="rect">
            <a:avLst/>
          </a:prstGeom>
          <a:noFill/>
        </p:spPr>
        <p:txBody>
          <a:bodyPr wrap="square">
            <a:spAutoFit/>
          </a:bodyPr>
          <a:lstStyle/>
          <a:p>
            <a:r>
              <a:rPr lang="en-US" sz="1400" dirty="0"/>
              <a:t>You can add parameters inside the curly brackets to specify how to convert the value:</a:t>
            </a:r>
          </a:p>
        </p:txBody>
      </p:sp>
      <p:pic>
        <p:nvPicPr>
          <p:cNvPr id="6" name="Picture 5">
            <a:extLst>
              <a:ext uri="{FF2B5EF4-FFF2-40B4-BE49-F238E27FC236}">
                <a16:creationId xmlns:a16="http://schemas.microsoft.com/office/drawing/2014/main" id="{A07F2DB0-D34E-43A1-A6EA-F96CF1455CAB}"/>
              </a:ext>
            </a:extLst>
          </p:cNvPr>
          <p:cNvPicPr>
            <a:picLocks noChangeAspect="1"/>
          </p:cNvPicPr>
          <p:nvPr/>
        </p:nvPicPr>
        <p:blipFill>
          <a:blip r:embed="rId2"/>
          <a:stretch>
            <a:fillRect/>
          </a:stretch>
        </p:blipFill>
        <p:spPr>
          <a:xfrm>
            <a:off x="581227" y="2219820"/>
            <a:ext cx="4450467" cy="1242168"/>
          </a:xfrm>
          <a:prstGeom prst="rect">
            <a:avLst/>
          </a:prstGeom>
        </p:spPr>
      </p:pic>
      <p:pic>
        <p:nvPicPr>
          <p:cNvPr id="11" name="Picture 10">
            <a:extLst>
              <a:ext uri="{FF2B5EF4-FFF2-40B4-BE49-F238E27FC236}">
                <a16:creationId xmlns:a16="http://schemas.microsoft.com/office/drawing/2014/main" id="{551129B4-2881-46F4-956E-A9DE4AAFE1C2}"/>
              </a:ext>
            </a:extLst>
          </p:cNvPr>
          <p:cNvPicPr>
            <a:picLocks noChangeAspect="1"/>
          </p:cNvPicPr>
          <p:nvPr/>
        </p:nvPicPr>
        <p:blipFill>
          <a:blip r:embed="rId3"/>
          <a:stretch>
            <a:fillRect/>
          </a:stretch>
        </p:blipFill>
        <p:spPr>
          <a:xfrm>
            <a:off x="5389381" y="2880992"/>
            <a:ext cx="2987299" cy="579171"/>
          </a:xfrm>
          <a:prstGeom prst="rect">
            <a:avLst/>
          </a:prstGeom>
        </p:spPr>
      </p:pic>
      <p:pic>
        <p:nvPicPr>
          <p:cNvPr id="13" name="Picture 12">
            <a:extLst>
              <a:ext uri="{FF2B5EF4-FFF2-40B4-BE49-F238E27FC236}">
                <a16:creationId xmlns:a16="http://schemas.microsoft.com/office/drawing/2014/main" id="{0BBB2557-9BFF-462D-BB46-687C38813DEE}"/>
              </a:ext>
            </a:extLst>
          </p:cNvPr>
          <p:cNvPicPr>
            <a:picLocks noChangeAspect="1"/>
          </p:cNvPicPr>
          <p:nvPr/>
        </p:nvPicPr>
        <p:blipFill>
          <a:blip r:embed="rId4"/>
          <a:stretch>
            <a:fillRect/>
          </a:stretch>
        </p:blipFill>
        <p:spPr>
          <a:xfrm>
            <a:off x="581228" y="3916500"/>
            <a:ext cx="5776461" cy="883997"/>
          </a:xfrm>
          <a:prstGeom prst="rect">
            <a:avLst/>
          </a:prstGeom>
        </p:spPr>
      </p:pic>
      <p:pic>
        <p:nvPicPr>
          <p:cNvPr id="16" name="Picture 15">
            <a:extLst>
              <a:ext uri="{FF2B5EF4-FFF2-40B4-BE49-F238E27FC236}">
                <a16:creationId xmlns:a16="http://schemas.microsoft.com/office/drawing/2014/main" id="{935BDEA3-8284-4D81-B20B-5C906D6CF77F}"/>
              </a:ext>
            </a:extLst>
          </p:cNvPr>
          <p:cNvPicPr>
            <a:picLocks noChangeAspect="1"/>
          </p:cNvPicPr>
          <p:nvPr/>
        </p:nvPicPr>
        <p:blipFill>
          <a:blip r:embed="rId5"/>
          <a:stretch>
            <a:fillRect/>
          </a:stretch>
        </p:blipFill>
        <p:spPr>
          <a:xfrm>
            <a:off x="6617777" y="4328017"/>
            <a:ext cx="3314987" cy="472481"/>
          </a:xfrm>
          <a:prstGeom prst="rect">
            <a:avLst/>
          </a:prstGeom>
        </p:spPr>
      </p:pic>
      <p:sp>
        <p:nvSpPr>
          <p:cNvPr id="17" name="תיבת טקסט 9">
            <a:extLst>
              <a:ext uri="{FF2B5EF4-FFF2-40B4-BE49-F238E27FC236}">
                <a16:creationId xmlns:a16="http://schemas.microsoft.com/office/drawing/2014/main" id="{C3A75BA8-310C-40DF-91F8-97B70A4682B7}"/>
              </a:ext>
            </a:extLst>
          </p:cNvPr>
          <p:cNvSpPr txBox="1"/>
          <p:nvPr/>
        </p:nvSpPr>
        <p:spPr>
          <a:xfrm>
            <a:off x="581227" y="4939337"/>
            <a:ext cx="9129623" cy="307777"/>
          </a:xfrm>
          <a:prstGeom prst="rect">
            <a:avLst/>
          </a:prstGeom>
          <a:noFill/>
        </p:spPr>
        <p:txBody>
          <a:bodyPr wrap="square">
            <a:spAutoFit/>
          </a:bodyPr>
          <a:lstStyle/>
          <a:p>
            <a:r>
              <a:rPr lang="en-US" sz="1400" dirty="0"/>
              <a:t>If you want to use more values, just add more values to the format() method:</a:t>
            </a:r>
          </a:p>
        </p:txBody>
      </p:sp>
      <p:pic>
        <p:nvPicPr>
          <p:cNvPr id="21" name="Picture 20">
            <a:extLst>
              <a:ext uri="{FF2B5EF4-FFF2-40B4-BE49-F238E27FC236}">
                <a16:creationId xmlns:a16="http://schemas.microsoft.com/office/drawing/2014/main" id="{CCEA8213-D3FA-4F9A-9307-55FA9B64D593}"/>
              </a:ext>
            </a:extLst>
          </p:cNvPr>
          <p:cNvPicPr>
            <a:picLocks noChangeAspect="1"/>
          </p:cNvPicPr>
          <p:nvPr/>
        </p:nvPicPr>
        <p:blipFill>
          <a:blip r:embed="rId6"/>
          <a:stretch>
            <a:fillRect/>
          </a:stretch>
        </p:blipFill>
        <p:spPr>
          <a:xfrm>
            <a:off x="589041" y="5325158"/>
            <a:ext cx="6934801" cy="1280271"/>
          </a:xfrm>
          <a:prstGeom prst="rect">
            <a:avLst/>
          </a:prstGeom>
        </p:spPr>
      </p:pic>
      <p:pic>
        <p:nvPicPr>
          <p:cNvPr id="23" name="Picture 22">
            <a:extLst>
              <a:ext uri="{FF2B5EF4-FFF2-40B4-BE49-F238E27FC236}">
                <a16:creationId xmlns:a16="http://schemas.microsoft.com/office/drawing/2014/main" id="{FC607B10-B6DA-44FB-B7D0-E5B4516C0128}"/>
              </a:ext>
            </a:extLst>
          </p:cNvPr>
          <p:cNvPicPr>
            <a:picLocks noChangeAspect="1"/>
          </p:cNvPicPr>
          <p:nvPr/>
        </p:nvPicPr>
        <p:blipFill>
          <a:blip r:embed="rId7"/>
          <a:stretch>
            <a:fillRect/>
          </a:stretch>
        </p:blipFill>
        <p:spPr>
          <a:xfrm>
            <a:off x="7649945" y="6082457"/>
            <a:ext cx="4137435" cy="522972"/>
          </a:xfrm>
          <a:prstGeom prst="rect">
            <a:avLst/>
          </a:prstGeom>
        </p:spPr>
      </p:pic>
    </p:spTree>
    <p:extLst>
      <p:ext uri="{BB962C8B-B14F-4D97-AF65-F5344CB8AC3E}">
        <p14:creationId xmlns:p14="http://schemas.microsoft.com/office/powerpoint/2010/main" val="2396408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77611" y="344899"/>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Try Except</a:t>
            </a: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514350" y="1114867"/>
            <a:ext cx="9129623" cy="1169551"/>
          </a:xfrm>
          <a:prstGeom prst="rect">
            <a:avLst/>
          </a:prstGeom>
          <a:noFill/>
        </p:spPr>
        <p:txBody>
          <a:bodyPr wrap="square">
            <a:spAutoFit/>
          </a:bodyPr>
          <a:lstStyle/>
          <a:p>
            <a:r>
              <a:rPr lang="en-US" sz="1400" dirty="0"/>
              <a:t>The try block lets you test a block of code for errors.</a:t>
            </a:r>
          </a:p>
          <a:p>
            <a:endParaRPr lang="en-US" sz="1400" dirty="0"/>
          </a:p>
          <a:p>
            <a:r>
              <a:rPr lang="en-US" sz="1400" dirty="0"/>
              <a:t>The except block lets you handle the error.</a:t>
            </a:r>
          </a:p>
          <a:p>
            <a:endParaRPr lang="en-US" sz="1400" dirty="0"/>
          </a:p>
          <a:p>
            <a:r>
              <a:rPr lang="en-US" sz="1400" dirty="0"/>
              <a:t>The finally block lets you execute code, regardless of the result of the try- and except blocks.</a:t>
            </a:r>
          </a:p>
        </p:txBody>
      </p:sp>
      <p:sp>
        <p:nvSpPr>
          <p:cNvPr id="14" name="תיבת טקסט 9">
            <a:extLst>
              <a:ext uri="{FF2B5EF4-FFF2-40B4-BE49-F238E27FC236}">
                <a16:creationId xmlns:a16="http://schemas.microsoft.com/office/drawing/2014/main" id="{71E74AD8-3B44-4664-AC71-7DA9CCD03477}"/>
              </a:ext>
            </a:extLst>
          </p:cNvPr>
          <p:cNvSpPr txBox="1"/>
          <p:nvPr/>
        </p:nvSpPr>
        <p:spPr>
          <a:xfrm>
            <a:off x="514350" y="4206916"/>
            <a:ext cx="9129623" cy="523220"/>
          </a:xfrm>
          <a:prstGeom prst="rect">
            <a:avLst/>
          </a:prstGeom>
          <a:noFill/>
        </p:spPr>
        <p:txBody>
          <a:bodyPr wrap="square">
            <a:spAutoFit/>
          </a:bodyPr>
          <a:lstStyle/>
          <a:p>
            <a:r>
              <a:rPr lang="en-US" sz="1400" dirty="0"/>
              <a:t>You can define as many exception blocks as you want, e.g. if you want to execute a special block of code for a special kind of error:</a:t>
            </a:r>
          </a:p>
        </p:txBody>
      </p:sp>
      <p:pic>
        <p:nvPicPr>
          <p:cNvPr id="4" name="Picture 3">
            <a:extLst>
              <a:ext uri="{FF2B5EF4-FFF2-40B4-BE49-F238E27FC236}">
                <a16:creationId xmlns:a16="http://schemas.microsoft.com/office/drawing/2014/main" id="{CD4DE299-E583-4B20-8268-CFF2615817F4}"/>
              </a:ext>
            </a:extLst>
          </p:cNvPr>
          <p:cNvPicPr>
            <a:picLocks noChangeAspect="1"/>
          </p:cNvPicPr>
          <p:nvPr/>
        </p:nvPicPr>
        <p:blipFill>
          <a:blip r:embed="rId2"/>
          <a:stretch>
            <a:fillRect/>
          </a:stretch>
        </p:blipFill>
        <p:spPr>
          <a:xfrm>
            <a:off x="577611" y="2347172"/>
            <a:ext cx="5913632" cy="1539373"/>
          </a:xfrm>
          <a:prstGeom prst="rect">
            <a:avLst/>
          </a:prstGeom>
        </p:spPr>
      </p:pic>
      <p:pic>
        <p:nvPicPr>
          <p:cNvPr id="7" name="Picture 6">
            <a:extLst>
              <a:ext uri="{FF2B5EF4-FFF2-40B4-BE49-F238E27FC236}">
                <a16:creationId xmlns:a16="http://schemas.microsoft.com/office/drawing/2014/main" id="{B638EC79-A196-4F2E-B0E9-829864B31C59}"/>
              </a:ext>
            </a:extLst>
          </p:cNvPr>
          <p:cNvPicPr>
            <a:picLocks noChangeAspect="1"/>
          </p:cNvPicPr>
          <p:nvPr/>
        </p:nvPicPr>
        <p:blipFill rotWithShape="1">
          <a:blip r:embed="rId3"/>
          <a:srcRect l="13153" r="11114"/>
          <a:stretch/>
        </p:blipFill>
        <p:spPr>
          <a:xfrm>
            <a:off x="6762751" y="2347172"/>
            <a:ext cx="2077648" cy="662997"/>
          </a:xfrm>
          <a:prstGeom prst="rect">
            <a:avLst/>
          </a:prstGeom>
        </p:spPr>
      </p:pic>
      <p:pic>
        <p:nvPicPr>
          <p:cNvPr id="12" name="Picture 11">
            <a:extLst>
              <a:ext uri="{FF2B5EF4-FFF2-40B4-BE49-F238E27FC236}">
                <a16:creationId xmlns:a16="http://schemas.microsoft.com/office/drawing/2014/main" id="{A8CD6388-60C5-4BCF-9CC6-8AD28E909897}"/>
              </a:ext>
            </a:extLst>
          </p:cNvPr>
          <p:cNvPicPr>
            <a:picLocks noChangeAspect="1"/>
          </p:cNvPicPr>
          <p:nvPr/>
        </p:nvPicPr>
        <p:blipFill>
          <a:blip r:embed="rId4"/>
          <a:stretch>
            <a:fillRect/>
          </a:stretch>
        </p:blipFill>
        <p:spPr>
          <a:xfrm>
            <a:off x="577609" y="4862379"/>
            <a:ext cx="5052499" cy="1630821"/>
          </a:xfrm>
          <a:prstGeom prst="rect">
            <a:avLst/>
          </a:prstGeom>
        </p:spPr>
      </p:pic>
    </p:spTree>
    <p:extLst>
      <p:ext uri="{BB962C8B-B14F-4D97-AF65-F5344CB8AC3E}">
        <p14:creationId xmlns:p14="http://schemas.microsoft.com/office/powerpoint/2010/main" val="4347786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470059" y="1220785"/>
            <a:ext cx="9129623" cy="307777"/>
          </a:xfrm>
          <a:prstGeom prst="rect">
            <a:avLst/>
          </a:prstGeom>
          <a:noFill/>
        </p:spPr>
        <p:txBody>
          <a:bodyPr wrap="square">
            <a:spAutoFit/>
          </a:bodyPr>
          <a:lstStyle/>
          <a:p>
            <a:r>
              <a:rPr lang="en-US" sz="1400" dirty="0"/>
              <a:t>The finally block, if specified, will be executed regardless if the try block raises an error or not.</a:t>
            </a:r>
          </a:p>
        </p:txBody>
      </p:sp>
      <p:sp>
        <p:nvSpPr>
          <p:cNvPr id="14" name="תיבת טקסט 9">
            <a:extLst>
              <a:ext uri="{FF2B5EF4-FFF2-40B4-BE49-F238E27FC236}">
                <a16:creationId xmlns:a16="http://schemas.microsoft.com/office/drawing/2014/main" id="{71E74AD8-3B44-4664-AC71-7DA9CCD03477}"/>
              </a:ext>
            </a:extLst>
          </p:cNvPr>
          <p:cNvSpPr txBox="1"/>
          <p:nvPr/>
        </p:nvSpPr>
        <p:spPr>
          <a:xfrm>
            <a:off x="470059" y="3570056"/>
            <a:ext cx="9129623" cy="307777"/>
          </a:xfrm>
          <a:prstGeom prst="rect">
            <a:avLst/>
          </a:prstGeom>
          <a:noFill/>
        </p:spPr>
        <p:txBody>
          <a:bodyPr wrap="square">
            <a:spAutoFit/>
          </a:bodyPr>
          <a:lstStyle/>
          <a:p>
            <a:r>
              <a:rPr lang="en-US" sz="1400" dirty="0"/>
              <a:t>This can be useful to close objects and clean up resources:</a:t>
            </a:r>
          </a:p>
        </p:txBody>
      </p:sp>
      <p:pic>
        <p:nvPicPr>
          <p:cNvPr id="5" name="Picture 4">
            <a:extLst>
              <a:ext uri="{FF2B5EF4-FFF2-40B4-BE49-F238E27FC236}">
                <a16:creationId xmlns:a16="http://schemas.microsoft.com/office/drawing/2014/main" id="{7FEEA4C7-1608-43AF-8E13-C76A78ADFD12}"/>
              </a:ext>
            </a:extLst>
          </p:cNvPr>
          <p:cNvPicPr>
            <a:picLocks noChangeAspect="1"/>
          </p:cNvPicPr>
          <p:nvPr/>
        </p:nvPicPr>
        <p:blipFill>
          <a:blip r:embed="rId2"/>
          <a:stretch>
            <a:fillRect/>
          </a:stretch>
        </p:blipFill>
        <p:spPr>
          <a:xfrm>
            <a:off x="577610" y="1677480"/>
            <a:ext cx="4313295" cy="1333616"/>
          </a:xfrm>
          <a:prstGeom prst="rect">
            <a:avLst/>
          </a:prstGeom>
        </p:spPr>
      </p:pic>
      <p:pic>
        <p:nvPicPr>
          <p:cNvPr id="9" name="Picture 8">
            <a:extLst>
              <a:ext uri="{FF2B5EF4-FFF2-40B4-BE49-F238E27FC236}">
                <a16:creationId xmlns:a16="http://schemas.microsoft.com/office/drawing/2014/main" id="{251FBC09-0370-440B-9DE3-1657F8A77AD1}"/>
              </a:ext>
            </a:extLst>
          </p:cNvPr>
          <p:cNvPicPr>
            <a:picLocks noChangeAspect="1"/>
          </p:cNvPicPr>
          <p:nvPr/>
        </p:nvPicPr>
        <p:blipFill rotWithShape="1">
          <a:blip r:embed="rId3"/>
          <a:srcRect l="122" t="-7469" r="19665" b="7469"/>
          <a:stretch/>
        </p:blipFill>
        <p:spPr>
          <a:xfrm>
            <a:off x="5153852" y="2241410"/>
            <a:ext cx="3740989" cy="769687"/>
          </a:xfrm>
          <a:prstGeom prst="rect">
            <a:avLst/>
          </a:prstGeom>
        </p:spPr>
      </p:pic>
      <p:pic>
        <p:nvPicPr>
          <p:cNvPr id="13" name="Picture 12">
            <a:extLst>
              <a:ext uri="{FF2B5EF4-FFF2-40B4-BE49-F238E27FC236}">
                <a16:creationId xmlns:a16="http://schemas.microsoft.com/office/drawing/2014/main" id="{1916B2C9-5CCB-42AC-8411-AF71E147DA70}"/>
              </a:ext>
            </a:extLst>
          </p:cNvPr>
          <p:cNvPicPr>
            <a:picLocks noChangeAspect="1"/>
          </p:cNvPicPr>
          <p:nvPr/>
        </p:nvPicPr>
        <p:blipFill>
          <a:blip r:embed="rId4"/>
          <a:stretch>
            <a:fillRect/>
          </a:stretch>
        </p:blipFill>
        <p:spPr>
          <a:xfrm>
            <a:off x="577611" y="4033226"/>
            <a:ext cx="5113463" cy="1676545"/>
          </a:xfrm>
          <a:prstGeom prst="rect">
            <a:avLst/>
          </a:prstGeom>
        </p:spPr>
      </p:pic>
      <p:sp>
        <p:nvSpPr>
          <p:cNvPr id="11" name="object 2">
            <a:extLst>
              <a:ext uri="{FF2B5EF4-FFF2-40B4-BE49-F238E27FC236}">
                <a16:creationId xmlns:a16="http://schemas.microsoft.com/office/drawing/2014/main" id="{9E1352C8-AB6F-7F48-B3AC-0FFD0250FA50}"/>
              </a:ext>
            </a:extLst>
          </p:cNvPr>
          <p:cNvSpPr txBox="1"/>
          <p:nvPr/>
        </p:nvSpPr>
        <p:spPr>
          <a:xfrm>
            <a:off x="577611" y="344899"/>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Python Try Except</a:t>
            </a:r>
          </a:p>
        </p:txBody>
      </p:sp>
    </p:spTree>
    <p:extLst>
      <p:ext uri="{BB962C8B-B14F-4D97-AF65-F5344CB8AC3E}">
        <p14:creationId xmlns:p14="http://schemas.microsoft.com/office/powerpoint/2010/main" val="8439189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26200" y="356967"/>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cs typeface="Trebuchet MS"/>
              </a:rPr>
              <a:t>Raise an exception</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643107" y="1114868"/>
            <a:ext cx="9129623" cy="738664"/>
          </a:xfrm>
          <a:prstGeom prst="rect">
            <a:avLst/>
          </a:prstGeom>
          <a:noFill/>
        </p:spPr>
        <p:txBody>
          <a:bodyPr wrap="square">
            <a:spAutoFit/>
          </a:bodyPr>
          <a:lstStyle/>
          <a:p>
            <a:r>
              <a:rPr lang="en-US" sz="1400" dirty="0"/>
              <a:t>As a Python developer you can choose to throw an exception if a condition occurs.</a:t>
            </a:r>
          </a:p>
          <a:p>
            <a:endParaRPr lang="en-US" sz="1400" dirty="0"/>
          </a:p>
          <a:p>
            <a:r>
              <a:rPr lang="en-US" sz="1400" dirty="0"/>
              <a:t>To throw (or raise) an exception, use the raise keyword</a:t>
            </a:r>
          </a:p>
        </p:txBody>
      </p:sp>
      <p:sp>
        <p:nvSpPr>
          <p:cNvPr id="14" name="תיבת טקסט 9">
            <a:extLst>
              <a:ext uri="{FF2B5EF4-FFF2-40B4-BE49-F238E27FC236}">
                <a16:creationId xmlns:a16="http://schemas.microsoft.com/office/drawing/2014/main" id="{71E74AD8-3B44-4664-AC71-7DA9CCD03477}"/>
              </a:ext>
            </a:extLst>
          </p:cNvPr>
          <p:cNvSpPr txBox="1"/>
          <p:nvPr/>
        </p:nvSpPr>
        <p:spPr>
          <a:xfrm>
            <a:off x="681207" y="3896654"/>
            <a:ext cx="9129623" cy="738664"/>
          </a:xfrm>
          <a:prstGeom prst="rect">
            <a:avLst/>
          </a:prstGeom>
          <a:noFill/>
        </p:spPr>
        <p:txBody>
          <a:bodyPr wrap="square">
            <a:spAutoFit/>
          </a:bodyPr>
          <a:lstStyle/>
          <a:p>
            <a:r>
              <a:rPr lang="en-US" sz="1400" dirty="0"/>
              <a:t>The raise keyword is used to raise an exception.</a:t>
            </a:r>
          </a:p>
          <a:p>
            <a:endParaRPr lang="en-US" sz="1400" dirty="0"/>
          </a:p>
          <a:p>
            <a:r>
              <a:rPr lang="en-US" sz="1400" dirty="0"/>
              <a:t>You can define what kind of error to raise, and the text to print to the user.</a:t>
            </a:r>
          </a:p>
        </p:txBody>
      </p:sp>
      <p:pic>
        <p:nvPicPr>
          <p:cNvPr id="4" name="Picture 3">
            <a:extLst>
              <a:ext uri="{FF2B5EF4-FFF2-40B4-BE49-F238E27FC236}">
                <a16:creationId xmlns:a16="http://schemas.microsoft.com/office/drawing/2014/main" id="{2867C4A7-3BFE-48CE-B9FA-0FA6480E9134}"/>
              </a:ext>
            </a:extLst>
          </p:cNvPr>
          <p:cNvPicPr>
            <a:picLocks noChangeAspect="1"/>
          </p:cNvPicPr>
          <p:nvPr/>
        </p:nvPicPr>
        <p:blipFill>
          <a:blip r:embed="rId2"/>
          <a:stretch>
            <a:fillRect/>
          </a:stretch>
        </p:blipFill>
        <p:spPr>
          <a:xfrm>
            <a:off x="726200" y="1994769"/>
            <a:ext cx="5311600" cy="1493649"/>
          </a:xfrm>
          <a:prstGeom prst="rect">
            <a:avLst/>
          </a:prstGeom>
        </p:spPr>
      </p:pic>
      <p:pic>
        <p:nvPicPr>
          <p:cNvPr id="7" name="Picture 6">
            <a:extLst>
              <a:ext uri="{FF2B5EF4-FFF2-40B4-BE49-F238E27FC236}">
                <a16:creationId xmlns:a16="http://schemas.microsoft.com/office/drawing/2014/main" id="{CE0705AF-AF76-4173-9744-2BB49CA52176}"/>
              </a:ext>
            </a:extLst>
          </p:cNvPr>
          <p:cNvPicPr>
            <a:picLocks noChangeAspect="1"/>
          </p:cNvPicPr>
          <p:nvPr/>
        </p:nvPicPr>
        <p:blipFill>
          <a:blip r:embed="rId3"/>
          <a:stretch>
            <a:fillRect/>
          </a:stretch>
        </p:blipFill>
        <p:spPr>
          <a:xfrm>
            <a:off x="767323" y="4635318"/>
            <a:ext cx="5098223" cy="1432684"/>
          </a:xfrm>
          <a:prstGeom prst="rect">
            <a:avLst/>
          </a:prstGeom>
        </p:spPr>
      </p:pic>
    </p:spTree>
    <p:extLst>
      <p:ext uri="{BB962C8B-B14F-4D97-AF65-F5344CB8AC3E}">
        <p14:creationId xmlns:p14="http://schemas.microsoft.com/office/powerpoint/2010/main" val="37878683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57570" y="218468"/>
            <a:ext cx="10210800" cy="505267"/>
          </a:xfrm>
          <a:prstGeom prst="rect">
            <a:avLst/>
          </a:prstGeom>
        </p:spPr>
        <p:txBody>
          <a:bodyPr vert="horz" wrap="square" lIns="0" tIns="12700" rIns="0" bIns="0" rtlCol="0">
            <a:spAutoFit/>
          </a:bodyPr>
          <a:lstStyle/>
          <a:p>
            <a:pPr marL="12700">
              <a:spcBef>
                <a:spcPts val="100"/>
              </a:spcBef>
            </a:pPr>
            <a:r>
              <a:rPr lang="en-US" sz="3200" dirty="0">
                <a:latin typeface="+mj-lt"/>
              </a:rPr>
              <a:t>Python User Input</a:t>
            </a:r>
          </a:p>
        </p:txBody>
      </p:sp>
      <p:sp>
        <p:nvSpPr>
          <p:cNvPr id="8" name="object 3">
            <a:extLst>
              <a:ext uri="{FF2B5EF4-FFF2-40B4-BE49-F238E27FC236}">
                <a16:creationId xmlns:a16="http://schemas.microsoft.com/office/drawing/2014/main" id="{F616E044-87B4-4BFF-A22F-890CA709EC6C}"/>
              </a:ext>
            </a:extLst>
          </p:cNvPr>
          <p:cNvSpPr txBox="1"/>
          <p:nvPr/>
        </p:nvSpPr>
        <p:spPr>
          <a:xfrm>
            <a:off x="2895601" y="609601"/>
            <a:ext cx="8561705" cy="228268"/>
          </a:xfrm>
          <a:prstGeom prst="rect">
            <a:avLst/>
          </a:prstGeom>
        </p:spPr>
        <p:txBody>
          <a:bodyPr vert="horz" wrap="square" lIns="0" tIns="12700" rIns="0" bIns="0" rtlCol="0">
            <a:spAutoFit/>
          </a:bodyPr>
          <a:lstStyle/>
          <a:p>
            <a:pPr algn="l" fontAlgn="base"/>
            <a:endParaRPr lang="en-US" sz="1400" b="1" dirty="0">
              <a:latin typeface="var(--font-din)"/>
            </a:endParaRPr>
          </a:p>
        </p:txBody>
      </p:sp>
      <p:sp>
        <p:nvSpPr>
          <p:cNvPr id="10" name="תיבת טקסט 9">
            <a:extLst>
              <a:ext uri="{FF2B5EF4-FFF2-40B4-BE49-F238E27FC236}">
                <a16:creationId xmlns:a16="http://schemas.microsoft.com/office/drawing/2014/main" id="{18AC4B54-B5F4-474E-9673-04DCF759462F}"/>
              </a:ext>
            </a:extLst>
          </p:cNvPr>
          <p:cNvSpPr txBox="1"/>
          <p:nvPr/>
        </p:nvSpPr>
        <p:spPr>
          <a:xfrm>
            <a:off x="165032" y="1448663"/>
            <a:ext cx="9129623" cy="369332"/>
          </a:xfrm>
          <a:prstGeom prst="rect">
            <a:avLst/>
          </a:prstGeom>
          <a:noFill/>
        </p:spPr>
        <p:txBody>
          <a:bodyPr wrap="square">
            <a:spAutoFit/>
          </a:bodyPr>
          <a:lstStyle/>
          <a:p>
            <a:r>
              <a:rPr lang="en-US" dirty="0"/>
              <a:t>Python 3.6 uses the input() method.</a:t>
            </a:r>
          </a:p>
        </p:txBody>
      </p:sp>
      <p:pic>
        <p:nvPicPr>
          <p:cNvPr id="5" name="Picture 4">
            <a:extLst>
              <a:ext uri="{FF2B5EF4-FFF2-40B4-BE49-F238E27FC236}">
                <a16:creationId xmlns:a16="http://schemas.microsoft.com/office/drawing/2014/main" id="{E422D69B-2C9A-4A07-B83A-B74DC75B9231}"/>
              </a:ext>
            </a:extLst>
          </p:cNvPr>
          <p:cNvPicPr>
            <a:picLocks noChangeAspect="1"/>
          </p:cNvPicPr>
          <p:nvPr/>
        </p:nvPicPr>
        <p:blipFill>
          <a:blip r:embed="rId2"/>
          <a:stretch>
            <a:fillRect/>
          </a:stretch>
        </p:blipFill>
        <p:spPr>
          <a:xfrm>
            <a:off x="257570" y="1933162"/>
            <a:ext cx="4472274" cy="973629"/>
          </a:xfrm>
          <a:prstGeom prst="rect">
            <a:avLst/>
          </a:prstGeom>
        </p:spPr>
      </p:pic>
      <p:pic>
        <p:nvPicPr>
          <p:cNvPr id="4" name="תמונה 3">
            <a:extLst>
              <a:ext uri="{FF2B5EF4-FFF2-40B4-BE49-F238E27FC236}">
                <a16:creationId xmlns:a16="http://schemas.microsoft.com/office/drawing/2014/main" id="{6CC49713-0E4D-4C19-7182-F001F60D2D75}"/>
              </a:ext>
            </a:extLst>
          </p:cNvPr>
          <p:cNvPicPr>
            <a:picLocks noChangeAspect="1"/>
          </p:cNvPicPr>
          <p:nvPr/>
        </p:nvPicPr>
        <p:blipFill>
          <a:blip r:embed="rId3"/>
          <a:stretch>
            <a:fillRect/>
          </a:stretch>
        </p:blipFill>
        <p:spPr>
          <a:xfrm>
            <a:off x="6211502" y="1920136"/>
            <a:ext cx="5420643" cy="1050324"/>
          </a:xfrm>
          <a:prstGeom prst="rect">
            <a:avLst/>
          </a:prstGeom>
        </p:spPr>
      </p:pic>
      <p:sp>
        <p:nvSpPr>
          <p:cNvPr id="6" name="תיבת טקסט 5">
            <a:extLst>
              <a:ext uri="{FF2B5EF4-FFF2-40B4-BE49-F238E27FC236}">
                <a16:creationId xmlns:a16="http://schemas.microsoft.com/office/drawing/2014/main" id="{DCAE3355-A2DC-0A05-E147-9CE94D46145E}"/>
              </a:ext>
            </a:extLst>
          </p:cNvPr>
          <p:cNvSpPr txBox="1"/>
          <p:nvPr/>
        </p:nvSpPr>
        <p:spPr>
          <a:xfrm>
            <a:off x="6211502" y="1448663"/>
            <a:ext cx="9332362" cy="369332"/>
          </a:xfrm>
          <a:prstGeom prst="rect">
            <a:avLst/>
          </a:prstGeom>
          <a:noFill/>
        </p:spPr>
        <p:txBody>
          <a:bodyPr wrap="square">
            <a:spAutoFit/>
          </a:bodyPr>
          <a:lstStyle/>
          <a:p>
            <a:r>
              <a:rPr lang="en-US" dirty="0"/>
              <a:t>You can cast the input type</a:t>
            </a:r>
          </a:p>
        </p:txBody>
      </p:sp>
      <p:sp>
        <p:nvSpPr>
          <p:cNvPr id="7" name="object 3">
            <a:extLst>
              <a:ext uri="{FF2B5EF4-FFF2-40B4-BE49-F238E27FC236}">
                <a16:creationId xmlns:a16="http://schemas.microsoft.com/office/drawing/2014/main" id="{F1C01E6B-C20F-B0ED-288C-752C8CD93224}"/>
              </a:ext>
            </a:extLst>
          </p:cNvPr>
          <p:cNvSpPr txBox="1"/>
          <p:nvPr/>
        </p:nvSpPr>
        <p:spPr>
          <a:xfrm>
            <a:off x="4729843" y="5039382"/>
            <a:ext cx="7380000" cy="4455066"/>
          </a:xfrm>
          <a:prstGeom prst="rect">
            <a:avLst/>
          </a:prstGeom>
        </p:spPr>
        <p:txBody>
          <a:bodyPr vert="horz" wrap="square" lIns="0" tIns="12700" rIns="0" bIns="0" rtlCol="0">
            <a:spAutoFit/>
          </a:bodyPr>
          <a:lstStyle/>
          <a:p>
            <a:pPr marL="355591" marR="5080" indent="-342891">
              <a:spcBef>
                <a:spcPts val="100"/>
              </a:spcBef>
            </a:pPr>
            <a:endParaRPr lang="en-US" sz="1200" b="1" dirty="0">
              <a:latin typeface="Arial Black" panose="020B0A04020102020204" pitchFamily="34" charset="0"/>
              <a:cs typeface="Arial"/>
              <a:hlinkClick r:id="rId4"/>
            </a:endParaRPr>
          </a:p>
          <a:p>
            <a:pPr marL="355591" marR="5080" indent="-342891" algn="r">
              <a:spcBef>
                <a:spcPts val="100"/>
              </a:spcBef>
            </a:pPr>
            <a:r>
              <a:rPr lang="he-IL" sz="3200" dirty="0">
                <a:latin typeface="+mj-lt"/>
              </a:rPr>
              <a:t>מקורות</a:t>
            </a:r>
            <a:endParaRPr lang="he-IL" sz="1200" dirty="0">
              <a:latin typeface="+mj-lt"/>
            </a:endParaRPr>
          </a:p>
          <a:p>
            <a:pPr marL="355591" marR="5080" indent="-342891">
              <a:spcBef>
                <a:spcPts val="100"/>
              </a:spcBef>
            </a:pPr>
            <a:endParaRPr lang="en-US" sz="1200" b="1" dirty="0">
              <a:latin typeface="Arial Black" panose="020B0A04020102020204" pitchFamily="34" charset="0"/>
              <a:cs typeface="Arial"/>
              <a:hlinkClick r:id="rId4"/>
            </a:endParaRPr>
          </a:p>
          <a:p>
            <a:pPr marL="355591" marR="5080" indent="-342891" algn="r">
              <a:spcBef>
                <a:spcPts val="100"/>
              </a:spcBef>
            </a:pPr>
            <a:r>
              <a:rPr lang="en-US" sz="1200" b="1" dirty="0">
                <a:latin typeface="Arial Black" panose="020B0A04020102020204" pitchFamily="34" charset="0"/>
                <a:cs typeface="Arial"/>
                <a:hlinkClick r:id="rId4"/>
              </a:rPr>
              <a:t>https://www2.slideshare.net/LiliaSfaxi/software-engineering-chp4-design-patterns</a:t>
            </a: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lgn="r">
              <a:spcBef>
                <a:spcPts val="100"/>
              </a:spcBef>
            </a:pPr>
            <a:r>
              <a:rPr lang="en-US" sz="1200" b="1" dirty="0">
                <a:latin typeface="Arial Black" panose="020B0A04020102020204" pitchFamily="34" charset="0"/>
                <a:cs typeface="Arial"/>
                <a:hlinkClick r:id="rId5"/>
              </a:rPr>
              <a:t>https://www.journaldev.com/1377/java-singleton-design-pattern-best-practices-examples</a:t>
            </a:r>
            <a:endParaRPr lang="en-US" sz="1200" b="1" dirty="0">
              <a:latin typeface="Arial Black" panose="020B0A04020102020204" pitchFamily="34" charset="0"/>
              <a:cs typeface="Arial"/>
            </a:endParaRPr>
          </a:p>
          <a:p>
            <a:pPr marL="355591" marR="5080" indent="-342891" algn="r">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a:p>
            <a:pPr marL="355591" marR="5080" indent="-342891">
              <a:spcBef>
                <a:spcPts val="100"/>
              </a:spcBef>
            </a:pPr>
            <a:endParaRPr lang="en-US" sz="1200" b="1" dirty="0">
              <a:latin typeface="Arial Black" panose="020B0A04020102020204" pitchFamily="34" charset="0"/>
              <a:cs typeface="Arial"/>
            </a:endParaRPr>
          </a:p>
        </p:txBody>
      </p:sp>
    </p:spTree>
    <p:extLst>
      <p:ext uri="{BB962C8B-B14F-4D97-AF65-F5344CB8AC3E}">
        <p14:creationId xmlns:p14="http://schemas.microsoft.com/office/powerpoint/2010/main" val="631157521"/>
      </p:ext>
    </p:extLst>
  </p:cSld>
  <p:clrMapOvr>
    <a:masterClrMapping/>
  </p:clrMapOvr>
</p:sld>
</file>

<file path=ppt/theme/theme1.xml><?xml version="1.0" encoding="utf-8"?>
<a:theme xmlns:a="http://schemas.openxmlformats.org/drawingml/2006/main" name="עומק">
  <a:themeElements>
    <a:clrScheme name="עומק">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עומק">
      <a:maj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עומק">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epth" id="{7BEAFC2A-325C-49C4-AC08-2B765DA903F9}" vid="{1735E755-43E6-43AA-ABA2-C989ECC79AF5}"/>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A9619ED71C6D94591E8EB9E1E5EA7CA" ma:contentTypeVersion="11" ma:contentTypeDescription="Create a new document." ma:contentTypeScope="" ma:versionID="cb3b1cb077eee9b25e8d7bc0942cd321">
  <xsd:schema xmlns:xsd="http://www.w3.org/2001/XMLSchema" xmlns:xs="http://www.w3.org/2001/XMLSchema" xmlns:p="http://schemas.microsoft.com/office/2006/metadata/properties" xmlns:ns3="950f296b-d1f1-4909-9b84-698675328b81" targetNamespace="http://schemas.microsoft.com/office/2006/metadata/properties" ma:root="true" ma:fieldsID="4e3325fa399b706e8c741119c67a0dd8" ns3:_="">
    <xsd:import namespace="950f296b-d1f1-4909-9b84-698675328b81"/>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MediaServiceSystemTags" minOccurs="0"/>
                <xsd:element ref="ns3:MediaServiceOCR" minOccurs="0"/>
                <xsd:element ref="ns3:MediaServiceGenerationTime" minOccurs="0"/>
                <xsd:element ref="ns3:MediaServiceEventHashCode" minOccurs="0"/>
                <xsd:element ref="ns3:MediaServiceDateTaken"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50f296b-d1f1-4909-9b84-698675328b8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SystemTags" ma:index="12" nillable="true" ma:displayName="MediaServiceSystemTags" ma:hidden="true" ma:internalName="MediaServiceSystemTags" ma:readOnly="true">
      <xsd:simpleType>
        <xsd:restriction base="dms:Note"/>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Location" ma:index="17" nillable="true" ma:displayName="Location" ma:indexed="true" ma:internalName="MediaServiceLocation"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1BF3ECCB-40BD-42BE-AE2C-1DD75D6C94D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50f296b-d1f1-4909-9b84-698675328b8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7A9F162-F4B0-481A-BE60-AA31CEFD6E05}">
  <ds:schemaRefs>
    <ds:schemaRef ds:uri="http://schemas.microsoft.com/sharepoint/v3/contenttype/forms"/>
  </ds:schemaRefs>
</ds:datastoreItem>
</file>

<file path=customXml/itemProps3.xml><?xml version="1.0" encoding="utf-8"?>
<ds:datastoreItem xmlns:ds="http://schemas.openxmlformats.org/officeDocument/2006/customXml" ds:itemID="{B0341B18-5CAB-487B-A63E-0ECF241619C9}">
  <ds:schemaRefs>
    <ds:schemaRef ds:uri="http://purl.org/dc/elements/1.1/"/>
    <ds:schemaRef ds:uri="950f296b-d1f1-4909-9b84-698675328b81"/>
    <ds:schemaRef ds:uri="http://schemas.openxmlformats.org/package/2006/metadata/core-properties"/>
    <ds:schemaRef ds:uri="http://www.w3.org/XML/1998/namespace"/>
    <ds:schemaRef ds:uri="http://purl.org/dc/dcmitype/"/>
    <ds:schemaRef ds:uri="http://schemas.microsoft.com/office/2006/documentManagement/types"/>
    <ds:schemaRef ds:uri="http://schemas.microsoft.com/office/infopath/2007/PartnerControl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TM04033923[[fn=עומק]]</Template>
  <TotalTime>4</TotalTime>
  <Words>810</Words>
  <Application>Microsoft Office PowerPoint</Application>
  <PresentationFormat>מסך רחב</PresentationFormat>
  <Paragraphs>85</Paragraphs>
  <Slides>13</Slides>
  <Notes>0</Notes>
  <HiddenSlides>0</HiddenSlides>
  <MMClips>0</MMClips>
  <ScaleCrop>false</ScaleCrop>
  <HeadingPairs>
    <vt:vector size="6" baseType="variant">
      <vt:variant>
        <vt:lpstr>גופנים בשימוש</vt:lpstr>
      </vt:variant>
      <vt:variant>
        <vt:i4>4</vt:i4>
      </vt:variant>
      <vt:variant>
        <vt:lpstr>ערכת נושא</vt:lpstr>
      </vt:variant>
      <vt:variant>
        <vt:i4>1</vt:i4>
      </vt:variant>
      <vt:variant>
        <vt:lpstr>כותרות שקופיות</vt:lpstr>
      </vt:variant>
      <vt:variant>
        <vt:i4>13</vt:i4>
      </vt:variant>
    </vt:vector>
  </HeadingPairs>
  <TitlesOfParts>
    <vt:vector size="18" baseType="lpstr">
      <vt:lpstr>Arial</vt:lpstr>
      <vt:lpstr>Arial Black</vt:lpstr>
      <vt:lpstr>Corbel</vt:lpstr>
      <vt:lpstr>var(--font-din)</vt:lpstr>
      <vt:lpstr>עומק</vt:lpstr>
      <vt:lpstr>Part 3</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משה עופר</dc:creator>
  <cp:lastModifiedBy>משה עופר</cp:lastModifiedBy>
  <cp:revision>1</cp:revision>
  <dcterms:created xsi:type="dcterms:W3CDTF">2025-11-09T12:13:15Z</dcterms:created>
  <dcterms:modified xsi:type="dcterms:W3CDTF">2025-11-09T12:17:40Z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0x010100AA9619ED71C6D94591E8EB9E1E5EA7CA</vt:lpwstr>
  </property>
</Properties>
</file>