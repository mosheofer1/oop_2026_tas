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379" r:id="rId3"/>
    <p:sldId id="568" r:id="rId4"/>
    <p:sldId id="567" r:id="rId5"/>
    <p:sldId id="571" r:id="rId6"/>
    <p:sldId id="579" r:id="rId7"/>
    <p:sldId id="540" r:id="rId8"/>
    <p:sldId id="573" r:id="rId9"/>
    <p:sldId id="572" r:id="rId10"/>
    <p:sldId id="538" r:id="rId11"/>
    <p:sldId id="550" r:id="rId12"/>
    <p:sldId id="580" r:id="rId13"/>
    <p:sldId id="547" r:id="rId14"/>
    <p:sldId id="574" r:id="rId15"/>
    <p:sldId id="546" r:id="rId16"/>
    <p:sldId id="548" r:id="rId17"/>
    <p:sldId id="549" r:id="rId18"/>
    <p:sldId id="566" r:id="rId19"/>
    <p:sldId id="576" r:id="rId20"/>
    <p:sldId id="581" r:id="rId21"/>
    <p:sldId id="563" r:id="rId22"/>
    <p:sldId id="577" r:id="rId23"/>
    <p:sldId id="551" r:id="rId24"/>
    <p:sldId id="552" r:id="rId25"/>
    <p:sldId id="554" r:id="rId26"/>
    <p:sldId id="555" r:id="rId27"/>
    <p:sldId id="556" r:id="rId28"/>
    <p:sldId id="558" r:id="rId29"/>
    <p:sldId id="559" r:id="rId30"/>
    <p:sldId id="562" r:id="rId31"/>
    <p:sldId id="582" r:id="rId32"/>
    <p:sldId id="561"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B41"/>
    <a:srgbClr val="EEA6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72" autoAdjust="0"/>
    <p:restoredTop sz="95921"/>
  </p:normalViewPr>
  <p:slideViewPr>
    <p:cSldViewPr snapToGrid="0" snapToObjects="1">
      <p:cViewPr varScale="1">
        <p:scale>
          <a:sx n="82" d="100"/>
          <a:sy n="82" d="100"/>
        </p:scale>
        <p:origin x="74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37095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34258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93442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41811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913795" y="2912232"/>
            <a:ext cx="5107208" cy="287896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6172200" y="2912232"/>
            <a:ext cx="5095357" cy="287896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03958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7844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88175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78167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22022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87108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986929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he-IL"/>
              <a:t>לחץ כדי לערוך סגנון כותרת של תבנית בסיס</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682297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400637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עמודות">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he-IL"/>
              <a:t>לחץ כדי לערוך סגנון כותרת של תבנית בסיס</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3" name="Date Placeholder 2"/>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773219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עמודת 3 תמונות">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he-IL"/>
              <a:t>לחץ כדי לערוך סגנון כותרת של תבנית בסיס</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3" name="Date Placeholder 2"/>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037912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820026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748855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6310" y="629158"/>
            <a:ext cx="10679379" cy="57404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56193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61BEF0D-F0BB-DE4B-95CE-6DB70DBA9567}" type="datetimeFigureOut">
              <a:rPr lang="en-US" smtClean="0"/>
              <a:pPr/>
              <a:t>12/8/2025</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36019523"/>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Lst>
  <p:txStyles>
    <p:titleStyle>
      <a:lvl1pPr algn="ctr" defTabSz="914400" rtl="1"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r" defTabSz="914400" rtl="1"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r" defTabSz="914400" rtl="1"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r" defTabSz="914400" rtl="1"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r" defTabSz="914400" rtl="1"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r" defTabSz="914400" rtl="1"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r" defTabSz="914400" rtl="1"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r" defTabSz="914400" rtl="1"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r" defTabSz="914400" rtl="1"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r" defTabSz="914400" rtl="1"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8.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hyperlink" Target="https://www.tutorialsteacher.com/python/magic-methods-in-python" TargetMode="External"/><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8.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8.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www.geeksforgeeks.org/args-kwargs-python/" TargetMode="External"/><Relationship Id="rId1" Type="http://schemas.openxmlformats.org/officeDocument/2006/relationships/slideLayout" Target="../slideLayouts/slideLayout1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8.xml"/><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8.xml"/><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8CC72-8287-EE4D-8114-149296622EE0}"/>
              </a:ext>
            </a:extLst>
          </p:cNvPr>
          <p:cNvSpPr>
            <a:spLocks noGrp="1"/>
          </p:cNvSpPr>
          <p:nvPr>
            <p:ph type="ctrTitle"/>
          </p:nvPr>
        </p:nvSpPr>
        <p:spPr>
          <a:xfrm>
            <a:off x="1427554" y="1640840"/>
            <a:ext cx="9336891" cy="3576320"/>
          </a:xfrm>
        </p:spPr>
        <p:txBody>
          <a:bodyPr>
            <a:normAutofit/>
          </a:bodyPr>
          <a:lstStyle/>
          <a:p>
            <a:pPr rtl="1"/>
            <a:r>
              <a:rPr lang="he-IL" sz="6600" cap="none" dirty="0"/>
              <a:t>תכנות מונחה עצמים</a:t>
            </a:r>
            <a:br>
              <a:rPr lang="he-IL" sz="6600" cap="none" dirty="0"/>
            </a:br>
            <a:r>
              <a:rPr lang="he-IL" sz="6600" cap="none" dirty="0"/>
              <a:t>P</a:t>
            </a:r>
            <a:r>
              <a:rPr lang="en-US" sz="6600" cap="none" dirty="0"/>
              <a:t>ython</a:t>
            </a:r>
            <a:r>
              <a:rPr lang="he-IL" sz="6600" cap="none" dirty="0"/>
              <a:t> מתקדם</a:t>
            </a:r>
            <a:br>
              <a:rPr lang="he-IL" sz="6600" cap="none" dirty="0"/>
            </a:br>
            <a:endParaRPr lang="en-US" sz="6600" cap="none" dirty="0"/>
          </a:p>
        </p:txBody>
      </p:sp>
    </p:spTree>
    <p:extLst>
      <p:ext uri="{BB962C8B-B14F-4D97-AF65-F5344CB8AC3E}">
        <p14:creationId xmlns:p14="http://schemas.microsoft.com/office/powerpoint/2010/main" val="857098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9E2CD88-F8D6-4AE2-8AD4-D38DC2C9A850}"/>
              </a:ext>
            </a:extLst>
          </p:cNvPr>
          <p:cNvSpPr>
            <a:spLocks noGrp="1"/>
          </p:cNvSpPr>
          <p:nvPr>
            <p:ph type="title"/>
          </p:nvPr>
        </p:nvSpPr>
        <p:spPr>
          <a:xfrm>
            <a:off x="7762241" y="211959"/>
            <a:ext cx="3230400" cy="1210441"/>
          </a:xfrm>
        </p:spPr>
        <p:txBody>
          <a:bodyPr>
            <a:normAutofit/>
          </a:bodyPr>
          <a:lstStyle/>
          <a:p>
            <a:pPr algn="r"/>
            <a:r>
              <a:rPr lang="he-IL" sz="4000" dirty="0"/>
              <a:t>נושאים להיום:</a:t>
            </a:r>
          </a:p>
        </p:txBody>
      </p:sp>
      <p:sp>
        <p:nvSpPr>
          <p:cNvPr id="4" name="תיבת טקסט 3">
            <a:extLst>
              <a:ext uri="{FF2B5EF4-FFF2-40B4-BE49-F238E27FC236}">
                <a16:creationId xmlns:a16="http://schemas.microsoft.com/office/drawing/2014/main" id="{C4442B6C-BDCC-5985-8A2F-6FDD73889032}"/>
              </a:ext>
            </a:extLst>
          </p:cNvPr>
          <p:cNvSpPr txBox="1"/>
          <p:nvPr/>
        </p:nvSpPr>
        <p:spPr>
          <a:xfrm>
            <a:off x="348343" y="1872343"/>
            <a:ext cx="5181600" cy="5078313"/>
          </a:xfrm>
          <a:prstGeom prst="rect">
            <a:avLst/>
          </a:prstGeom>
          <a:noFill/>
        </p:spPr>
        <p:txBody>
          <a:bodyPr wrap="square" rtlCol="1">
            <a:spAutoFit/>
          </a:bodyPr>
          <a:lstStyle/>
          <a:p>
            <a:pPr marL="285750" indent="-285750">
              <a:buFont typeface="Arial" panose="020B0604020202020204" pitchFamily="34" charset="0"/>
              <a:buChar char="•"/>
            </a:pPr>
            <a:r>
              <a:rPr lang="en-US" sz="3600" b="0" cap="none" spc="75" dirty="0">
                <a:solidFill>
                  <a:schemeClr val="tx1"/>
                </a:solidFill>
                <a:latin typeface="+mj-lt"/>
                <a:cs typeface="Yanone Kaffeesatz Light"/>
              </a:rPr>
              <a:t>File handling </a:t>
            </a:r>
          </a:p>
          <a:p>
            <a:pPr marL="285750" indent="-285750" algn="l">
              <a:buFont typeface="Arial" panose="020B0604020202020204" pitchFamily="34" charset="0"/>
              <a:buChar char="•"/>
            </a:pPr>
            <a:r>
              <a:rPr lang="en-US" sz="3600" b="0" cap="none" spc="75" dirty="0">
                <a:solidFill>
                  <a:schemeClr val="tx1"/>
                </a:solidFill>
                <a:latin typeface="+mj-lt"/>
                <a:cs typeface="Yanone Kaffeesatz Light"/>
              </a:rPr>
              <a:t>Classes and Objects</a:t>
            </a:r>
          </a:p>
          <a:p>
            <a:pPr marL="285750" indent="-285750" algn="l">
              <a:buFont typeface="Arial" panose="020B0604020202020204" pitchFamily="34" charset="0"/>
              <a:buChar char="•"/>
            </a:pPr>
            <a:r>
              <a:rPr lang="en-US" sz="3600" cap="none" spc="75" dirty="0">
                <a:solidFill>
                  <a:schemeClr val="tx1"/>
                </a:solidFill>
                <a:latin typeface="+mj-lt"/>
                <a:cs typeface="Yanone Kaffeesatz Light"/>
              </a:rPr>
              <a:t>python magic methods</a:t>
            </a:r>
            <a:endParaRPr lang="en-US" sz="3600" b="0" cap="none" spc="75" dirty="0">
              <a:solidFill>
                <a:schemeClr val="tx1"/>
              </a:solidFill>
              <a:latin typeface="+mj-lt"/>
              <a:cs typeface="Yanone Kaffeesatz Light"/>
            </a:endParaRPr>
          </a:p>
          <a:p>
            <a:pPr marL="285750" indent="-285750" algn="l">
              <a:buFont typeface="Arial" panose="020B0604020202020204" pitchFamily="34" charset="0"/>
              <a:buChar char="•"/>
            </a:pPr>
            <a:r>
              <a:rPr lang="en-US" sz="3600" b="0" cap="none" spc="75" dirty="0">
                <a:solidFill>
                  <a:schemeClr val="tx1"/>
                </a:solidFill>
                <a:latin typeface="+mj-lt"/>
                <a:cs typeface="Yanone Kaffeesatz Light"/>
              </a:rPr>
              <a:t>Inheritance</a:t>
            </a:r>
          </a:p>
          <a:p>
            <a:pPr marL="285750" indent="-285750" algn="l">
              <a:buFont typeface="Arial" panose="020B0604020202020204" pitchFamily="34" charset="0"/>
              <a:buChar char="•"/>
            </a:pPr>
            <a:r>
              <a:rPr lang="en-US" sz="3600" b="0" cap="none" spc="75" dirty="0">
                <a:solidFill>
                  <a:schemeClr val="tx1"/>
                </a:solidFill>
                <a:latin typeface="+mj-lt"/>
                <a:cs typeface="Yanone Kaffeesatz Light"/>
              </a:rPr>
              <a:t>abstract classes</a:t>
            </a:r>
          </a:p>
          <a:p>
            <a:pPr marL="285750" indent="-285750" algn="l">
              <a:buFont typeface="Arial" panose="020B0604020202020204" pitchFamily="34" charset="0"/>
              <a:buChar char="•"/>
            </a:pPr>
            <a:r>
              <a:rPr lang="en-US" sz="3600" b="0" cap="none" spc="75" dirty="0">
                <a:solidFill>
                  <a:schemeClr val="tx1"/>
                </a:solidFill>
                <a:latin typeface="+mj-lt"/>
                <a:cs typeface="Yanone Kaffeesatz Light"/>
              </a:rPr>
              <a:t>Iterators</a:t>
            </a:r>
          </a:p>
          <a:p>
            <a:pPr marL="285750" indent="-285750" algn="l">
              <a:buFont typeface="Arial" panose="020B0604020202020204" pitchFamily="34" charset="0"/>
              <a:buChar char="•"/>
            </a:pPr>
            <a:r>
              <a:rPr lang="en-US" sz="3600" b="0" cap="none" spc="75" dirty="0">
                <a:solidFill>
                  <a:schemeClr val="tx1"/>
                </a:solidFill>
                <a:latin typeface="+mj-lt"/>
                <a:cs typeface="Yanone Kaffeesatz Light"/>
              </a:rPr>
              <a:t>Comparator</a:t>
            </a:r>
          </a:p>
          <a:p>
            <a:pPr marL="285750" indent="-285750">
              <a:buFont typeface="Arial" panose="020B0604020202020204" pitchFamily="34" charset="0"/>
              <a:buChar char="•"/>
            </a:pPr>
            <a:endParaRPr lang="he-IL" sz="3600" dirty="0"/>
          </a:p>
        </p:txBody>
      </p:sp>
    </p:spTree>
    <p:extLst>
      <p:ext uri="{BB962C8B-B14F-4D97-AF65-F5344CB8AC3E}">
        <p14:creationId xmlns:p14="http://schemas.microsoft.com/office/powerpoint/2010/main" val="1559454252"/>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6434" y="445518"/>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Create a New File</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693173" y="1588632"/>
            <a:ext cx="10858747" cy="3046988"/>
          </a:xfrm>
          <a:prstGeom prst="rect">
            <a:avLst/>
          </a:prstGeom>
          <a:noFill/>
        </p:spPr>
        <p:txBody>
          <a:bodyPr wrap="square">
            <a:spAutoFit/>
          </a:bodyPr>
          <a:lstStyle/>
          <a:p>
            <a:r>
              <a:rPr lang="en-US" sz="2400" dirty="0"/>
              <a:t>To create a new file in Python, use the open() method, with one of the following parameters:</a:t>
            </a:r>
          </a:p>
          <a:p>
            <a:endParaRPr lang="en-US" sz="2400" dirty="0"/>
          </a:p>
          <a:p>
            <a:r>
              <a:rPr lang="en-US" sz="2400" dirty="0"/>
              <a:t>"x" - Create - will create a file, returns an error if the file exist</a:t>
            </a:r>
          </a:p>
          <a:p>
            <a:r>
              <a:rPr lang="en-US" sz="2400" dirty="0"/>
              <a:t>"a" - Append - will create a file if the specified file does not exist</a:t>
            </a:r>
          </a:p>
          <a:p>
            <a:r>
              <a:rPr lang="en-US" sz="2400" dirty="0"/>
              <a:t>"w" - Write - will create a file if the specified file does not exist</a:t>
            </a:r>
          </a:p>
          <a:p>
            <a:r>
              <a:rPr lang="en-US" sz="2400" dirty="0"/>
              <a:t>“r” – read – will open a file, returns an error if the file does not exist</a:t>
            </a:r>
          </a:p>
          <a:p>
            <a:endParaRPr lang="en-US" sz="2400" dirty="0"/>
          </a:p>
        </p:txBody>
      </p:sp>
      <p:pic>
        <p:nvPicPr>
          <p:cNvPr id="5" name="Picture 4">
            <a:extLst>
              <a:ext uri="{FF2B5EF4-FFF2-40B4-BE49-F238E27FC236}">
                <a16:creationId xmlns:a16="http://schemas.microsoft.com/office/drawing/2014/main" id="{B97934F8-D326-4337-9FCB-A387188F6F0D}"/>
              </a:ext>
            </a:extLst>
          </p:cNvPr>
          <p:cNvPicPr>
            <a:picLocks noChangeAspect="1"/>
          </p:cNvPicPr>
          <p:nvPr/>
        </p:nvPicPr>
        <p:blipFill>
          <a:blip r:embed="rId2"/>
          <a:stretch>
            <a:fillRect/>
          </a:stretch>
        </p:blipFill>
        <p:spPr>
          <a:xfrm>
            <a:off x="681113" y="4990405"/>
            <a:ext cx="4428974" cy="1257995"/>
          </a:xfrm>
          <a:prstGeom prst="rect">
            <a:avLst/>
          </a:prstGeom>
        </p:spPr>
      </p:pic>
    </p:spTree>
    <p:extLst>
      <p:ext uri="{BB962C8B-B14F-4D97-AF65-F5344CB8AC3E}">
        <p14:creationId xmlns:p14="http://schemas.microsoft.com/office/powerpoint/2010/main" val="1530500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84729" y="158897"/>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Python File read and Write</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900279" y="854806"/>
            <a:ext cx="9129622" cy="1323439"/>
          </a:xfrm>
          <a:prstGeom prst="rect">
            <a:avLst/>
          </a:prstGeom>
          <a:noFill/>
        </p:spPr>
        <p:txBody>
          <a:bodyPr wrap="square">
            <a:spAutoFit/>
          </a:bodyPr>
          <a:lstStyle/>
          <a:p>
            <a:r>
              <a:rPr lang="en-US" sz="1600" dirty="0"/>
              <a:t>To read a file you need add a parameter to the open() function:</a:t>
            </a:r>
          </a:p>
          <a:p>
            <a:r>
              <a:rPr lang="en-US" sz="1600" dirty="0"/>
              <a:t>The default mode is “r” – read a file</a:t>
            </a:r>
          </a:p>
          <a:p>
            <a:r>
              <a:rPr lang="en-US" sz="1600" dirty="0"/>
              <a:t>To write to an existing file, you must add a parameter to the open() function:</a:t>
            </a:r>
          </a:p>
          <a:p>
            <a:r>
              <a:rPr lang="en-US" sz="1600" dirty="0"/>
              <a:t>"a" - Append - will append to the end of the file</a:t>
            </a:r>
          </a:p>
          <a:p>
            <a:r>
              <a:rPr lang="en-US" sz="1600" dirty="0"/>
              <a:t>"w" - Write - will overwrite any existing content</a:t>
            </a:r>
          </a:p>
        </p:txBody>
      </p:sp>
      <p:pic>
        <p:nvPicPr>
          <p:cNvPr id="4" name="Picture 3">
            <a:extLst>
              <a:ext uri="{FF2B5EF4-FFF2-40B4-BE49-F238E27FC236}">
                <a16:creationId xmlns:a16="http://schemas.microsoft.com/office/drawing/2014/main" id="{CA712023-EFDE-43EC-A19E-BF3B13386E66}"/>
              </a:ext>
            </a:extLst>
          </p:cNvPr>
          <p:cNvPicPr>
            <a:picLocks noChangeAspect="1"/>
          </p:cNvPicPr>
          <p:nvPr/>
        </p:nvPicPr>
        <p:blipFill>
          <a:blip r:embed="rId2"/>
          <a:stretch>
            <a:fillRect/>
          </a:stretch>
        </p:blipFill>
        <p:spPr>
          <a:xfrm>
            <a:off x="984729" y="2372934"/>
            <a:ext cx="5258256" cy="1745131"/>
          </a:xfrm>
          <a:prstGeom prst="rect">
            <a:avLst/>
          </a:prstGeom>
        </p:spPr>
      </p:pic>
      <p:pic>
        <p:nvPicPr>
          <p:cNvPr id="7" name="Picture 6">
            <a:extLst>
              <a:ext uri="{FF2B5EF4-FFF2-40B4-BE49-F238E27FC236}">
                <a16:creationId xmlns:a16="http://schemas.microsoft.com/office/drawing/2014/main" id="{BBE6B130-F70C-454B-9E0D-FB7250104F6E}"/>
              </a:ext>
            </a:extLst>
          </p:cNvPr>
          <p:cNvPicPr>
            <a:picLocks noChangeAspect="1"/>
          </p:cNvPicPr>
          <p:nvPr/>
        </p:nvPicPr>
        <p:blipFill>
          <a:blip r:embed="rId3"/>
          <a:stretch>
            <a:fillRect/>
          </a:stretch>
        </p:blipFill>
        <p:spPr>
          <a:xfrm>
            <a:off x="1020910" y="4253824"/>
            <a:ext cx="5212532" cy="2133785"/>
          </a:xfrm>
          <a:prstGeom prst="rect">
            <a:avLst/>
          </a:prstGeom>
        </p:spPr>
      </p:pic>
      <p:pic>
        <p:nvPicPr>
          <p:cNvPr id="12" name="Picture 11">
            <a:extLst>
              <a:ext uri="{FF2B5EF4-FFF2-40B4-BE49-F238E27FC236}">
                <a16:creationId xmlns:a16="http://schemas.microsoft.com/office/drawing/2014/main" id="{96394B3A-7DBA-452A-8745-6C27FAB432EF}"/>
              </a:ext>
            </a:extLst>
          </p:cNvPr>
          <p:cNvPicPr>
            <a:picLocks noChangeAspect="1"/>
          </p:cNvPicPr>
          <p:nvPr/>
        </p:nvPicPr>
        <p:blipFill>
          <a:blip r:embed="rId4"/>
          <a:stretch>
            <a:fillRect/>
          </a:stretch>
        </p:blipFill>
        <p:spPr>
          <a:xfrm>
            <a:off x="6409010" y="4213183"/>
            <a:ext cx="4002242" cy="1077791"/>
          </a:xfrm>
          <a:prstGeom prst="rect">
            <a:avLst/>
          </a:prstGeom>
        </p:spPr>
      </p:pic>
      <p:pic>
        <p:nvPicPr>
          <p:cNvPr id="16" name="Picture 15">
            <a:extLst>
              <a:ext uri="{FF2B5EF4-FFF2-40B4-BE49-F238E27FC236}">
                <a16:creationId xmlns:a16="http://schemas.microsoft.com/office/drawing/2014/main" id="{F8718755-AC4B-4F7E-9135-65BADA17C888}"/>
              </a:ext>
            </a:extLst>
          </p:cNvPr>
          <p:cNvPicPr>
            <a:picLocks noChangeAspect="1"/>
          </p:cNvPicPr>
          <p:nvPr/>
        </p:nvPicPr>
        <p:blipFill>
          <a:blip r:embed="rId5"/>
          <a:stretch>
            <a:fillRect/>
          </a:stretch>
        </p:blipFill>
        <p:spPr>
          <a:xfrm>
            <a:off x="6409010" y="2372934"/>
            <a:ext cx="3620891" cy="1077791"/>
          </a:xfrm>
          <a:prstGeom prst="rect">
            <a:avLst/>
          </a:prstGeom>
        </p:spPr>
      </p:pic>
    </p:spTree>
    <p:extLst>
      <p:ext uri="{BB962C8B-B14F-4D97-AF65-F5344CB8AC3E}">
        <p14:creationId xmlns:p14="http://schemas.microsoft.com/office/powerpoint/2010/main" val="4234722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83790" y="2807035"/>
            <a:ext cx="7424420" cy="1243930"/>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sz="8000" dirty="0"/>
              <a:t>Python Classes</a:t>
            </a:r>
          </a:p>
        </p:txBody>
      </p:sp>
    </p:spTree>
    <p:extLst>
      <p:ext uri="{BB962C8B-B14F-4D97-AF65-F5344CB8AC3E}">
        <p14:creationId xmlns:p14="http://schemas.microsoft.com/office/powerpoint/2010/main" val="3522177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כותרת משנה 2">
            <a:extLst>
              <a:ext uri="{FF2B5EF4-FFF2-40B4-BE49-F238E27FC236}">
                <a16:creationId xmlns:a16="http://schemas.microsoft.com/office/drawing/2014/main" id="{0DB911AB-B9A1-78C5-3D33-B24BBF752C01}"/>
              </a:ext>
            </a:extLst>
          </p:cNvPr>
          <p:cNvSpPr>
            <a:spLocks noGrp="1"/>
          </p:cNvSpPr>
          <p:nvPr>
            <p:ph type="subTitle" idx="4"/>
          </p:nvPr>
        </p:nvSpPr>
        <p:spPr>
          <a:xfrm>
            <a:off x="650240" y="778409"/>
            <a:ext cx="8534400" cy="3945753"/>
          </a:xfrm>
        </p:spPr>
        <p:txBody>
          <a:bodyPr/>
          <a:lstStyle/>
          <a:p>
            <a:pPr marL="0" indent="0" algn="l">
              <a:buNone/>
            </a:pPr>
            <a:endParaRPr lang="en-US" sz="1800" dirty="0"/>
          </a:p>
          <a:p>
            <a:pPr marL="0" indent="0" algn="l">
              <a:buNone/>
            </a:pPr>
            <a:r>
              <a:rPr lang="en-US" sz="1800" b="1" dirty="0"/>
              <a:t>Create a Class</a:t>
            </a:r>
          </a:p>
          <a:p>
            <a:pPr marL="0" indent="0" algn="l">
              <a:buNone/>
            </a:pPr>
            <a:r>
              <a:rPr lang="en-US" sz="1800" dirty="0"/>
              <a:t>To create a class, use the keyword class</a:t>
            </a:r>
            <a:r>
              <a:rPr lang="en-US" sz="1200" dirty="0"/>
              <a:t>:</a:t>
            </a:r>
          </a:p>
          <a:p>
            <a:pPr algn="l"/>
            <a:endParaRPr lang="en-US" sz="1200" dirty="0"/>
          </a:p>
          <a:p>
            <a:pPr algn="l"/>
            <a:endParaRPr lang="en-US" sz="1200" dirty="0"/>
          </a:p>
          <a:p>
            <a:pPr algn="l"/>
            <a:endParaRPr lang="en-US" sz="1200" dirty="0"/>
          </a:p>
          <a:p>
            <a:pPr algn="l"/>
            <a:endParaRPr lang="en-US" sz="1200" dirty="0"/>
          </a:p>
          <a:p>
            <a:pPr algn="l"/>
            <a:endParaRPr lang="en-US" sz="1200" dirty="0"/>
          </a:p>
          <a:p>
            <a:pPr algn="l"/>
            <a:endParaRPr lang="en-US" sz="1200" dirty="0"/>
          </a:p>
          <a:p>
            <a:pPr marL="0" indent="0" algn="l">
              <a:buNone/>
            </a:pPr>
            <a:r>
              <a:rPr lang="en-US" sz="1600" dirty="0"/>
              <a:t>Now we can use the class named </a:t>
            </a:r>
            <a:r>
              <a:rPr lang="en-US" sz="1600" dirty="0" err="1"/>
              <a:t>MyClass</a:t>
            </a:r>
            <a:r>
              <a:rPr lang="en-US" sz="1600" dirty="0"/>
              <a:t> to create objects:</a:t>
            </a:r>
          </a:p>
          <a:p>
            <a:pPr algn="l"/>
            <a:endParaRPr lang="he-IL" sz="1200" dirty="0"/>
          </a:p>
        </p:txBody>
      </p:sp>
      <p:sp>
        <p:nvSpPr>
          <p:cNvPr id="7" name="object 2">
            <a:extLst>
              <a:ext uri="{FF2B5EF4-FFF2-40B4-BE49-F238E27FC236}">
                <a16:creationId xmlns:a16="http://schemas.microsoft.com/office/drawing/2014/main" id="{5F92FF15-BE3B-1D6E-A795-B31634DEE418}"/>
              </a:ext>
            </a:extLst>
          </p:cNvPr>
          <p:cNvSpPr txBox="1"/>
          <p:nvPr/>
        </p:nvSpPr>
        <p:spPr>
          <a:xfrm>
            <a:off x="650240" y="344262"/>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Python Classes and Objects</a:t>
            </a:r>
          </a:p>
        </p:txBody>
      </p:sp>
      <p:pic>
        <p:nvPicPr>
          <p:cNvPr id="8" name="Picture 5">
            <a:extLst>
              <a:ext uri="{FF2B5EF4-FFF2-40B4-BE49-F238E27FC236}">
                <a16:creationId xmlns:a16="http://schemas.microsoft.com/office/drawing/2014/main" id="{CD107E1F-7349-D536-91FD-BAD77B84B6E7}"/>
              </a:ext>
            </a:extLst>
          </p:cNvPr>
          <p:cNvPicPr>
            <a:picLocks noChangeAspect="1"/>
          </p:cNvPicPr>
          <p:nvPr/>
        </p:nvPicPr>
        <p:blipFill>
          <a:blip r:embed="rId2"/>
          <a:stretch>
            <a:fillRect/>
          </a:stretch>
        </p:blipFill>
        <p:spPr>
          <a:xfrm>
            <a:off x="650240" y="2140359"/>
            <a:ext cx="5197290" cy="1546994"/>
          </a:xfrm>
          <a:prstGeom prst="rect">
            <a:avLst/>
          </a:prstGeom>
        </p:spPr>
      </p:pic>
      <p:pic>
        <p:nvPicPr>
          <p:cNvPr id="9" name="Picture 8">
            <a:extLst>
              <a:ext uri="{FF2B5EF4-FFF2-40B4-BE49-F238E27FC236}">
                <a16:creationId xmlns:a16="http://schemas.microsoft.com/office/drawing/2014/main" id="{534A5478-4D95-6AF7-6424-C171049B0819}"/>
              </a:ext>
            </a:extLst>
          </p:cNvPr>
          <p:cNvPicPr>
            <a:picLocks noChangeAspect="1"/>
          </p:cNvPicPr>
          <p:nvPr/>
        </p:nvPicPr>
        <p:blipFill>
          <a:blip r:embed="rId3"/>
          <a:stretch>
            <a:fillRect/>
          </a:stretch>
        </p:blipFill>
        <p:spPr>
          <a:xfrm>
            <a:off x="604146" y="4731982"/>
            <a:ext cx="4965842" cy="1175658"/>
          </a:xfrm>
          <a:prstGeom prst="rect">
            <a:avLst/>
          </a:prstGeom>
        </p:spPr>
      </p:pic>
    </p:spTree>
    <p:extLst>
      <p:ext uri="{BB962C8B-B14F-4D97-AF65-F5344CB8AC3E}">
        <p14:creationId xmlns:p14="http://schemas.microsoft.com/office/powerpoint/2010/main" val="452634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78806" y="356966"/>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create and Modify Object Properties</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878805" y="1090502"/>
            <a:ext cx="11719595" cy="9233297"/>
          </a:xfrm>
          <a:prstGeom prst="rect">
            <a:avLst/>
          </a:prstGeom>
          <a:noFill/>
        </p:spPr>
        <p:txBody>
          <a:bodyPr wrap="square">
            <a:spAutoFit/>
          </a:bodyPr>
          <a:lstStyle/>
          <a:p>
            <a:r>
              <a:rPr lang="en-US" sz="2000" dirty="0"/>
              <a:t>To create a property, you can do it in any function in the class, when you want to initialize it:</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r>
              <a:rPr lang="en-US" sz="2000" dirty="0"/>
              <a:t>You can create and modify properties on objects like this:</a:t>
            </a:r>
          </a:p>
          <a:p>
            <a:endParaRPr lang="en-US" sz="1600" dirty="0"/>
          </a:p>
          <a:p>
            <a:endParaRPr lang="en-US" sz="1600" dirty="0"/>
          </a:p>
          <a:p>
            <a:endParaRPr lang="en-US" sz="1600" dirty="0"/>
          </a:p>
          <a:p>
            <a:endParaRPr lang="en-US" sz="1600" dirty="0"/>
          </a:p>
          <a:p>
            <a:endParaRPr lang="en-US" sz="2000" dirty="0"/>
          </a:p>
          <a:p>
            <a:r>
              <a:rPr lang="en-US" sz="2000" dirty="0"/>
              <a:t>Delete Object Properties</a:t>
            </a:r>
          </a:p>
          <a:p>
            <a:r>
              <a:rPr lang="en-US" sz="2000" dirty="0"/>
              <a:t>You can delete properties on objects by using the del keyword:</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p:txBody>
      </p:sp>
      <p:pic>
        <p:nvPicPr>
          <p:cNvPr id="5" name="Picture 4">
            <a:extLst>
              <a:ext uri="{FF2B5EF4-FFF2-40B4-BE49-F238E27FC236}">
                <a16:creationId xmlns:a16="http://schemas.microsoft.com/office/drawing/2014/main" id="{FD45DCE5-7927-4F07-AD69-E58610000656}"/>
              </a:ext>
            </a:extLst>
          </p:cNvPr>
          <p:cNvPicPr>
            <a:picLocks noChangeAspect="1"/>
          </p:cNvPicPr>
          <p:nvPr/>
        </p:nvPicPr>
        <p:blipFill>
          <a:blip r:embed="rId2"/>
          <a:stretch>
            <a:fillRect/>
          </a:stretch>
        </p:blipFill>
        <p:spPr>
          <a:xfrm>
            <a:off x="1006616" y="3465501"/>
            <a:ext cx="2453853" cy="823031"/>
          </a:xfrm>
          <a:prstGeom prst="rect">
            <a:avLst/>
          </a:prstGeom>
        </p:spPr>
      </p:pic>
      <p:pic>
        <p:nvPicPr>
          <p:cNvPr id="9" name="Picture 8">
            <a:extLst>
              <a:ext uri="{FF2B5EF4-FFF2-40B4-BE49-F238E27FC236}">
                <a16:creationId xmlns:a16="http://schemas.microsoft.com/office/drawing/2014/main" id="{385BF9BD-E5B8-4C18-8559-B547C09394E9}"/>
              </a:ext>
            </a:extLst>
          </p:cNvPr>
          <p:cNvPicPr>
            <a:picLocks noChangeAspect="1"/>
          </p:cNvPicPr>
          <p:nvPr/>
        </p:nvPicPr>
        <p:blipFill>
          <a:blip r:embed="rId3"/>
          <a:stretch>
            <a:fillRect/>
          </a:stretch>
        </p:blipFill>
        <p:spPr>
          <a:xfrm>
            <a:off x="878805" y="5392766"/>
            <a:ext cx="4633362" cy="944962"/>
          </a:xfrm>
          <a:prstGeom prst="rect">
            <a:avLst/>
          </a:prstGeom>
        </p:spPr>
      </p:pic>
      <p:pic>
        <p:nvPicPr>
          <p:cNvPr id="4" name="תמונה 3">
            <a:extLst>
              <a:ext uri="{FF2B5EF4-FFF2-40B4-BE49-F238E27FC236}">
                <a16:creationId xmlns:a16="http://schemas.microsoft.com/office/drawing/2014/main" id="{6BE0EA17-A542-6C4B-9476-06A8DABEF05D}"/>
              </a:ext>
            </a:extLst>
          </p:cNvPr>
          <p:cNvPicPr>
            <a:picLocks noChangeAspect="1"/>
          </p:cNvPicPr>
          <p:nvPr/>
        </p:nvPicPr>
        <p:blipFill>
          <a:blip r:embed="rId4"/>
          <a:stretch>
            <a:fillRect/>
          </a:stretch>
        </p:blipFill>
        <p:spPr>
          <a:xfrm>
            <a:off x="1006616" y="1509547"/>
            <a:ext cx="2589339" cy="1059922"/>
          </a:xfrm>
          <a:prstGeom prst="rect">
            <a:avLst/>
          </a:prstGeom>
        </p:spPr>
      </p:pic>
    </p:spTree>
    <p:extLst>
      <p:ext uri="{BB962C8B-B14F-4D97-AF65-F5344CB8AC3E}">
        <p14:creationId xmlns:p14="http://schemas.microsoft.com/office/powerpoint/2010/main" val="3701801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0294" y="471100"/>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The self Parameter</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790294" y="1358806"/>
            <a:ext cx="9129622" cy="1631216"/>
          </a:xfrm>
          <a:prstGeom prst="rect">
            <a:avLst/>
          </a:prstGeom>
          <a:noFill/>
        </p:spPr>
        <p:txBody>
          <a:bodyPr wrap="square">
            <a:spAutoFit/>
          </a:bodyPr>
          <a:lstStyle/>
          <a:p>
            <a:r>
              <a:rPr lang="en-US" sz="2000" dirty="0"/>
              <a:t>The self parameter is a reference to the current instance of the class,  and is used to access variables that belongs to the class.</a:t>
            </a:r>
          </a:p>
          <a:p>
            <a:endParaRPr lang="en-US" sz="2000" dirty="0"/>
          </a:p>
          <a:p>
            <a:r>
              <a:rPr lang="en-US" sz="2000" dirty="0">
                <a:solidFill>
                  <a:srgbClr val="FFFF00"/>
                </a:solidFill>
              </a:rPr>
              <a:t>It does not have to be named self , you can call it whatever you like, but it has to be the first parameter of any function in the class:</a:t>
            </a:r>
          </a:p>
        </p:txBody>
      </p:sp>
      <p:pic>
        <p:nvPicPr>
          <p:cNvPr id="4" name="Picture 3">
            <a:extLst>
              <a:ext uri="{FF2B5EF4-FFF2-40B4-BE49-F238E27FC236}">
                <a16:creationId xmlns:a16="http://schemas.microsoft.com/office/drawing/2014/main" id="{D374104F-1F1A-4CBB-94E3-5DCC9D0414E1}"/>
              </a:ext>
            </a:extLst>
          </p:cNvPr>
          <p:cNvPicPr>
            <a:picLocks noChangeAspect="1"/>
          </p:cNvPicPr>
          <p:nvPr/>
        </p:nvPicPr>
        <p:blipFill>
          <a:blip r:embed="rId2"/>
          <a:stretch>
            <a:fillRect/>
          </a:stretch>
        </p:blipFill>
        <p:spPr>
          <a:xfrm>
            <a:off x="521043" y="3429000"/>
            <a:ext cx="6104149" cy="3147333"/>
          </a:xfrm>
          <a:prstGeom prst="rect">
            <a:avLst/>
          </a:prstGeom>
        </p:spPr>
      </p:pic>
      <p:pic>
        <p:nvPicPr>
          <p:cNvPr id="7" name="Picture 6">
            <a:extLst>
              <a:ext uri="{FF2B5EF4-FFF2-40B4-BE49-F238E27FC236}">
                <a16:creationId xmlns:a16="http://schemas.microsoft.com/office/drawing/2014/main" id="{4AD1518F-C0EF-4AB4-B46C-454631E092DA}"/>
              </a:ext>
            </a:extLst>
          </p:cNvPr>
          <p:cNvPicPr>
            <a:picLocks noChangeAspect="1"/>
          </p:cNvPicPr>
          <p:nvPr/>
        </p:nvPicPr>
        <p:blipFill>
          <a:blip r:embed="rId3"/>
          <a:stretch>
            <a:fillRect/>
          </a:stretch>
        </p:blipFill>
        <p:spPr>
          <a:xfrm>
            <a:off x="6871652" y="5334165"/>
            <a:ext cx="3048264" cy="1242168"/>
          </a:xfrm>
          <a:prstGeom prst="rect">
            <a:avLst/>
          </a:prstGeom>
        </p:spPr>
      </p:pic>
      <p:sp>
        <p:nvSpPr>
          <p:cNvPr id="3" name="תיבת טקסט 2">
            <a:extLst>
              <a:ext uri="{FF2B5EF4-FFF2-40B4-BE49-F238E27FC236}">
                <a16:creationId xmlns:a16="http://schemas.microsoft.com/office/drawing/2014/main" id="{FB480969-241A-9E88-67A0-5567DEBAC625}"/>
              </a:ext>
            </a:extLst>
          </p:cNvPr>
          <p:cNvSpPr txBox="1"/>
          <p:nvPr/>
        </p:nvSpPr>
        <p:spPr>
          <a:xfrm>
            <a:off x="7345680" y="3883436"/>
            <a:ext cx="3957286" cy="1015663"/>
          </a:xfrm>
          <a:prstGeom prst="rect">
            <a:avLst/>
          </a:prstGeom>
          <a:noFill/>
        </p:spPr>
        <p:txBody>
          <a:bodyPr wrap="square" rtlCol="1">
            <a:spAutoFit/>
          </a:bodyPr>
          <a:lstStyle/>
          <a:p>
            <a:r>
              <a:rPr lang="en-US" sz="6000" b="1" dirty="0">
                <a:solidFill>
                  <a:schemeClr val="accent4">
                    <a:lumMod val="60000"/>
                    <a:lumOff val="40000"/>
                  </a:schemeClr>
                </a:solidFill>
              </a:rPr>
              <a:t>self</a:t>
            </a:r>
            <a:r>
              <a:rPr lang="en-US" sz="6000" b="1" dirty="0">
                <a:solidFill>
                  <a:srgbClr val="FF0000"/>
                </a:solidFill>
              </a:rPr>
              <a:t> </a:t>
            </a:r>
            <a:r>
              <a:rPr lang="en-US" sz="6000" b="1" dirty="0"/>
              <a:t>=</a:t>
            </a:r>
            <a:r>
              <a:rPr lang="en-US" sz="6000" b="1" dirty="0">
                <a:solidFill>
                  <a:srgbClr val="FF0000"/>
                </a:solidFill>
              </a:rPr>
              <a:t> </a:t>
            </a:r>
            <a:r>
              <a:rPr lang="en-US" sz="6000" b="1" dirty="0">
                <a:solidFill>
                  <a:schemeClr val="accent6">
                    <a:lumMod val="75000"/>
                  </a:schemeClr>
                </a:solidFill>
              </a:rPr>
              <a:t>this</a:t>
            </a:r>
            <a:endParaRPr lang="he-IL" sz="6000" b="1" dirty="0">
              <a:solidFill>
                <a:schemeClr val="accent6">
                  <a:lumMod val="75000"/>
                </a:schemeClr>
              </a:solidFill>
            </a:endParaRPr>
          </a:p>
        </p:txBody>
      </p:sp>
      <p:pic>
        <p:nvPicPr>
          <p:cNvPr id="5" name="תמונה 4">
            <a:extLst>
              <a:ext uri="{FF2B5EF4-FFF2-40B4-BE49-F238E27FC236}">
                <a16:creationId xmlns:a16="http://schemas.microsoft.com/office/drawing/2014/main" id="{A4E3C862-44FF-ABDE-C59B-39DEAFF674A3}"/>
              </a:ext>
            </a:extLst>
          </p:cNvPr>
          <p:cNvPicPr>
            <a:picLocks noChangeAspect="1"/>
          </p:cNvPicPr>
          <p:nvPr/>
        </p:nvPicPr>
        <p:blipFill>
          <a:blip r:embed="rId4"/>
          <a:stretch>
            <a:fillRect/>
          </a:stretch>
        </p:blipFill>
        <p:spPr>
          <a:xfrm>
            <a:off x="9602661" y="0"/>
            <a:ext cx="2589339" cy="1059922"/>
          </a:xfrm>
          <a:prstGeom prst="rect">
            <a:avLst/>
          </a:prstGeom>
        </p:spPr>
      </p:pic>
    </p:spTree>
    <p:extLst>
      <p:ext uri="{BB962C8B-B14F-4D97-AF65-F5344CB8AC3E}">
        <p14:creationId xmlns:p14="http://schemas.microsoft.com/office/powerpoint/2010/main" val="3783038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3481" y="172561"/>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The __</a:t>
            </a:r>
            <a:r>
              <a:rPr lang="en-US" dirty="0" err="1"/>
              <a:t>init</a:t>
            </a:r>
            <a:r>
              <a:rPr lang="en-US" dirty="0"/>
              <a:t>__() Function</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743481" y="1063646"/>
            <a:ext cx="8990073" cy="8094524"/>
          </a:xfrm>
          <a:prstGeom prst="rect">
            <a:avLst/>
          </a:prstGeom>
          <a:noFill/>
        </p:spPr>
        <p:txBody>
          <a:bodyPr wrap="square">
            <a:spAutoFit/>
          </a:bodyPr>
          <a:lstStyle/>
          <a:p>
            <a:r>
              <a:rPr lang="en-US" sz="2400" dirty="0"/>
              <a:t>To understand the meaning of classes we have to understand the built-in </a:t>
            </a:r>
            <a:r>
              <a:rPr lang="en-US" sz="2400" dirty="0">
                <a:solidFill>
                  <a:schemeClr val="accent3"/>
                </a:solidFill>
              </a:rPr>
              <a:t>__</a:t>
            </a:r>
            <a:r>
              <a:rPr lang="en-US" sz="2400" dirty="0" err="1">
                <a:solidFill>
                  <a:schemeClr val="accent3"/>
                </a:solidFill>
              </a:rPr>
              <a:t>init</a:t>
            </a:r>
            <a:r>
              <a:rPr lang="en-US" sz="2400" dirty="0">
                <a:solidFill>
                  <a:schemeClr val="accent3"/>
                </a:solidFill>
              </a:rPr>
              <a:t>__()</a:t>
            </a:r>
            <a:r>
              <a:rPr lang="en-US" sz="2400" dirty="0">
                <a:solidFill>
                  <a:schemeClr val="accent6">
                    <a:lumMod val="75000"/>
                  </a:schemeClr>
                </a:solidFill>
              </a:rPr>
              <a:t> </a:t>
            </a:r>
            <a:r>
              <a:rPr lang="en-US" sz="2400" dirty="0"/>
              <a:t>function.</a:t>
            </a:r>
          </a:p>
          <a:p>
            <a:r>
              <a:rPr lang="en-US" sz="2400" dirty="0"/>
              <a:t>All classes have a function called </a:t>
            </a:r>
            <a:r>
              <a:rPr lang="en-US" sz="2400" dirty="0">
                <a:solidFill>
                  <a:schemeClr val="accent3"/>
                </a:solidFill>
              </a:rPr>
              <a:t>__</a:t>
            </a:r>
            <a:r>
              <a:rPr lang="en-US" sz="2400" dirty="0" err="1">
                <a:solidFill>
                  <a:schemeClr val="accent3"/>
                </a:solidFill>
              </a:rPr>
              <a:t>init</a:t>
            </a:r>
            <a:r>
              <a:rPr lang="en-US" sz="2400" dirty="0">
                <a:solidFill>
                  <a:schemeClr val="accent3"/>
                </a:solidFill>
              </a:rPr>
              <a:t>__(), </a:t>
            </a:r>
            <a:r>
              <a:rPr lang="en-US" sz="2400" dirty="0"/>
              <a:t>which is always executed when the class is being initiated.</a:t>
            </a:r>
          </a:p>
          <a:p>
            <a:r>
              <a:rPr lang="en-US" sz="2400" dirty="0"/>
              <a:t>Use the </a:t>
            </a:r>
            <a:r>
              <a:rPr lang="en-US" sz="2400" dirty="0">
                <a:solidFill>
                  <a:schemeClr val="accent3"/>
                </a:solidFill>
              </a:rPr>
              <a:t>__</a:t>
            </a:r>
            <a:r>
              <a:rPr lang="en-US" sz="2400" dirty="0" err="1">
                <a:solidFill>
                  <a:schemeClr val="accent3"/>
                </a:solidFill>
              </a:rPr>
              <a:t>init</a:t>
            </a:r>
            <a:r>
              <a:rPr lang="en-US" sz="2400" dirty="0">
                <a:solidFill>
                  <a:schemeClr val="accent3"/>
                </a:solidFill>
              </a:rPr>
              <a:t>__() </a:t>
            </a:r>
            <a:r>
              <a:rPr lang="en-US" sz="2400" dirty="0"/>
              <a:t>function to assign values to object properties, or other operations that are necessary to do when the object is being created:</a:t>
            </a:r>
          </a:p>
          <a:p>
            <a:endParaRPr lang="en-US"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p:txBody>
      </p:sp>
      <p:pic>
        <p:nvPicPr>
          <p:cNvPr id="4" name="Picture 3">
            <a:extLst>
              <a:ext uri="{FF2B5EF4-FFF2-40B4-BE49-F238E27FC236}">
                <a16:creationId xmlns:a16="http://schemas.microsoft.com/office/drawing/2014/main" id="{EA50F89F-D35D-4541-BF00-D7B4CA9A4A86}"/>
              </a:ext>
            </a:extLst>
          </p:cNvPr>
          <p:cNvPicPr>
            <a:picLocks noChangeAspect="1"/>
          </p:cNvPicPr>
          <p:nvPr/>
        </p:nvPicPr>
        <p:blipFill>
          <a:blip r:embed="rId2"/>
          <a:stretch>
            <a:fillRect/>
          </a:stretch>
        </p:blipFill>
        <p:spPr>
          <a:xfrm>
            <a:off x="743481" y="4141279"/>
            <a:ext cx="8674360" cy="2312217"/>
          </a:xfrm>
          <a:prstGeom prst="rect">
            <a:avLst/>
          </a:prstGeom>
        </p:spPr>
      </p:pic>
      <p:pic>
        <p:nvPicPr>
          <p:cNvPr id="7" name="Picture 6">
            <a:extLst>
              <a:ext uri="{FF2B5EF4-FFF2-40B4-BE49-F238E27FC236}">
                <a16:creationId xmlns:a16="http://schemas.microsoft.com/office/drawing/2014/main" id="{3BF90CA4-F594-4CDC-A830-DCB56EFD305E}"/>
              </a:ext>
            </a:extLst>
          </p:cNvPr>
          <p:cNvPicPr>
            <a:picLocks noChangeAspect="1"/>
          </p:cNvPicPr>
          <p:nvPr/>
        </p:nvPicPr>
        <p:blipFill>
          <a:blip r:embed="rId3"/>
          <a:stretch>
            <a:fillRect/>
          </a:stretch>
        </p:blipFill>
        <p:spPr>
          <a:xfrm>
            <a:off x="8236639" y="5062834"/>
            <a:ext cx="1181202" cy="1371719"/>
          </a:xfrm>
          <a:prstGeom prst="rect">
            <a:avLst/>
          </a:prstGeom>
        </p:spPr>
      </p:pic>
    </p:spTree>
    <p:extLst>
      <p:ext uri="{BB962C8B-B14F-4D97-AF65-F5344CB8AC3E}">
        <p14:creationId xmlns:p14="http://schemas.microsoft.com/office/powerpoint/2010/main" val="2426067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03520" y="356966"/>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Object Methods</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815546" y="1141515"/>
            <a:ext cx="9129622" cy="1015663"/>
          </a:xfrm>
          <a:prstGeom prst="rect">
            <a:avLst/>
          </a:prstGeom>
          <a:noFill/>
        </p:spPr>
        <p:txBody>
          <a:bodyPr wrap="square">
            <a:spAutoFit/>
          </a:bodyPr>
          <a:lstStyle/>
          <a:p>
            <a:r>
              <a:rPr lang="en-US" sz="2000" dirty="0"/>
              <a:t>Objects can also contain methods. Methods in objects are functions that belong to the object.</a:t>
            </a:r>
          </a:p>
          <a:p>
            <a:r>
              <a:rPr lang="en-US" sz="2000" dirty="0"/>
              <a:t>Let us create a method in the Person class:</a:t>
            </a:r>
          </a:p>
        </p:txBody>
      </p:sp>
      <p:pic>
        <p:nvPicPr>
          <p:cNvPr id="5" name="Picture 4">
            <a:extLst>
              <a:ext uri="{FF2B5EF4-FFF2-40B4-BE49-F238E27FC236}">
                <a16:creationId xmlns:a16="http://schemas.microsoft.com/office/drawing/2014/main" id="{63939159-DF0C-4F99-A43A-C69BBABDB169}"/>
              </a:ext>
            </a:extLst>
          </p:cNvPr>
          <p:cNvPicPr>
            <a:picLocks noChangeAspect="1"/>
          </p:cNvPicPr>
          <p:nvPr/>
        </p:nvPicPr>
        <p:blipFill>
          <a:blip r:embed="rId2"/>
          <a:stretch>
            <a:fillRect/>
          </a:stretch>
        </p:blipFill>
        <p:spPr>
          <a:xfrm>
            <a:off x="903520" y="2185436"/>
            <a:ext cx="5574398" cy="3370195"/>
          </a:xfrm>
          <a:prstGeom prst="rect">
            <a:avLst/>
          </a:prstGeom>
        </p:spPr>
      </p:pic>
      <p:pic>
        <p:nvPicPr>
          <p:cNvPr id="9" name="Picture 8">
            <a:extLst>
              <a:ext uri="{FF2B5EF4-FFF2-40B4-BE49-F238E27FC236}">
                <a16:creationId xmlns:a16="http://schemas.microsoft.com/office/drawing/2014/main" id="{20E6AE6F-AAF0-48A3-97B4-9AC9E0B4B0B8}"/>
              </a:ext>
            </a:extLst>
          </p:cNvPr>
          <p:cNvPicPr>
            <a:picLocks noChangeAspect="1"/>
          </p:cNvPicPr>
          <p:nvPr/>
        </p:nvPicPr>
        <p:blipFill>
          <a:blip r:embed="rId3"/>
          <a:stretch>
            <a:fillRect/>
          </a:stretch>
        </p:blipFill>
        <p:spPr>
          <a:xfrm>
            <a:off x="921859" y="5716485"/>
            <a:ext cx="2598645" cy="739204"/>
          </a:xfrm>
          <a:prstGeom prst="rect">
            <a:avLst/>
          </a:prstGeom>
        </p:spPr>
      </p:pic>
    </p:spTree>
    <p:extLst>
      <p:ext uri="{BB962C8B-B14F-4D97-AF65-F5344CB8AC3E}">
        <p14:creationId xmlns:p14="http://schemas.microsoft.com/office/powerpoint/2010/main" val="2349128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6416" y="356966"/>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Python - public, private and protected</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516416" y="1289952"/>
            <a:ext cx="11932644" cy="5386090"/>
          </a:xfrm>
          <a:prstGeom prst="rect">
            <a:avLst/>
          </a:prstGeom>
          <a:noFill/>
        </p:spPr>
        <p:txBody>
          <a:bodyPr wrap="square">
            <a:spAutoFit/>
          </a:bodyPr>
          <a:lstStyle/>
          <a:p>
            <a:r>
              <a:rPr lang="en-US" sz="2800" dirty="0"/>
              <a:t>Classical object-oriented languages, such as C++ and Java, control the access to class resources by public, private and protected keywords. Private members of a class are denied access from the environment outside the class. They can be handled only from within the class.</a:t>
            </a:r>
          </a:p>
          <a:p>
            <a:r>
              <a:rPr lang="en-US" sz="2800" dirty="0"/>
              <a:t>Python doesn't have any mechanism that effectively restricts access to any instance variable or method. Python prescribes a convention of prefixing the name of the variable/method with single or double underscore to emulate the behavior of protected and private access specifiers.</a:t>
            </a:r>
          </a:p>
          <a:p>
            <a:endParaRPr lang="en-US" sz="2800" dirty="0"/>
          </a:p>
          <a:p>
            <a:r>
              <a:rPr lang="en-US" sz="3200" dirty="0">
                <a:solidFill>
                  <a:schemeClr val="accent4">
                    <a:lumMod val="75000"/>
                  </a:schemeClr>
                </a:solidFill>
              </a:rPr>
              <a:t>All members in a Python class are public by default. Any member can be accessed from outside the class environment.</a:t>
            </a:r>
          </a:p>
        </p:txBody>
      </p:sp>
    </p:spTree>
    <p:extLst>
      <p:ext uri="{BB962C8B-B14F-4D97-AF65-F5344CB8AC3E}">
        <p14:creationId xmlns:p14="http://schemas.microsoft.com/office/powerpoint/2010/main" val="2088869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95C2A261-AB5B-90CF-9911-40359E2D2131}"/>
              </a:ext>
            </a:extLst>
          </p:cNvPr>
          <p:cNvPicPr>
            <a:picLocks noChangeAspect="1"/>
          </p:cNvPicPr>
          <p:nvPr/>
        </p:nvPicPr>
        <p:blipFill>
          <a:blip r:embed="rId2"/>
          <a:stretch>
            <a:fillRect/>
          </a:stretch>
        </p:blipFill>
        <p:spPr>
          <a:xfrm>
            <a:off x="253389" y="3429000"/>
            <a:ext cx="4785150" cy="1181202"/>
          </a:xfrm>
          <a:prstGeom prst="rect">
            <a:avLst/>
          </a:prstGeom>
        </p:spPr>
      </p:pic>
      <p:sp>
        <p:nvSpPr>
          <p:cNvPr id="6" name="תיבת טקסט 5">
            <a:extLst>
              <a:ext uri="{FF2B5EF4-FFF2-40B4-BE49-F238E27FC236}">
                <a16:creationId xmlns:a16="http://schemas.microsoft.com/office/drawing/2014/main" id="{BD11754F-00CE-72E5-9A10-ADFF9B57D19A}"/>
              </a:ext>
            </a:extLst>
          </p:cNvPr>
          <p:cNvSpPr txBox="1"/>
          <p:nvPr/>
        </p:nvSpPr>
        <p:spPr>
          <a:xfrm>
            <a:off x="253389" y="1120676"/>
            <a:ext cx="5223070" cy="2308324"/>
          </a:xfrm>
          <a:prstGeom prst="rect">
            <a:avLst/>
          </a:prstGeom>
          <a:noFill/>
        </p:spPr>
        <p:txBody>
          <a:bodyPr wrap="square">
            <a:spAutoFit/>
          </a:bodyPr>
          <a:lstStyle/>
          <a:p>
            <a:r>
              <a:rPr lang="en-US" sz="2400" dirty="0"/>
              <a:t>Python's convention to make an instance variable </a:t>
            </a:r>
            <a:r>
              <a:rPr lang="en-US" sz="2400" dirty="0">
                <a:solidFill>
                  <a:schemeClr val="accent2"/>
                </a:solidFill>
              </a:rPr>
              <a:t>protected</a:t>
            </a:r>
            <a:r>
              <a:rPr lang="en-US" sz="2400" dirty="0"/>
              <a:t> is to add a prefix _ (single underscore) to it. This effectively prevents it to be accessed, unless it is from within a sub-class.</a:t>
            </a:r>
          </a:p>
        </p:txBody>
      </p:sp>
      <p:sp>
        <p:nvSpPr>
          <p:cNvPr id="8" name="תיבת טקסט 7">
            <a:extLst>
              <a:ext uri="{FF2B5EF4-FFF2-40B4-BE49-F238E27FC236}">
                <a16:creationId xmlns:a16="http://schemas.microsoft.com/office/drawing/2014/main" id="{8AD10813-20A0-1263-0B0F-0B2EAF3DE8AB}"/>
              </a:ext>
            </a:extLst>
          </p:cNvPr>
          <p:cNvSpPr txBox="1"/>
          <p:nvPr/>
        </p:nvSpPr>
        <p:spPr>
          <a:xfrm>
            <a:off x="6096000" y="1044941"/>
            <a:ext cx="5215110" cy="2677656"/>
          </a:xfrm>
          <a:prstGeom prst="rect">
            <a:avLst/>
          </a:prstGeom>
          <a:noFill/>
        </p:spPr>
        <p:txBody>
          <a:bodyPr wrap="square">
            <a:spAutoFit/>
          </a:bodyPr>
          <a:lstStyle/>
          <a:p>
            <a:r>
              <a:rPr lang="en-US" sz="2400" dirty="0"/>
              <a:t>a double underscore __ prefixed to a variable makes it </a:t>
            </a:r>
            <a:r>
              <a:rPr lang="en-US" sz="2400" dirty="0">
                <a:solidFill>
                  <a:schemeClr val="accent2"/>
                </a:solidFill>
              </a:rPr>
              <a:t>private</a:t>
            </a:r>
            <a:r>
              <a:rPr lang="en-US" sz="2400" dirty="0"/>
              <a:t>. It gives a strong suggestion not to touch it from outside the class. Any attempt to do so will result in an </a:t>
            </a:r>
            <a:r>
              <a:rPr lang="en-US" sz="2400" dirty="0" err="1"/>
              <a:t>AttributeError</a:t>
            </a:r>
            <a:r>
              <a:rPr lang="en-US" sz="2400" dirty="0"/>
              <a:t>:</a:t>
            </a:r>
          </a:p>
          <a:p>
            <a:endParaRPr lang="en-US" sz="2400" dirty="0"/>
          </a:p>
        </p:txBody>
      </p:sp>
      <p:pic>
        <p:nvPicPr>
          <p:cNvPr id="9" name="Picture 11">
            <a:extLst>
              <a:ext uri="{FF2B5EF4-FFF2-40B4-BE49-F238E27FC236}">
                <a16:creationId xmlns:a16="http://schemas.microsoft.com/office/drawing/2014/main" id="{48E983AE-AFFB-3225-70F6-DED19C652988}"/>
              </a:ext>
            </a:extLst>
          </p:cNvPr>
          <p:cNvPicPr>
            <a:picLocks noChangeAspect="1"/>
          </p:cNvPicPr>
          <p:nvPr/>
        </p:nvPicPr>
        <p:blipFill>
          <a:blip r:embed="rId3"/>
          <a:stretch>
            <a:fillRect/>
          </a:stretch>
        </p:blipFill>
        <p:spPr>
          <a:xfrm>
            <a:off x="6096000" y="3420695"/>
            <a:ext cx="4864947" cy="1263093"/>
          </a:xfrm>
          <a:prstGeom prst="rect">
            <a:avLst/>
          </a:prstGeom>
        </p:spPr>
      </p:pic>
      <p:sp>
        <p:nvSpPr>
          <p:cNvPr id="12" name="object 2">
            <a:extLst>
              <a:ext uri="{FF2B5EF4-FFF2-40B4-BE49-F238E27FC236}">
                <a16:creationId xmlns:a16="http://schemas.microsoft.com/office/drawing/2014/main" id="{167F5112-D996-C5D1-4E48-DEB8B8C15CE1}"/>
              </a:ext>
            </a:extLst>
          </p:cNvPr>
          <p:cNvSpPr txBox="1"/>
          <p:nvPr/>
        </p:nvSpPr>
        <p:spPr>
          <a:xfrm>
            <a:off x="516416" y="390877"/>
            <a:ext cx="10210800" cy="62837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pPr algn="ctr"/>
            <a:r>
              <a:rPr lang="en-US" sz="4000" dirty="0"/>
              <a:t>private and protected</a:t>
            </a:r>
          </a:p>
        </p:txBody>
      </p:sp>
      <p:sp>
        <p:nvSpPr>
          <p:cNvPr id="14" name="תיבת טקסט 13">
            <a:extLst>
              <a:ext uri="{FF2B5EF4-FFF2-40B4-BE49-F238E27FC236}">
                <a16:creationId xmlns:a16="http://schemas.microsoft.com/office/drawing/2014/main" id="{E2323F93-A059-7621-DD8B-221DAB3D4995}"/>
              </a:ext>
            </a:extLst>
          </p:cNvPr>
          <p:cNvSpPr txBox="1"/>
          <p:nvPr/>
        </p:nvSpPr>
        <p:spPr>
          <a:xfrm>
            <a:off x="341523" y="4381886"/>
            <a:ext cx="10969587" cy="2308324"/>
          </a:xfrm>
          <a:prstGeom prst="rect">
            <a:avLst/>
          </a:prstGeom>
          <a:noFill/>
        </p:spPr>
        <p:txBody>
          <a:bodyPr wrap="square">
            <a:spAutoFit/>
          </a:bodyPr>
          <a:lstStyle/>
          <a:p>
            <a:endParaRPr lang="en-US" sz="2400" dirty="0"/>
          </a:p>
          <a:p>
            <a:endParaRPr lang="en-US" sz="2400" dirty="0"/>
          </a:p>
          <a:p>
            <a:r>
              <a:rPr lang="en-US" sz="2400" dirty="0"/>
              <a:t>Python performs name mangling of private variables. Every member with double underscore will be changed to “</a:t>
            </a:r>
            <a:r>
              <a:rPr lang="en-US" sz="2400" dirty="0">
                <a:solidFill>
                  <a:schemeClr val="accent6"/>
                </a:solidFill>
              </a:rPr>
              <a:t>objectName._className__variable</a:t>
            </a:r>
            <a:r>
              <a:rPr lang="en-US" sz="2400" dirty="0"/>
              <a:t>”</a:t>
            </a:r>
          </a:p>
          <a:p>
            <a:r>
              <a:rPr lang="en-US" sz="2400" dirty="0"/>
              <a:t>If so required, it can still be accessed from outside the class, but the practice should be refrained.</a:t>
            </a:r>
          </a:p>
        </p:txBody>
      </p:sp>
    </p:spTree>
    <p:extLst>
      <p:ext uri="{BB962C8B-B14F-4D97-AF65-F5344CB8AC3E}">
        <p14:creationId xmlns:p14="http://schemas.microsoft.com/office/powerpoint/2010/main" val="2092807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31671" y="110745"/>
            <a:ext cx="10210800" cy="62837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sz="4000" dirty="0"/>
              <a:t>Python magic Functions</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483445" y="921920"/>
            <a:ext cx="11708555" cy="2800767"/>
          </a:xfrm>
          <a:prstGeom prst="rect">
            <a:avLst/>
          </a:prstGeom>
          <a:noFill/>
        </p:spPr>
        <p:txBody>
          <a:bodyPr wrap="square">
            <a:spAutoFit/>
          </a:bodyPr>
          <a:lstStyle/>
          <a:p>
            <a:r>
              <a:rPr lang="en-US" sz="2200" dirty="0"/>
              <a:t>Class functions that begin with double underscore __ are called magic functions in Python.</a:t>
            </a:r>
          </a:p>
          <a:p>
            <a:endParaRPr lang="en-US" sz="2200" dirty="0"/>
          </a:p>
          <a:p>
            <a:r>
              <a:rPr lang="en-US" sz="2200" dirty="0"/>
              <a:t>These functions are not the typical functions that we define for a class. The __</a:t>
            </a:r>
            <a:r>
              <a:rPr lang="en-US" sz="2200" dirty="0" err="1"/>
              <a:t>init</a:t>
            </a:r>
            <a:r>
              <a:rPr lang="en-US" sz="2200" dirty="0"/>
              <a:t>__() function we defined above is one of them. It gets called every time we create a new object of that class.</a:t>
            </a:r>
          </a:p>
          <a:p>
            <a:r>
              <a:rPr lang="en-US" sz="2200" dirty="0"/>
              <a:t>There are numerous other special functions in Python. </a:t>
            </a:r>
          </a:p>
          <a:p>
            <a:r>
              <a:rPr lang="en-US" sz="2200" dirty="0"/>
              <a:t>Using magic functions, we can make our class compatible with built-in functions.</a:t>
            </a:r>
          </a:p>
        </p:txBody>
      </p:sp>
      <p:pic>
        <p:nvPicPr>
          <p:cNvPr id="4" name="Picture 3">
            <a:extLst>
              <a:ext uri="{FF2B5EF4-FFF2-40B4-BE49-F238E27FC236}">
                <a16:creationId xmlns:a16="http://schemas.microsoft.com/office/drawing/2014/main" id="{2782CC3C-9B42-4C6D-9C80-E006E78C2049}"/>
              </a:ext>
            </a:extLst>
          </p:cNvPr>
          <p:cNvPicPr>
            <a:picLocks noChangeAspect="1"/>
          </p:cNvPicPr>
          <p:nvPr/>
        </p:nvPicPr>
        <p:blipFill>
          <a:blip r:embed="rId2"/>
          <a:stretch>
            <a:fillRect/>
          </a:stretch>
        </p:blipFill>
        <p:spPr>
          <a:xfrm>
            <a:off x="483445" y="4244039"/>
            <a:ext cx="4347953" cy="2543592"/>
          </a:xfrm>
          <a:prstGeom prst="rect">
            <a:avLst/>
          </a:prstGeom>
        </p:spPr>
      </p:pic>
      <p:pic>
        <p:nvPicPr>
          <p:cNvPr id="7" name="Picture 6">
            <a:extLst>
              <a:ext uri="{FF2B5EF4-FFF2-40B4-BE49-F238E27FC236}">
                <a16:creationId xmlns:a16="http://schemas.microsoft.com/office/drawing/2014/main" id="{ED0C806E-C2EB-4038-BACF-D63AC8880E10}"/>
              </a:ext>
            </a:extLst>
          </p:cNvPr>
          <p:cNvPicPr>
            <a:picLocks noChangeAspect="1"/>
          </p:cNvPicPr>
          <p:nvPr/>
        </p:nvPicPr>
        <p:blipFill>
          <a:blip r:embed="rId3"/>
          <a:stretch>
            <a:fillRect/>
          </a:stretch>
        </p:blipFill>
        <p:spPr>
          <a:xfrm>
            <a:off x="5038381" y="5560149"/>
            <a:ext cx="2322223" cy="1187106"/>
          </a:xfrm>
          <a:prstGeom prst="rect">
            <a:avLst/>
          </a:prstGeom>
        </p:spPr>
      </p:pic>
    </p:spTree>
    <p:extLst>
      <p:ext uri="{BB962C8B-B14F-4D97-AF65-F5344CB8AC3E}">
        <p14:creationId xmlns:p14="http://schemas.microsoft.com/office/powerpoint/2010/main" val="3544847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29657" y="84121"/>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Operator Overloading</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429657" y="824360"/>
            <a:ext cx="11865167" cy="3785652"/>
          </a:xfrm>
          <a:prstGeom prst="rect">
            <a:avLst/>
          </a:prstGeom>
          <a:noFill/>
        </p:spPr>
        <p:txBody>
          <a:bodyPr wrap="square">
            <a:spAutoFit/>
          </a:bodyPr>
          <a:lstStyle/>
          <a:p>
            <a:r>
              <a:rPr lang="en-US" sz="2400" dirty="0"/>
              <a:t>Python operators work for built-in classes. But the same operator behaves differently with different types. For example, the + operator will perform arithmetic addition on two numbers, merge two lists, or concatenate two strings.</a:t>
            </a:r>
          </a:p>
          <a:p>
            <a:endParaRPr lang="en-US" sz="2400" dirty="0"/>
          </a:p>
          <a:p>
            <a:r>
              <a:rPr lang="en-US" sz="2400" dirty="0"/>
              <a:t>This feature in Python that allows the same operator to have different meaning according to the context is called operator overloading.</a:t>
            </a:r>
          </a:p>
          <a:p>
            <a:endParaRPr lang="en-US" sz="2400" dirty="0"/>
          </a:p>
          <a:p>
            <a:r>
              <a:rPr lang="en-US" sz="2400" dirty="0"/>
              <a:t>So what happens when we use them with objects of a user-defined class? Let us consider the following class, which tries to simulate a point in 2-D coordinate system.</a:t>
            </a:r>
          </a:p>
        </p:txBody>
      </p:sp>
      <p:pic>
        <p:nvPicPr>
          <p:cNvPr id="5" name="Picture 4">
            <a:extLst>
              <a:ext uri="{FF2B5EF4-FFF2-40B4-BE49-F238E27FC236}">
                <a16:creationId xmlns:a16="http://schemas.microsoft.com/office/drawing/2014/main" id="{9B507FE2-4A9E-45A2-A81E-47875D7BC8EB}"/>
              </a:ext>
            </a:extLst>
          </p:cNvPr>
          <p:cNvPicPr>
            <a:picLocks noChangeAspect="1"/>
          </p:cNvPicPr>
          <p:nvPr/>
        </p:nvPicPr>
        <p:blipFill rotWithShape="1">
          <a:blip r:embed="rId2"/>
          <a:srcRect r="23387"/>
          <a:stretch/>
        </p:blipFill>
        <p:spPr>
          <a:xfrm>
            <a:off x="0" y="4621380"/>
            <a:ext cx="3880496" cy="2236620"/>
          </a:xfrm>
          <a:prstGeom prst="rect">
            <a:avLst/>
          </a:prstGeom>
        </p:spPr>
      </p:pic>
      <p:pic>
        <p:nvPicPr>
          <p:cNvPr id="9" name="Picture 8">
            <a:extLst>
              <a:ext uri="{FF2B5EF4-FFF2-40B4-BE49-F238E27FC236}">
                <a16:creationId xmlns:a16="http://schemas.microsoft.com/office/drawing/2014/main" id="{E2BEDD6B-51DC-4E32-87E8-633268452907}"/>
              </a:ext>
            </a:extLst>
          </p:cNvPr>
          <p:cNvPicPr>
            <a:picLocks noChangeAspect="1"/>
          </p:cNvPicPr>
          <p:nvPr/>
        </p:nvPicPr>
        <p:blipFill>
          <a:blip r:embed="rId3"/>
          <a:stretch>
            <a:fillRect/>
          </a:stretch>
        </p:blipFill>
        <p:spPr>
          <a:xfrm>
            <a:off x="5001520" y="5093465"/>
            <a:ext cx="7190480" cy="1764535"/>
          </a:xfrm>
          <a:prstGeom prst="rect">
            <a:avLst/>
          </a:prstGeom>
        </p:spPr>
      </p:pic>
    </p:spTree>
    <p:extLst>
      <p:ext uri="{BB962C8B-B14F-4D97-AF65-F5344CB8AC3E}">
        <p14:creationId xmlns:p14="http://schemas.microsoft.com/office/powerpoint/2010/main" val="980082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6120" y="215155"/>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Operator Overloading</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766119" y="855993"/>
            <a:ext cx="11308367" cy="1815882"/>
          </a:xfrm>
          <a:prstGeom prst="rect">
            <a:avLst/>
          </a:prstGeom>
          <a:noFill/>
        </p:spPr>
        <p:txBody>
          <a:bodyPr wrap="square">
            <a:spAutoFit/>
          </a:bodyPr>
          <a:lstStyle/>
          <a:p>
            <a:r>
              <a:rPr lang="en-US" sz="2800" dirty="0"/>
              <a:t>To overload the + operator, we will need to implement __add__() function in the class. With great power comes great responsibility. We can do whatever we like, inside this function. But it is more sensible to return a Point object of the coordinate sum.</a:t>
            </a:r>
          </a:p>
        </p:txBody>
      </p:sp>
      <p:pic>
        <p:nvPicPr>
          <p:cNvPr id="14" name="Picture 13">
            <a:extLst>
              <a:ext uri="{FF2B5EF4-FFF2-40B4-BE49-F238E27FC236}">
                <a16:creationId xmlns:a16="http://schemas.microsoft.com/office/drawing/2014/main" id="{244BD09B-FA37-40E3-8741-CB536D4C73C5}"/>
              </a:ext>
            </a:extLst>
          </p:cNvPr>
          <p:cNvPicPr>
            <a:picLocks noChangeAspect="1"/>
          </p:cNvPicPr>
          <p:nvPr/>
        </p:nvPicPr>
        <p:blipFill>
          <a:blip r:embed="rId2"/>
          <a:stretch>
            <a:fillRect/>
          </a:stretch>
        </p:blipFill>
        <p:spPr>
          <a:xfrm>
            <a:off x="766120" y="2839924"/>
            <a:ext cx="4892464" cy="3619814"/>
          </a:xfrm>
          <a:prstGeom prst="rect">
            <a:avLst/>
          </a:prstGeom>
        </p:spPr>
      </p:pic>
      <p:pic>
        <p:nvPicPr>
          <p:cNvPr id="16" name="Picture 15">
            <a:extLst>
              <a:ext uri="{FF2B5EF4-FFF2-40B4-BE49-F238E27FC236}">
                <a16:creationId xmlns:a16="http://schemas.microsoft.com/office/drawing/2014/main" id="{477B747A-F610-4185-A293-607996A477AC}"/>
              </a:ext>
            </a:extLst>
          </p:cNvPr>
          <p:cNvPicPr>
            <a:picLocks noChangeAspect="1"/>
          </p:cNvPicPr>
          <p:nvPr/>
        </p:nvPicPr>
        <p:blipFill>
          <a:blip r:embed="rId3"/>
          <a:stretch>
            <a:fillRect/>
          </a:stretch>
        </p:blipFill>
        <p:spPr>
          <a:xfrm>
            <a:off x="6159094" y="5332164"/>
            <a:ext cx="2551374" cy="1127574"/>
          </a:xfrm>
          <a:prstGeom prst="rect">
            <a:avLst/>
          </a:prstGeom>
        </p:spPr>
      </p:pic>
    </p:spTree>
    <p:extLst>
      <p:ext uri="{BB962C8B-B14F-4D97-AF65-F5344CB8AC3E}">
        <p14:creationId xmlns:p14="http://schemas.microsoft.com/office/powerpoint/2010/main" val="3267004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pic>
        <p:nvPicPr>
          <p:cNvPr id="4" name="Picture 3">
            <a:extLst>
              <a:ext uri="{FF2B5EF4-FFF2-40B4-BE49-F238E27FC236}">
                <a16:creationId xmlns:a16="http://schemas.microsoft.com/office/drawing/2014/main" id="{3B8DEA66-7B4E-438D-B3C4-1C2FF2918B50}"/>
              </a:ext>
            </a:extLst>
          </p:cNvPr>
          <p:cNvPicPr>
            <a:picLocks noChangeAspect="1"/>
          </p:cNvPicPr>
          <p:nvPr/>
        </p:nvPicPr>
        <p:blipFill>
          <a:blip r:embed="rId2"/>
          <a:stretch>
            <a:fillRect/>
          </a:stretch>
        </p:blipFill>
        <p:spPr>
          <a:xfrm>
            <a:off x="2895600" y="837868"/>
            <a:ext cx="6020322" cy="5890770"/>
          </a:xfrm>
          <a:prstGeom prst="rect">
            <a:avLst/>
          </a:prstGeom>
        </p:spPr>
      </p:pic>
      <p:sp>
        <p:nvSpPr>
          <p:cNvPr id="5" name="object 2">
            <a:extLst>
              <a:ext uri="{FF2B5EF4-FFF2-40B4-BE49-F238E27FC236}">
                <a16:creationId xmlns:a16="http://schemas.microsoft.com/office/drawing/2014/main" id="{AAF996AC-B08F-2C43-A16B-D6208FF19D98}"/>
              </a:ext>
            </a:extLst>
          </p:cNvPr>
          <p:cNvSpPr txBox="1"/>
          <p:nvPr/>
        </p:nvSpPr>
        <p:spPr>
          <a:xfrm>
            <a:off x="3541059" y="158121"/>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Operator Overloading</a:t>
            </a:r>
          </a:p>
        </p:txBody>
      </p:sp>
    </p:spTree>
    <p:extLst>
      <p:ext uri="{BB962C8B-B14F-4D97-AF65-F5344CB8AC3E}">
        <p14:creationId xmlns:p14="http://schemas.microsoft.com/office/powerpoint/2010/main" val="102184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7660" y="408937"/>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Operator Overloading</a:t>
            </a:r>
          </a:p>
        </p:txBody>
      </p:sp>
      <p:pic>
        <p:nvPicPr>
          <p:cNvPr id="5" name="Picture 4">
            <a:extLst>
              <a:ext uri="{FF2B5EF4-FFF2-40B4-BE49-F238E27FC236}">
                <a16:creationId xmlns:a16="http://schemas.microsoft.com/office/drawing/2014/main" id="{D5221BDA-FB04-4161-BA7C-7A29EEF3BFAB}"/>
              </a:ext>
            </a:extLst>
          </p:cNvPr>
          <p:cNvPicPr>
            <a:picLocks noChangeAspect="1"/>
          </p:cNvPicPr>
          <p:nvPr/>
        </p:nvPicPr>
        <p:blipFill>
          <a:blip r:embed="rId2"/>
          <a:stretch>
            <a:fillRect/>
          </a:stretch>
        </p:blipFill>
        <p:spPr>
          <a:xfrm>
            <a:off x="977659" y="1394930"/>
            <a:ext cx="9106615" cy="4124521"/>
          </a:xfrm>
          <a:prstGeom prst="rect">
            <a:avLst/>
          </a:prstGeom>
        </p:spPr>
      </p:pic>
      <p:sp>
        <p:nvSpPr>
          <p:cNvPr id="9" name="TextBox 8">
            <a:extLst>
              <a:ext uri="{FF2B5EF4-FFF2-40B4-BE49-F238E27FC236}">
                <a16:creationId xmlns:a16="http://schemas.microsoft.com/office/drawing/2014/main" id="{84D62FED-9C0E-4EA8-9503-963E74B953DF}"/>
              </a:ext>
            </a:extLst>
          </p:cNvPr>
          <p:cNvSpPr txBox="1"/>
          <p:nvPr/>
        </p:nvSpPr>
        <p:spPr>
          <a:xfrm>
            <a:off x="977660" y="5806898"/>
            <a:ext cx="6507270" cy="646331"/>
          </a:xfrm>
          <a:prstGeom prst="rect">
            <a:avLst/>
          </a:prstGeom>
          <a:noFill/>
        </p:spPr>
        <p:txBody>
          <a:bodyPr wrap="square">
            <a:spAutoFit/>
          </a:bodyPr>
          <a:lstStyle/>
          <a:p>
            <a:r>
              <a:rPr lang="en-US" dirty="0">
                <a:hlinkClick r:id="rId3"/>
              </a:rPr>
              <a:t>https://www.tutorialsteacher.com/python/magic-methods-in-python</a:t>
            </a:r>
            <a:endParaRPr lang="en-US" dirty="0"/>
          </a:p>
        </p:txBody>
      </p:sp>
    </p:spTree>
    <p:extLst>
      <p:ext uri="{BB962C8B-B14F-4D97-AF65-F5344CB8AC3E}">
        <p14:creationId xmlns:p14="http://schemas.microsoft.com/office/powerpoint/2010/main" val="27981800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0600" y="337517"/>
            <a:ext cx="10210800" cy="566822"/>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sz="3600" dirty="0"/>
              <a:t>The with statement</a:t>
            </a: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878700" y="1275206"/>
            <a:ext cx="5655450" cy="2677656"/>
          </a:xfrm>
          <a:prstGeom prst="rect">
            <a:avLst/>
          </a:prstGeom>
          <a:noFill/>
        </p:spPr>
        <p:txBody>
          <a:bodyPr wrap="square">
            <a:spAutoFit/>
          </a:bodyPr>
          <a:lstStyle/>
          <a:p>
            <a:r>
              <a:rPr lang="en-US" sz="2400" dirty="0"/>
              <a:t>The with statement is used to wrap the execution of a block with methods defined by a context manager (see section With Statement Context Managers). This allows common try…except…finally usage patterns to be encapsulated for convenient reuse.</a:t>
            </a:r>
          </a:p>
        </p:txBody>
      </p:sp>
      <p:pic>
        <p:nvPicPr>
          <p:cNvPr id="12" name="Picture 11">
            <a:extLst>
              <a:ext uri="{FF2B5EF4-FFF2-40B4-BE49-F238E27FC236}">
                <a16:creationId xmlns:a16="http://schemas.microsoft.com/office/drawing/2014/main" id="{17C54201-01D9-4F2E-87C7-2325EF98263D}"/>
              </a:ext>
            </a:extLst>
          </p:cNvPr>
          <p:cNvPicPr>
            <a:picLocks noChangeAspect="1"/>
          </p:cNvPicPr>
          <p:nvPr/>
        </p:nvPicPr>
        <p:blipFill>
          <a:blip r:embed="rId2"/>
          <a:stretch>
            <a:fillRect/>
          </a:stretch>
        </p:blipFill>
        <p:spPr>
          <a:xfrm>
            <a:off x="6978845" y="704910"/>
            <a:ext cx="4569482" cy="769726"/>
          </a:xfrm>
          <a:prstGeom prst="rect">
            <a:avLst/>
          </a:prstGeom>
        </p:spPr>
      </p:pic>
      <p:sp>
        <p:nvSpPr>
          <p:cNvPr id="4" name="Rectangle 1">
            <a:extLst>
              <a:ext uri="{FF2B5EF4-FFF2-40B4-BE49-F238E27FC236}">
                <a16:creationId xmlns:a16="http://schemas.microsoft.com/office/drawing/2014/main" id="{340899F7-388A-041D-A36A-B2B3EF3B2E80}"/>
              </a:ext>
            </a:extLst>
          </p:cNvPr>
          <p:cNvSpPr>
            <a:spLocks noChangeArrowheads="1"/>
          </p:cNvSpPr>
          <p:nvPr/>
        </p:nvSpPr>
        <p:spPr bwMode="auto">
          <a:xfrm>
            <a:off x="897061" y="4422339"/>
            <a:ext cx="6067425" cy="1846659"/>
          </a:xfrm>
          <a:prstGeom prst="rect">
            <a:avLst/>
          </a:prstGeom>
          <a:noFill/>
          <a:ln>
            <a:noFill/>
          </a:ln>
          <a:effec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he-IL" altLang="he-IL" sz="2400" b="0" i="0" u="none" strike="noStrike" cap="none" normalizeH="0" baseline="0" dirty="0">
                <a:ln>
                  <a:noFill/>
                </a:ln>
                <a:effectLst/>
                <a:latin typeface="+mn-lt"/>
              </a:rPr>
              <a:t>To use with statement in user defined </a:t>
            </a:r>
            <a:r>
              <a:rPr kumimoji="0" lang="he-IL" altLang="he-IL" sz="2400" i="0" u="none" strike="noStrike" cap="none" normalizeH="0" baseline="0" dirty="0">
                <a:ln>
                  <a:noFill/>
                </a:ln>
                <a:effectLst/>
                <a:latin typeface="+mn-lt"/>
              </a:rPr>
              <a:t>objects you only need to add the methods __enter__() and __exit__() in the object methods. Consider the following example for further clarification. </a:t>
            </a:r>
          </a:p>
        </p:txBody>
      </p:sp>
      <p:pic>
        <p:nvPicPr>
          <p:cNvPr id="9" name="תמונה 8">
            <a:extLst>
              <a:ext uri="{FF2B5EF4-FFF2-40B4-BE49-F238E27FC236}">
                <a16:creationId xmlns:a16="http://schemas.microsoft.com/office/drawing/2014/main" id="{CD01B590-F1E7-7B4F-1737-D1DACA1C59AD}"/>
              </a:ext>
            </a:extLst>
          </p:cNvPr>
          <p:cNvPicPr>
            <a:picLocks noChangeAspect="1"/>
          </p:cNvPicPr>
          <p:nvPr/>
        </p:nvPicPr>
        <p:blipFill>
          <a:blip r:embed="rId3"/>
          <a:stretch>
            <a:fillRect/>
          </a:stretch>
        </p:blipFill>
        <p:spPr>
          <a:xfrm>
            <a:off x="6885306" y="2440237"/>
            <a:ext cx="4663021" cy="4039206"/>
          </a:xfrm>
          <a:prstGeom prst="rect">
            <a:avLst/>
          </a:prstGeom>
        </p:spPr>
      </p:pic>
    </p:spTree>
    <p:extLst>
      <p:ext uri="{BB962C8B-B14F-4D97-AF65-F5344CB8AC3E}">
        <p14:creationId xmlns:p14="http://schemas.microsoft.com/office/powerpoint/2010/main" val="3821261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69743" y="2807035"/>
            <a:ext cx="9852514" cy="1243930"/>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pPr algn="ctr"/>
            <a:r>
              <a:rPr lang="en-US" sz="8000" dirty="0"/>
              <a:t>Python Inheritance</a:t>
            </a:r>
          </a:p>
        </p:txBody>
      </p:sp>
    </p:spTree>
    <p:extLst>
      <p:ext uri="{BB962C8B-B14F-4D97-AF65-F5344CB8AC3E}">
        <p14:creationId xmlns:p14="http://schemas.microsoft.com/office/powerpoint/2010/main" val="4170262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906FE1B2-225B-7CC9-2CAE-C4B1B7E0B8A1}"/>
              </a:ext>
            </a:extLst>
          </p:cNvPr>
          <p:cNvSpPr txBox="1"/>
          <p:nvPr/>
        </p:nvSpPr>
        <p:spPr>
          <a:xfrm>
            <a:off x="239003" y="1085772"/>
            <a:ext cx="6097836" cy="1415772"/>
          </a:xfrm>
          <a:prstGeom prst="rect">
            <a:avLst/>
          </a:prstGeom>
          <a:noFill/>
        </p:spPr>
        <p:txBody>
          <a:bodyPr wrap="square">
            <a:spAutoFit/>
          </a:bodyPr>
          <a:lstStyle/>
          <a:p>
            <a:r>
              <a:rPr lang="en-US" sz="2200" b="1" dirty="0"/>
              <a:t>Create a Parent Class</a:t>
            </a:r>
          </a:p>
          <a:p>
            <a:r>
              <a:rPr lang="en-US" sz="2200" dirty="0"/>
              <a:t>Any class can be a parent class, so the syntax is the same as creating any other class:</a:t>
            </a:r>
          </a:p>
          <a:p>
            <a:endParaRPr lang="en-US" sz="2000" dirty="0"/>
          </a:p>
        </p:txBody>
      </p:sp>
      <p:pic>
        <p:nvPicPr>
          <p:cNvPr id="6" name="Picture 11">
            <a:extLst>
              <a:ext uri="{FF2B5EF4-FFF2-40B4-BE49-F238E27FC236}">
                <a16:creationId xmlns:a16="http://schemas.microsoft.com/office/drawing/2014/main" id="{1264CC85-D5E6-5F1D-7D7B-3A900D1AECB8}"/>
              </a:ext>
            </a:extLst>
          </p:cNvPr>
          <p:cNvPicPr>
            <a:picLocks noChangeAspect="1"/>
          </p:cNvPicPr>
          <p:nvPr/>
        </p:nvPicPr>
        <p:blipFill rotWithShape="1">
          <a:blip r:embed="rId2"/>
          <a:srcRect r="19587"/>
          <a:stretch/>
        </p:blipFill>
        <p:spPr>
          <a:xfrm>
            <a:off x="282858" y="2237568"/>
            <a:ext cx="5525576" cy="2212589"/>
          </a:xfrm>
          <a:prstGeom prst="rect">
            <a:avLst/>
          </a:prstGeom>
        </p:spPr>
      </p:pic>
      <p:sp>
        <p:nvSpPr>
          <p:cNvPr id="8" name="תיבת טקסט 7">
            <a:extLst>
              <a:ext uri="{FF2B5EF4-FFF2-40B4-BE49-F238E27FC236}">
                <a16:creationId xmlns:a16="http://schemas.microsoft.com/office/drawing/2014/main" id="{50B4F66A-552D-6CC3-A355-70C030445CF8}"/>
              </a:ext>
            </a:extLst>
          </p:cNvPr>
          <p:cNvSpPr txBox="1"/>
          <p:nvPr/>
        </p:nvSpPr>
        <p:spPr>
          <a:xfrm>
            <a:off x="239617" y="4771387"/>
            <a:ext cx="6097836" cy="400110"/>
          </a:xfrm>
          <a:prstGeom prst="rect">
            <a:avLst/>
          </a:prstGeom>
          <a:noFill/>
        </p:spPr>
        <p:txBody>
          <a:bodyPr wrap="square">
            <a:spAutoFit/>
          </a:bodyPr>
          <a:lstStyle/>
          <a:p>
            <a:r>
              <a:rPr lang="en-US" sz="2000" b="1" dirty="0"/>
              <a:t>Create a Child Class</a:t>
            </a:r>
          </a:p>
        </p:txBody>
      </p:sp>
      <p:pic>
        <p:nvPicPr>
          <p:cNvPr id="10" name="תמונה 9">
            <a:extLst>
              <a:ext uri="{FF2B5EF4-FFF2-40B4-BE49-F238E27FC236}">
                <a16:creationId xmlns:a16="http://schemas.microsoft.com/office/drawing/2014/main" id="{4A2D0E2E-3778-9809-F0DF-32BE38A46722}"/>
              </a:ext>
            </a:extLst>
          </p:cNvPr>
          <p:cNvPicPr>
            <a:picLocks noChangeAspect="1"/>
          </p:cNvPicPr>
          <p:nvPr/>
        </p:nvPicPr>
        <p:blipFill>
          <a:blip r:embed="rId3"/>
          <a:stretch>
            <a:fillRect/>
          </a:stretch>
        </p:blipFill>
        <p:spPr>
          <a:xfrm>
            <a:off x="209324" y="5537037"/>
            <a:ext cx="6097835" cy="791507"/>
          </a:xfrm>
          <a:prstGeom prst="rect">
            <a:avLst/>
          </a:prstGeom>
        </p:spPr>
      </p:pic>
      <p:pic>
        <p:nvPicPr>
          <p:cNvPr id="11" name="Picture 17">
            <a:extLst>
              <a:ext uri="{FF2B5EF4-FFF2-40B4-BE49-F238E27FC236}">
                <a16:creationId xmlns:a16="http://schemas.microsoft.com/office/drawing/2014/main" id="{19A6731B-20F8-7E6E-E4B1-746DF0B691F6}"/>
              </a:ext>
            </a:extLst>
          </p:cNvPr>
          <p:cNvPicPr>
            <a:picLocks noChangeAspect="1"/>
          </p:cNvPicPr>
          <p:nvPr/>
        </p:nvPicPr>
        <p:blipFill>
          <a:blip r:embed="rId4"/>
          <a:stretch>
            <a:fillRect/>
          </a:stretch>
        </p:blipFill>
        <p:spPr>
          <a:xfrm>
            <a:off x="7291403" y="3675452"/>
            <a:ext cx="4749116" cy="738177"/>
          </a:xfrm>
          <a:prstGeom prst="rect">
            <a:avLst/>
          </a:prstGeom>
        </p:spPr>
      </p:pic>
      <p:sp>
        <p:nvSpPr>
          <p:cNvPr id="13" name="תיבת טקסט 12">
            <a:extLst>
              <a:ext uri="{FF2B5EF4-FFF2-40B4-BE49-F238E27FC236}">
                <a16:creationId xmlns:a16="http://schemas.microsoft.com/office/drawing/2014/main" id="{9FFA895C-BE6A-A5F2-7722-2C839BD96BE1}"/>
              </a:ext>
            </a:extLst>
          </p:cNvPr>
          <p:cNvSpPr txBox="1"/>
          <p:nvPr/>
        </p:nvSpPr>
        <p:spPr>
          <a:xfrm>
            <a:off x="7721792" y="2945609"/>
            <a:ext cx="3888337" cy="646331"/>
          </a:xfrm>
          <a:prstGeom prst="rect">
            <a:avLst/>
          </a:prstGeom>
          <a:noFill/>
        </p:spPr>
        <p:txBody>
          <a:bodyPr wrap="square">
            <a:spAutoFit/>
          </a:bodyPr>
          <a:lstStyle/>
          <a:p>
            <a:pPr marL="0" algn="l" rtl="0" eaLnBrk="1" latinLnBrk="0" hangingPunct="1">
              <a:spcBef>
                <a:spcPts val="0"/>
              </a:spcBef>
              <a:spcAft>
                <a:spcPts val="0"/>
              </a:spcAft>
            </a:pPr>
            <a:r>
              <a:rPr lang="en-US" sz="1800" b="1" kern="1200" dirty="0">
                <a:solidFill>
                  <a:srgbClr val="FFFFFF"/>
                </a:solidFill>
                <a:effectLst/>
                <a:latin typeface="Rockwell" panose="02060603020205020403" pitchFamily="18" charset="0"/>
                <a:ea typeface="+mn-ea"/>
                <a:cs typeface="+mn-cs"/>
              </a:rPr>
              <a:t>Create a </a:t>
            </a:r>
            <a:r>
              <a:rPr lang="en-US" b="1" dirty="0">
                <a:solidFill>
                  <a:srgbClr val="FFFFFF"/>
                </a:solidFill>
                <a:latin typeface="Rockwell" panose="02060603020205020403" pitchFamily="18" charset="0"/>
              </a:rPr>
              <a:t>student (and person)</a:t>
            </a:r>
            <a:r>
              <a:rPr lang="en-US" sz="1800" b="1" kern="1200" dirty="0">
                <a:solidFill>
                  <a:srgbClr val="FFFFFF"/>
                </a:solidFill>
                <a:effectLst/>
                <a:latin typeface="Rockwell" panose="02060603020205020403" pitchFamily="18" charset="0"/>
                <a:ea typeface="+mn-ea"/>
                <a:cs typeface="+mn-cs"/>
              </a:rPr>
              <a:t> instance</a:t>
            </a:r>
            <a:endParaRPr lang="he-IL" dirty="0">
              <a:effectLst/>
            </a:endParaRPr>
          </a:p>
        </p:txBody>
      </p:sp>
      <p:cxnSp>
        <p:nvCxnSpPr>
          <p:cNvPr id="15" name="מחבר חץ ישר 14">
            <a:extLst>
              <a:ext uri="{FF2B5EF4-FFF2-40B4-BE49-F238E27FC236}">
                <a16:creationId xmlns:a16="http://schemas.microsoft.com/office/drawing/2014/main" id="{4F0C216C-EE56-F7DD-F460-7FBE0FC6369B}"/>
              </a:ext>
            </a:extLst>
          </p:cNvPr>
          <p:cNvCxnSpPr>
            <a:cxnSpLocks/>
          </p:cNvCxnSpPr>
          <p:nvPr/>
        </p:nvCxnSpPr>
        <p:spPr>
          <a:xfrm>
            <a:off x="5940424" y="3360073"/>
            <a:ext cx="1157195" cy="76885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מחבר חץ ישר 15">
            <a:extLst>
              <a:ext uri="{FF2B5EF4-FFF2-40B4-BE49-F238E27FC236}">
                <a16:creationId xmlns:a16="http://schemas.microsoft.com/office/drawing/2014/main" id="{D52597F9-FBA5-F94C-A3E2-05FF4674DFD1}"/>
              </a:ext>
            </a:extLst>
          </p:cNvPr>
          <p:cNvCxnSpPr>
            <a:cxnSpLocks/>
          </p:cNvCxnSpPr>
          <p:nvPr/>
        </p:nvCxnSpPr>
        <p:spPr>
          <a:xfrm flipV="1">
            <a:off x="6036456" y="4345601"/>
            <a:ext cx="990966" cy="92151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0" name="object 2">
            <a:extLst>
              <a:ext uri="{FF2B5EF4-FFF2-40B4-BE49-F238E27FC236}">
                <a16:creationId xmlns:a16="http://schemas.microsoft.com/office/drawing/2014/main" id="{2B883D10-167A-AFD3-C5B9-3457F551179D}"/>
              </a:ext>
            </a:extLst>
          </p:cNvPr>
          <p:cNvSpPr txBox="1"/>
          <p:nvPr/>
        </p:nvSpPr>
        <p:spPr>
          <a:xfrm>
            <a:off x="415206" y="225728"/>
            <a:ext cx="10210800" cy="62837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sz="4000" dirty="0"/>
              <a:t>Python Inheritance</a:t>
            </a:r>
          </a:p>
        </p:txBody>
      </p:sp>
    </p:spTree>
    <p:extLst>
      <p:ext uri="{BB962C8B-B14F-4D97-AF65-F5344CB8AC3E}">
        <p14:creationId xmlns:p14="http://schemas.microsoft.com/office/powerpoint/2010/main" val="4215447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4695" y="157436"/>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Abstract Classes in Python</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469900" y="837868"/>
            <a:ext cx="11165698" cy="4370427"/>
          </a:xfrm>
          <a:prstGeom prst="rect">
            <a:avLst/>
          </a:prstGeom>
          <a:noFill/>
        </p:spPr>
        <p:txBody>
          <a:bodyPr wrap="square">
            <a:spAutoFit/>
          </a:bodyPr>
          <a:lstStyle/>
          <a:p>
            <a:r>
              <a:rPr lang="en-US" sz="2000" dirty="0"/>
              <a:t>An abstract class can be considered as a blueprint for other classes. It allows you to create a set of methods that must be created within any child classes built from the abstract class. A class which contains one or more abstract methods is called an abstract class. An abstract method is a method that has a declaration but does not have an implementation. While we are designing large functional units we use an abstract class. When we want to provide a common interface for different implementations of a component, we use an abstract class.</a:t>
            </a:r>
          </a:p>
          <a:p>
            <a:endParaRPr lang="en-US" sz="2000" dirty="0"/>
          </a:p>
          <a:p>
            <a:r>
              <a:rPr lang="en-US" sz="2000" dirty="0"/>
              <a:t>How Abstract Base classes work :</a:t>
            </a:r>
          </a:p>
          <a:p>
            <a:r>
              <a:rPr lang="en-US" sz="2000" dirty="0"/>
              <a:t>By default, Python does not provide abstract classes. Python comes with a module which provides the base for defining Abstract Base classes(ABC) and that module name is ABC. ABC works by decorating methods of the base class as abstract and then registering concrete classes as implementations of the abstract base. A method becomes abstract when decorated with the keyword @abstractmethod. </a:t>
            </a:r>
            <a:endParaRPr lang="en-US" sz="2400" dirty="0"/>
          </a:p>
          <a:p>
            <a:r>
              <a:rPr lang="en-US" sz="2000" dirty="0"/>
              <a:t> </a:t>
            </a:r>
          </a:p>
        </p:txBody>
      </p:sp>
      <p:pic>
        <p:nvPicPr>
          <p:cNvPr id="5" name="Picture 4">
            <a:extLst>
              <a:ext uri="{FF2B5EF4-FFF2-40B4-BE49-F238E27FC236}">
                <a16:creationId xmlns:a16="http://schemas.microsoft.com/office/drawing/2014/main" id="{305D7FD3-E44E-40DF-888F-3C43465D911D}"/>
              </a:ext>
            </a:extLst>
          </p:cNvPr>
          <p:cNvPicPr>
            <a:picLocks noChangeAspect="1"/>
          </p:cNvPicPr>
          <p:nvPr/>
        </p:nvPicPr>
        <p:blipFill>
          <a:blip r:embed="rId2"/>
          <a:stretch>
            <a:fillRect/>
          </a:stretch>
        </p:blipFill>
        <p:spPr>
          <a:xfrm>
            <a:off x="556402" y="4976158"/>
            <a:ext cx="4169171" cy="1638239"/>
          </a:xfrm>
          <a:prstGeom prst="rect">
            <a:avLst/>
          </a:prstGeom>
        </p:spPr>
      </p:pic>
    </p:spTree>
    <p:extLst>
      <p:ext uri="{BB962C8B-B14F-4D97-AF65-F5344CB8AC3E}">
        <p14:creationId xmlns:p14="http://schemas.microsoft.com/office/powerpoint/2010/main" val="2524427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4695" y="356966"/>
            <a:ext cx="10210800" cy="566822"/>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sz="3600" dirty="0"/>
              <a:t>Python Inheritance</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110170" y="1090502"/>
            <a:ext cx="11487470" cy="4093428"/>
          </a:xfrm>
          <a:prstGeom prst="rect">
            <a:avLst/>
          </a:prstGeom>
          <a:noFill/>
        </p:spPr>
        <p:txBody>
          <a:bodyPr wrap="square">
            <a:spAutoFit/>
          </a:bodyPr>
          <a:lstStyle/>
          <a:p>
            <a:r>
              <a:rPr lang="en-US" dirty="0"/>
              <a:t>Add the </a:t>
            </a:r>
            <a:r>
              <a:rPr lang="en-US" dirty="0">
                <a:solidFill>
                  <a:schemeClr val="accent3"/>
                </a:solidFill>
              </a:rPr>
              <a:t>__</a:t>
            </a:r>
            <a:r>
              <a:rPr lang="en-US" dirty="0" err="1">
                <a:solidFill>
                  <a:schemeClr val="accent3"/>
                </a:solidFill>
              </a:rPr>
              <a:t>init</a:t>
            </a:r>
            <a:r>
              <a:rPr lang="en-US" dirty="0">
                <a:solidFill>
                  <a:schemeClr val="accent3"/>
                </a:solidFill>
              </a:rPr>
              <a:t>__() </a:t>
            </a:r>
            <a:r>
              <a:rPr lang="en-US" dirty="0"/>
              <a:t>Function</a:t>
            </a:r>
          </a:p>
          <a:p>
            <a:r>
              <a:rPr lang="en-US" dirty="0"/>
              <a:t>So far, we have created a child class that inherits the properties and methods from its parent.</a:t>
            </a:r>
          </a:p>
          <a:p>
            <a:r>
              <a:rPr lang="en-US" dirty="0"/>
              <a:t>We want to add the </a:t>
            </a:r>
            <a:r>
              <a:rPr lang="en-US" dirty="0">
                <a:solidFill>
                  <a:schemeClr val="accent3"/>
                </a:solidFill>
              </a:rPr>
              <a:t>__</a:t>
            </a:r>
            <a:r>
              <a:rPr lang="en-US" dirty="0" err="1">
                <a:solidFill>
                  <a:schemeClr val="accent3"/>
                </a:solidFill>
              </a:rPr>
              <a:t>init</a:t>
            </a:r>
            <a:r>
              <a:rPr lang="en-US" dirty="0">
                <a:solidFill>
                  <a:schemeClr val="accent3"/>
                </a:solidFill>
              </a:rPr>
              <a:t>__() </a:t>
            </a:r>
            <a:r>
              <a:rPr lang="en-US" dirty="0"/>
              <a:t>function to the child class (instead of the pass keyword).</a:t>
            </a:r>
            <a:endParaRPr lang="ru-RU" dirty="0"/>
          </a:p>
          <a:p>
            <a:endParaRPr lang="ru-RU" dirty="0"/>
          </a:p>
          <a:p>
            <a:endParaRPr lang="ru-RU" dirty="0"/>
          </a:p>
          <a:p>
            <a:endParaRPr lang="ru-RU" sz="1600" dirty="0"/>
          </a:p>
          <a:p>
            <a:endParaRPr lang="ru-RU" sz="1600" dirty="0"/>
          </a:p>
          <a:p>
            <a:endParaRPr lang="ru-RU" sz="1600" dirty="0"/>
          </a:p>
          <a:p>
            <a:endParaRPr lang="en-US" sz="1600" dirty="0"/>
          </a:p>
          <a:p>
            <a:r>
              <a:rPr lang="en-US" dirty="0"/>
              <a:t>When you add the </a:t>
            </a:r>
            <a:r>
              <a:rPr lang="en-US" dirty="0">
                <a:solidFill>
                  <a:schemeClr val="accent6">
                    <a:lumMod val="75000"/>
                  </a:schemeClr>
                </a:solidFill>
              </a:rPr>
              <a:t>_</a:t>
            </a:r>
            <a:r>
              <a:rPr lang="en-US" dirty="0">
                <a:solidFill>
                  <a:schemeClr val="accent3"/>
                </a:solidFill>
              </a:rPr>
              <a:t>_</a:t>
            </a:r>
            <a:r>
              <a:rPr lang="en-US" dirty="0" err="1">
                <a:solidFill>
                  <a:schemeClr val="accent3"/>
                </a:solidFill>
              </a:rPr>
              <a:t>init</a:t>
            </a:r>
            <a:r>
              <a:rPr lang="en-US" dirty="0">
                <a:solidFill>
                  <a:schemeClr val="accent3"/>
                </a:solidFill>
              </a:rPr>
              <a:t>__() </a:t>
            </a:r>
            <a:r>
              <a:rPr lang="en-US" dirty="0"/>
              <a:t>function, the child class will no longer inherit the parent's __</a:t>
            </a:r>
            <a:r>
              <a:rPr lang="en-US" dirty="0" err="1"/>
              <a:t>init</a:t>
            </a:r>
            <a:r>
              <a:rPr lang="en-US" dirty="0"/>
              <a:t>__() function.</a:t>
            </a:r>
          </a:p>
          <a:p>
            <a:endParaRPr lang="en-US" dirty="0"/>
          </a:p>
          <a:p>
            <a:r>
              <a:rPr lang="en-US" dirty="0"/>
              <a:t>Note: The child's </a:t>
            </a:r>
            <a:r>
              <a:rPr lang="en-US" dirty="0">
                <a:solidFill>
                  <a:schemeClr val="accent3"/>
                </a:solidFill>
              </a:rPr>
              <a:t>__</a:t>
            </a:r>
            <a:r>
              <a:rPr lang="en-US" dirty="0" err="1">
                <a:solidFill>
                  <a:schemeClr val="accent3"/>
                </a:solidFill>
              </a:rPr>
              <a:t>init</a:t>
            </a:r>
            <a:r>
              <a:rPr lang="en-US" dirty="0">
                <a:solidFill>
                  <a:schemeClr val="accent3"/>
                </a:solidFill>
              </a:rPr>
              <a:t>__() </a:t>
            </a:r>
            <a:r>
              <a:rPr lang="en-US" dirty="0"/>
              <a:t>function overrides the inheritance of the parent's __</a:t>
            </a:r>
            <a:r>
              <a:rPr lang="en-US" dirty="0" err="1"/>
              <a:t>init</a:t>
            </a:r>
            <a:r>
              <a:rPr lang="en-US" dirty="0"/>
              <a:t>__() function.</a:t>
            </a:r>
          </a:p>
          <a:p>
            <a:endParaRPr lang="en-US" dirty="0"/>
          </a:p>
          <a:p>
            <a:r>
              <a:rPr lang="en-US" dirty="0"/>
              <a:t>To keep the inheritance of the parent's </a:t>
            </a:r>
            <a:r>
              <a:rPr lang="en-US" dirty="0">
                <a:solidFill>
                  <a:schemeClr val="accent3"/>
                </a:solidFill>
              </a:rPr>
              <a:t>__</a:t>
            </a:r>
            <a:r>
              <a:rPr lang="en-US" dirty="0" err="1">
                <a:solidFill>
                  <a:schemeClr val="accent3"/>
                </a:solidFill>
              </a:rPr>
              <a:t>init</a:t>
            </a:r>
            <a:r>
              <a:rPr lang="en-US" dirty="0">
                <a:solidFill>
                  <a:schemeClr val="accent3"/>
                </a:solidFill>
              </a:rPr>
              <a:t>__() </a:t>
            </a:r>
            <a:r>
              <a:rPr lang="en-US" dirty="0"/>
              <a:t>function, add a call to the parent's __</a:t>
            </a:r>
            <a:r>
              <a:rPr lang="en-US" dirty="0" err="1"/>
              <a:t>init</a:t>
            </a:r>
            <a:r>
              <a:rPr lang="en-US" dirty="0"/>
              <a:t>__() function:</a:t>
            </a:r>
            <a:endParaRPr lang="ru-RU" dirty="0"/>
          </a:p>
          <a:p>
            <a:endParaRPr lang="en-US" sz="1600" dirty="0"/>
          </a:p>
        </p:txBody>
      </p:sp>
      <p:pic>
        <p:nvPicPr>
          <p:cNvPr id="4" name="Picture 3">
            <a:extLst>
              <a:ext uri="{FF2B5EF4-FFF2-40B4-BE49-F238E27FC236}">
                <a16:creationId xmlns:a16="http://schemas.microsoft.com/office/drawing/2014/main" id="{4713C2A3-959E-4C49-BC7A-869C365BE296}"/>
              </a:ext>
            </a:extLst>
          </p:cNvPr>
          <p:cNvPicPr>
            <a:picLocks noChangeAspect="1"/>
          </p:cNvPicPr>
          <p:nvPr/>
        </p:nvPicPr>
        <p:blipFill>
          <a:blip r:embed="rId2"/>
          <a:stretch>
            <a:fillRect/>
          </a:stretch>
        </p:blipFill>
        <p:spPr>
          <a:xfrm>
            <a:off x="734695" y="2084500"/>
            <a:ext cx="4897385" cy="1178464"/>
          </a:xfrm>
          <a:prstGeom prst="rect">
            <a:avLst/>
          </a:prstGeom>
        </p:spPr>
      </p:pic>
      <p:pic>
        <p:nvPicPr>
          <p:cNvPr id="7" name="Picture 6">
            <a:extLst>
              <a:ext uri="{FF2B5EF4-FFF2-40B4-BE49-F238E27FC236}">
                <a16:creationId xmlns:a16="http://schemas.microsoft.com/office/drawing/2014/main" id="{D52DD47D-AEBE-4F30-8FE0-978ABF2A036C}"/>
              </a:ext>
            </a:extLst>
          </p:cNvPr>
          <p:cNvPicPr>
            <a:picLocks noChangeAspect="1"/>
          </p:cNvPicPr>
          <p:nvPr/>
        </p:nvPicPr>
        <p:blipFill>
          <a:blip r:embed="rId3"/>
          <a:stretch>
            <a:fillRect/>
          </a:stretch>
        </p:blipFill>
        <p:spPr>
          <a:xfrm>
            <a:off x="250211" y="5436564"/>
            <a:ext cx="5478966" cy="1209018"/>
          </a:xfrm>
          <a:prstGeom prst="rect">
            <a:avLst/>
          </a:prstGeom>
        </p:spPr>
      </p:pic>
      <p:pic>
        <p:nvPicPr>
          <p:cNvPr id="11" name="Picture 10">
            <a:extLst>
              <a:ext uri="{FF2B5EF4-FFF2-40B4-BE49-F238E27FC236}">
                <a16:creationId xmlns:a16="http://schemas.microsoft.com/office/drawing/2014/main" id="{83E72F69-5683-4BFC-91F6-A59A1555169F}"/>
              </a:ext>
            </a:extLst>
          </p:cNvPr>
          <p:cNvPicPr>
            <a:picLocks noChangeAspect="1"/>
          </p:cNvPicPr>
          <p:nvPr/>
        </p:nvPicPr>
        <p:blipFill>
          <a:blip r:embed="rId4"/>
          <a:stretch>
            <a:fillRect/>
          </a:stretch>
        </p:blipFill>
        <p:spPr>
          <a:xfrm>
            <a:off x="6239436" y="5456063"/>
            <a:ext cx="5217869" cy="1209018"/>
          </a:xfrm>
          <a:prstGeom prst="rect">
            <a:avLst/>
          </a:prstGeom>
        </p:spPr>
      </p:pic>
    </p:spTree>
    <p:extLst>
      <p:ext uri="{BB962C8B-B14F-4D97-AF65-F5344CB8AC3E}">
        <p14:creationId xmlns:p14="http://schemas.microsoft.com/office/powerpoint/2010/main" val="24710359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4695" y="199563"/>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a:t>
            </a:r>
            <a:r>
              <a:rPr lang="en-US" dirty="0" err="1"/>
              <a:t>args</a:t>
            </a:r>
            <a:r>
              <a:rPr lang="en-US" dirty="0"/>
              <a:t> and **</a:t>
            </a:r>
            <a:r>
              <a:rPr lang="en-US" dirty="0" err="1"/>
              <a:t>kwargs</a:t>
            </a:r>
            <a:r>
              <a:rPr lang="en-US" dirty="0"/>
              <a:t> in Python</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734695" y="1056792"/>
            <a:ext cx="9129622" cy="10187404"/>
          </a:xfrm>
          <a:prstGeom prst="rect">
            <a:avLst/>
          </a:prstGeom>
          <a:noFill/>
        </p:spPr>
        <p:txBody>
          <a:bodyPr wrap="square">
            <a:spAutoFit/>
          </a:bodyPr>
          <a:lstStyle/>
          <a:p>
            <a:r>
              <a:rPr lang="en-US" sz="2000" dirty="0"/>
              <a:t>In Python, we can pass a variable number of arguments to a function using special symbols. There are two special symbols:</a:t>
            </a:r>
          </a:p>
          <a:p>
            <a:r>
              <a:rPr lang="en-US" sz="2000" dirty="0"/>
              <a:t>1. *</a:t>
            </a:r>
            <a:r>
              <a:rPr lang="en-US" sz="2000" dirty="0" err="1"/>
              <a:t>args</a:t>
            </a:r>
            <a:r>
              <a:rPr lang="en-US" sz="2000" dirty="0"/>
              <a:t> (Non-Keyword Arguments)</a:t>
            </a:r>
          </a:p>
          <a:p>
            <a:r>
              <a:rPr lang="en-US" sz="2000" dirty="0"/>
              <a:t>2. **</a:t>
            </a:r>
            <a:r>
              <a:rPr lang="en-US" sz="2000" dirty="0" err="1"/>
              <a:t>kwargs</a:t>
            </a:r>
            <a:r>
              <a:rPr lang="en-US" sz="2000" dirty="0"/>
              <a:t> (Keyword Arguments)</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hlinkClick r:id="rId2"/>
            </a:endParaRPr>
          </a:p>
          <a:p>
            <a:r>
              <a:rPr lang="en-US" sz="1600" dirty="0">
                <a:hlinkClick r:id="rId2"/>
              </a:rPr>
              <a:t>https://www.geeksforgeeks.org/args-kwargs-python/</a:t>
            </a:r>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p:txBody>
      </p:sp>
      <p:pic>
        <p:nvPicPr>
          <p:cNvPr id="9" name="Picture 8">
            <a:extLst>
              <a:ext uri="{FF2B5EF4-FFF2-40B4-BE49-F238E27FC236}">
                <a16:creationId xmlns:a16="http://schemas.microsoft.com/office/drawing/2014/main" id="{47B65CE6-2254-4D61-A2E8-A44A55EA6FB8}"/>
              </a:ext>
            </a:extLst>
          </p:cNvPr>
          <p:cNvPicPr>
            <a:picLocks noChangeAspect="1"/>
          </p:cNvPicPr>
          <p:nvPr/>
        </p:nvPicPr>
        <p:blipFill>
          <a:blip r:embed="rId3"/>
          <a:stretch>
            <a:fillRect/>
          </a:stretch>
        </p:blipFill>
        <p:spPr>
          <a:xfrm>
            <a:off x="797955" y="2480839"/>
            <a:ext cx="5032243" cy="1630820"/>
          </a:xfrm>
          <a:prstGeom prst="rect">
            <a:avLst/>
          </a:prstGeom>
        </p:spPr>
      </p:pic>
      <p:pic>
        <p:nvPicPr>
          <p:cNvPr id="13" name="Picture 12">
            <a:extLst>
              <a:ext uri="{FF2B5EF4-FFF2-40B4-BE49-F238E27FC236}">
                <a16:creationId xmlns:a16="http://schemas.microsoft.com/office/drawing/2014/main" id="{A1A83CBA-51F7-4986-B910-C5F6E630A34D}"/>
              </a:ext>
            </a:extLst>
          </p:cNvPr>
          <p:cNvPicPr>
            <a:picLocks noChangeAspect="1"/>
          </p:cNvPicPr>
          <p:nvPr/>
        </p:nvPicPr>
        <p:blipFill>
          <a:blip r:embed="rId4"/>
          <a:stretch>
            <a:fillRect/>
          </a:stretch>
        </p:blipFill>
        <p:spPr>
          <a:xfrm>
            <a:off x="6193574" y="2527417"/>
            <a:ext cx="1653683" cy="937341"/>
          </a:xfrm>
          <a:prstGeom prst="rect">
            <a:avLst/>
          </a:prstGeom>
        </p:spPr>
      </p:pic>
      <p:pic>
        <p:nvPicPr>
          <p:cNvPr id="18" name="Picture 17">
            <a:extLst>
              <a:ext uri="{FF2B5EF4-FFF2-40B4-BE49-F238E27FC236}">
                <a16:creationId xmlns:a16="http://schemas.microsoft.com/office/drawing/2014/main" id="{829D6A0C-2C41-4D2C-B0E7-D730A92CBF24}"/>
              </a:ext>
            </a:extLst>
          </p:cNvPr>
          <p:cNvPicPr>
            <a:picLocks noChangeAspect="1"/>
          </p:cNvPicPr>
          <p:nvPr/>
        </p:nvPicPr>
        <p:blipFill>
          <a:blip r:embed="rId5"/>
          <a:stretch>
            <a:fillRect/>
          </a:stretch>
        </p:blipFill>
        <p:spPr>
          <a:xfrm>
            <a:off x="797954" y="4330583"/>
            <a:ext cx="4490325" cy="1993630"/>
          </a:xfrm>
          <a:prstGeom prst="rect">
            <a:avLst/>
          </a:prstGeom>
        </p:spPr>
      </p:pic>
      <p:pic>
        <p:nvPicPr>
          <p:cNvPr id="20" name="Picture 19">
            <a:extLst>
              <a:ext uri="{FF2B5EF4-FFF2-40B4-BE49-F238E27FC236}">
                <a16:creationId xmlns:a16="http://schemas.microsoft.com/office/drawing/2014/main" id="{8E1E8F68-64C2-4CCA-B7FE-32204D877331}"/>
              </a:ext>
            </a:extLst>
          </p:cNvPr>
          <p:cNvPicPr>
            <a:picLocks noChangeAspect="1"/>
          </p:cNvPicPr>
          <p:nvPr/>
        </p:nvPicPr>
        <p:blipFill>
          <a:blip r:embed="rId6"/>
          <a:stretch>
            <a:fillRect/>
          </a:stretch>
        </p:blipFill>
        <p:spPr>
          <a:xfrm>
            <a:off x="5930473" y="4330583"/>
            <a:ext cx="2491956" cy="1112616"/>
          </a:xfrm>
          <a:prstGeom prst="rect">
            <a:avLst/>
          </a:prstGeom>
        </p:spPr>
      </p:pic>
    </p:spTree>
    <p:extLst>
      <p:ext uri="{BB962C8B-B14F-4D97-AF65-F5344CB8AC3E}">
        <p14:creationId xmlns:p14="http://schemas.microsoft.com/office/powerpoint/2010/main" val="6750394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6945" y="350375"/>
            <a:ext cx="10210800" cy="62837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sz="4000" dirty="0"/>
              <a:t>Python - Iterator</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616945" y="1295400"/>
            <a:ext cx="11237204" cy="5262979"/>
          </a:xfrm>
          <a:prstGeom prst="rect">
            <a:avLst/>
          </a:prstGeom>
          <a:noFill/>
        </p:spPr>
        <p:txBody>
          <a:bodyPr wrap="square">
            <a:spAutoFit/>
          </a:bodyPr>
          <a:lstStyle/>
          <a:p>
            <a:r>
              <a:rPr lang="en-US" sz="2400" dirty="0"/>
              <a:t>iterators are everywhere in Python. They are elegantly implemented within for loops, comprehensions, generators etc. but are hidden in plain sight.</a:t>
            </a:r>
          </a:p>
          <a:p>
            <a:endParaRPr lang="en-US" sz="2400" dirty="0"/>
          </a:p>
          <a:p>
            <a:r>
              <a:rPr lang="en-US" sz="2400" dirty="0"/>
              <a:t>Iterator in Python is simply an object that can be iterated upon. An object which will return data, one element at a time.</a:t>
            </a:r>
          </a:p>
          <a:p>
            <a:endParaRPr lang="en-US" sz="2400" dirty="0"/>
          </a:p>
          <a:p>
            <a:r>
              <a:rPr lang="en-US" sz="2400" dirty="0"/>
              <a:t>Technically speaking, a Python iterator object must implement two special methods, </a:t>
            </a:r>
            <a:r>
              <a:rPr lang="en-US" sz="2400" dirty="0">
                <a:solidFill>
                  <a:schemeClr val="accent3"/>
                </a:solidFill>
              </a:rPr>
              <a:t>__iter__() </a:t>
            </a:r>
            <a:r>
              <a:rPr lang="en-US" sz="2400" dirty="0"/>
              <a:t>and </a:t>
            </a:r>
            <a:r>
              <a:rPr lang="en-US" sz="2400" dirty="0">
                <a:solidFill>
                  <a:schemeClr val="accent3"/>
                </a:solidFill>
              </a:rPr>
              <a:t>__next__(), </a:t>
            </a:r>
            <a:r>
              <a:rPr lang="en-US" sz="2400" dirty="0"/>
              <a:t>collectively called the iterator protocol.</a:t>
            </a:r>
          </a:p>
          <a:p>
            <a:endParaRPr lang="en-US" sz="2400" dirty="0"/>
          </a:p>
          <a:p>
            <a:r>
              <a:rPr lang="en-US" sz="2400" dirty="0"/>
              <a:t>An object is called iterable if we can get an iterator from it. Most built-in containers in Python like: list, tuple, string etc. are iterables.</a:t>
            </a:r>
          </a:p>
          <a:p>
            <a:endParaRPr lang="en-US" sz="2400" dirty="0"/>
          </a:p>
          <a:p>
            <a:r>
              <a:rPr lang="en-US" sz="2400" dirty="0"/>
              <a:t>The iter() function (which in turn calls the </a:t>
            </a:r>
            <a:r>
              <a:rPr lang="en-US" sz="2400" dirty="0">
                <a:solidFill>
                  <a:schemeClr val="accent3"/>
                </a:solidFill>
              </a:rPr>
              <a:t>__iter__() </a:t>
            </a:r>
            <a:r>
              <a:rPr lang="en-US" sz="2400" dirty="0"/>
              <a:t>method) returns an iterator from them.</a:t>
            </a:r>
          </a:p>
        </p:txBody>
      </p:sp>
    </p:spTree>
    <p:extLst>
      <p:ext uri="{BB962C8B-B14F-4D97-AF65-F5344CB8AC3E}">
        <p14:creationId xmlns:p14="http://schemas.microsoft.com/office/powerpoint/2010/main" val="290266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25260" y="356966"/>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Python - Iterator</a:t>
            </a: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825259" y="1114867"/>
            <a:ext cx="10797535" cy="1631216"/>
          </a:xfrm>
          <a:prstGeom prst="rect">
            <a:avLst/>
          </a:prstGeom>
          <a:noFill/>
        </p:spPr>
        <p:txBody>
          <a:bodyPr wrap="square">
            <a:spAutoFit/>
          </a:bodyPr>
          <a:lstStyle/>
          <a:p>
            <a:r>
              <a:rPr lang="en-US" sz="2800" b="1" dirty="0"/>
              <a:t>Iterating Through an Iterator</a:t>
            </a:r>
          </a:p>
          <a:p>
            <a:r>
              <a:rPr lang="en-US" sz="2400" dirty="0"/>
              <a:t>We use the next() function to manually iterate through all the items of an iterator. When we reach the end and there is no more data to be returned, it will raise the </a:t>
            </a:r>
            <a:r>
              <a:rPr lang="en-US" sz="2400" dirty="0" err="1"/>
              <a:t>StopIteration</a:t>
            </a:r>
            <a:r>
              <a:rPr lang="en-US" sz="2400" dirty="0"/>
              <a:t> Exception. Following is an example.</a:t>
            </a:r>
          </a:p>
        </p:txBody>
      </p:sp>
      <p:pic>
        <p:nvPicPr>
          <p:cNvPr id="4" name="Picture 3">
            <a:extLst>
              <a:ext uri="{FF2B5EF4-FFF2-40B4-BE49-F238E27FC236}">
                <a16:creationId xmlns:a16="http://schemas.microsoft.com/office/drawing/2014/main" id="{17A54C4E-CE6A-49F6-AA74-38F046F6BA66}"/>
              </a:ext>
            </a:extLst>
          </p:cNvPr>
          <p:cNvPicPr>
            <a:picLocks noChangeAspect="1"/>
          </p:cNvPicPr>
          <p:nvPr/>
        </p:nvPicPr>
        <p:blipFill>
          <a:blip r:embed="rId2"/>
          <a:stretch>
            <a:fillRect/>
          </a:stretch>
        </p:blipFill>
        <p:spPr>
          <a:xfrm>
            <a:off x="825260" y="2972714"/>
            <a:ext cx="3515910" cy="3885286"/>
          </a:xfrm>
          <a:prstGeom prst="rect">
            <a:avLst/>
          </a:prstGeom>
        </p:spPr>
      </p:pic>
      <p:pic>
        <p:nvPicPr>
          <p:cNvPr id="6" name="Picture 5">
            <a:extLst>
              <a:ext uri="{FF2B5EF4-FFF2-40B4-BE49-F238E27FC236}">
                <a16:creationId xmlns:a16="http://schemas.microsoft.com/office/drawing/2014/main" id="{7D853114-94FB-404E-AE64-C613DB0FF167}"/>
              </a:ext>
            </a:extLst>
          </p:cNvPr>
          <p:cNvPicPr>
            <a:picLocks noChangeAspect="1"/>
          </p:cNvPicPr>
          <p:nvPr/>
        </p:nvPicPr>
        <p:blipFill>
          <a:blip r:embed="rId3"/>
          <a:stretch>
            <a:fillRect/>
          </a:stretch>
        </p:blipFill>
        <p:spPr>
          <a:xfrm>
            <a:off x="4833433" y="3074352"/>
            <a:ext cx="3901778" cy="2141406"/>
          </a:xfrm>
          <a:prstGeom prst="rect">
            <a:avLst/>
          </a:prstGeom>
        </p:spPr>
      </p:pic>
    </p:spTree>
    <p:extLst>
      <p:ext uri="{BB962C8B-B14F-4D97-AF65-F5344CB8AC3E}">
        <p14:creationId xmlns:p14="http://schemas.microsoft.com/office/powerpoint/2010/main" val="1827483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4695" y="151918"/>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Python - Iterator</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734695" y="758437"/>
            <a:ext cx="9129622" cy="7448193"/>
          </a:xfrm>
          <a:prstGeom prst="rect">
            <a:avLst/>
          </a:prstGeom>
          <a:noFill/>
        </p:spPr>
        <p:txBody>
          <a:bodyPr wrap="square">
            <a:spAutoFit/>
          </a:bodyPr>
          <a:lstStyle/>
          <a:p>
            <a:r>
              <a:rPr lang="en-US" dirty="0"/>
              <a:t>Iterating Through an Iterator</a:t>
            </a:r>
          </a:p>
          <a:p>
            <a:r>
              <a:rPr lang="en-US" dirty="0"/>
              <a:t>We use the next() function to manually iterate through all the items of an iterator. When we reach the end and there is no more data to be returned, it will raise the </a:t>
            </a:r>
            <a:r>
              <a:rPr lang="en-US" dirty="0" err="1"/>
              <a:t>StopIteration</a:t>
            </a:r>
            <a:r>
              <a:rPr lang="en-US" dirty="0"/>
              <a:t> Exception. Following is an example.</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r>
              <a:rPr lang="en-US" dirty="0"/>
              <a:t>A more elegant way of automatically iterating is by using the for loop. </a:t>
            </a:r>
          </a:p>
          <a:p>
            <a:r>
              <a:rPr lang="en-US" dirty="0"/>
              <a:t>Using this, we can iterate over any object that can return an iterator, </a:t>
            </a:r>
          </a:p>
          <a:p>
            <a:r>
              <a:rPr lang="en-US" dirty="0"/>
              <a:t>for example list, string, file etc.</a:t>
            </a:r>
          </a:p>
          <a:p>
            <a:endParaRPr lang="en-US" sz="1600" dirty="0"/>
          </a:p>
          <a:p>
            <a:endParaRPr lang="en-US" sz="1600" dirty="0"/>
          </a:p>
          <a:p>
            <a:endParaRPr lang="en-US" sz="1600" dirty="0"/>
          </a:p>
          <a:p>
            <a:endParaRPr lang="en-US" sz="1600" dirty="0"/>
          </a:p>
          <a:p>
            <a:endParaRPr lang="en-US" sz="1600" dirty="0"/>
          </a:p>
          <a:p>
            <a:endParaRPr lang="en-US" sz="1600" dirty="0"/>
          </a:p>
        </p:txBody>
      </p:sp>
      <p:pic>
        <p:nvPicPr>
          <p:cNvPr id="4" name="Picture 3">
            <a:extLst>
              <a:ext uri="{FF2B5EF4-FFF2-40B4-BE49-F238E27FC236}">
                <a16:creationId xmlns:a16="http://schemas.microsoft.com/office/drawing/2014/main" id="{17A54C4E-CE6A-49F6-AA74-38F046F6BA66}"/>
              </a:ext>
            </a:extLst>
          </p:cNvPr>
          <p:cNvPicPr>
            <a:picLocks noChangeAspect="1"/>
          </p:cNvPicPr>
          <p:nvPr/>
        </p:nvPicPr>
        <p:blipFill>
          <a:blip r:embed="rId2"/>
          <a:stretch>
            <a:fillRect/>
          </a:stretch>
        </p:blipFill>
        <p:spPr>
          <a:xfrm>
            <a:off x="934477" y="2017794"/>
            <a:ext cx="3340067" cy="3690970"/>
          </a:xfrm>
          <a:prstGeom prst="rect">
            <a:avLst/>
          </a:prstGeom>
        </p:spPr>
      </p:pic>
      <p:pic>
        <p:nvPicPr>
          <p:cNvPr id="6" name="Picture 5">
            <a:extLst>
              <a:ext uri="{FF2B5EF4-FFF2-40B4-BE49-F238E27FC236}">
                <a16:creationId xmlns:a16="http://schemas.microsoft.com/office/drawing/2014/main" id="{7D853114-94FB-404E-AE64-C613DB0FF167}"/>
              </a:ext>
            </a:extLst>
          </p:cNvPr>
          <p:cNvPicPr>
            <a:picLocks noChangeAspect="1"/>
          </p:cNvPicPr>
          <p:nvPr/>
        </p:nvPicPr>
        <p:blipFill>
          <a:blip r:embed="rId3"/>
          <a:stretch>
            <a:fillRect/>
          </a:stretch>
        </p:blipFill>
        <p:spPr>
          <a:xfrm>
            <a:off x="4424060" y="2017794"/>
            <a:ext cx="4091870" cy="2245734"/>
          </a:xfrm>
          <a:prstGeom prst="rect">
            <a:avLst/>
          </a:prstGeom>
        </p:spPr>
      </p:pic>
      <p:pic>
        <p:nvPicPr>
          <p:cNvPr id="5" name="Picture 4">
            <a:extLst>
              <a:ext uri="{FF2B5EF4-FFF2-40B4-BE49-F238E27FC236}">
                <a16:creationId xmlns:a16="http://schemas.microsoft.com/office/drawing/2014/main" id="{1D2DCB9B-0B70-40C6-9CEC-3C034053787B}"/>
              </a:ext>
            </a:extLst>
          </p:cNvPr>
          <p:cNvPicPr>
            <a:picLocks noChangeAspect="1"/>
          </p:cNvPicPr>
          <p:nvPr/>
        </p:nvPicPr>
        <p:blipFill>
          <a:blip r:embed="rId4"/>
          <a:stretch>
            <a:fillRect/>
          </a:stretch>
        </p:blipFill>
        <p:spPr>
          <a:xfrm>
            <a:off x="8325837" y="4538949"/>
            <a:ext cx="3575559" cy="1936761"/>
          </a:xfrm>
          <a:prstGeom prst="rect">
            <a:avLst/>
          </a:prstGeom>
        </p:spPr>
      </p:pic>
    </p:spTree>
    <p:extLst>
      <p:ext uri="{BB962C8B-B14F-4D97-AF65-F5344CB8AC3E}">
        <p14:creationId xmlns:p14="http://schemas.microsoft.com/office/powerpoint/2010/main" val="3831422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4695" y="332601"/>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Python - Iterator</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734733" y="985421"/>
            <a:ext cx="9129622" cy="11910953"/>
          </a:xfrm>
          <a:prstGeom prst="rect">
            <a:avLst/>
          </a:prstGeom>
          <a:noFill/>
        </p:spPr>
        <p:txBody>
          <a:bodyPr wrap="square">
            <a:spAutoFit/>
          </a:bodyPr>
          <a:lstStyle/>
          <a:p>
            <a:r>
              <a:rPr lang="en-US" sz="1600" dirty="0"/>
              <a:t>Working of for loop for Iterators</a:t>
            </a:r>
          </a:p>
          <a:p>
            <a:r>
              <a:rPr lang="en-US" sz="1600" dirty="0"/>
              <a:t>As we see in the above example, the for loop was able to iterate automatically through the list.</a:t>
            </a:r>
          </a:p>
          <a:p>
            <a:endParaRPr lang="en-US" sz="1600" dirty="0"/>
          </a:p>
          <a:p>
            <a:endParaRPr lang="en-US" sz="1600" dirty="0"/>
          </a:p>
          <a:p>
            <a:endParaRPr lang="en-US" sz="1600" dirty="0"/>
          </a:p>
          <a:p>
            <a:endParaRPr lang="en-US" sz="1600" dirty="0"/>
          </a:p>
          <a:p>
            <a:endParaRPr lang="en-US" sz="1600" dirty="0"/>
          </a:p>
          <a:p>
            <a:r>
              <a:rPr lang="en-US" sz="1600" dirty="0"/>
              <a:t>the for loop can iterate over any iterable. Let's take a closer look at how the for loop is actually implemented in Python.</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r>
              <a:rPr lang="en-US" sz="1600" dirty="0"/>
              <a:t>Ironically, this for loop is actually an infinite while loop.</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p:txBody>
      </p:sp>
      <p:pic>
        <p:nvPicPr>
          <p:cNvPr id="7" name="Picture 6">
            <a:extLst>
              <a:ext uri="{FF2B5EF4-FFF2-40B4-BE49-F238E27FC236}">
                <a16:creationId xmlns:a16="http://schemas.microsoft.com/office/drawing/2014/main" id="{19591780-83E9-427A-95ED-C3D2E208064D}"/>
              </a:ext>
            </a:extLst>
          </p:cNvPr>
          <p:cNvPicPr>
            <a:picLocks noChangeAspect="1"/>
          </p:cNvPicPr>
          <p:nvPr/>
        </p:nvPicPr>
        <p:blipFill>
          <a:blip r:embed="rId2"/>
          <a:stretch>
            <a:fillRect/>
          </a:stretch>
        </p:blipFill>
        <p:spPr>
          <a:xfrm>
            <a:off x="732859" y="1739097"/>
            <a:ext cx="2911092" cy="624894"/>
          </a:xfrm>
          <a:prstGeom prst="rect">
            <a:avLst/>
          </a:prstGeom>
        </p:spPr>
      </p:pic>
      <p:pic>
        <p:nvPicPr>
          <p:cNvPr id="11" name="Picture 10">
            <a:extLst>
              <a:ext uri="{FF2B5EF4-FFF2-40B4-BE49-F238E27FC236}">
                <a16:creationId xmlns:a16="http://schemas.microsoft.com/office/drawing/2014/main" id="{D69AFA87-807F-4D1E-AD0A-EBA54EDD19F3}"/>
              </a:ext>
            </a:extLst>
          </p:cNvPr>
          <p:cNvPicPr>
            <a:picLocks noChangeAspect="1"/>
          </p:cNvPicPr>
          <p:nvPr/>
        </p:nvPicPr>
        <p:blipFill>
          <a:blip r:embed="rId3"/>
          <a:stretch>
            <a:fillRect/>
          </a:stretch>
        </p:blipFill>
        <p:spPr>
          <a:xfrm>
            <a:off x="732859" y="3429000"/>
            <a:ext cx="4534293" cy="2712955"/>
          </a:xfrm>
          <a:prstGeom prst="rect">
            <a:avLst/>
          </a:prstGeom>
        </p:spPr>
      </p:pic>
    </p:spTree>
    <p:extLst>
      <p:ext uri="{BB962C8B-B14F-4D97-AF65-F5344CB8AC3E}">
        <p14:creationId xmlns:p14="http://schemas.microsoft.com/office/powerpoint/2010/main" val="17553751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5905" y="218467"/>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Building Custom Iterators</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315905" y="866030"/>
            <a:ext cx="3616968" cy="17820263"/>
          </a:xfrm>
          <a:prstGeom prst="rect">
            <a:avLst/>
          </a:prstGeom>
          <a:noFill/>
        </p:spPr>
        <p:txBody>
          <a:bodyPr wrap="square">
            <a:spAutoFit/>
          </a:bodyPr>
          <a:lstStyle/>
          <a:p>
            <a:r>
              <a:rPr lang="en-US" dirty="0"/>
              <a:t>Building an iterator from scratch is easy in Python. We just have to implement the </a:t>
            </a:r>
            <a:r>
              <a:rPr lang="en-US" dirty="0">
                <a:solidFill>
                  <a:schemeClr val="accent6">
                    <a:lumMod val="75000"/>
                  </a:schemeClr>
                </a:solidFill>
              </a:rPr>
              <a:t>__iter__() </a:t>
            </a:r>
            <a:r>
              <a:rPr lang="en-US" dirty="0"/>
              <a:t>and the </a:t>
            </a:r>
            <a:r>
              <a:rPr lang="en-US" dirty="0">
                <a:solidFill>
                  <a:schemeClr val="accent6">
                    <a:lumMod val="75000"/>
                  </a:schemeClr>
                </a:solidFill>
              </a:rPr>
              <a:t>__next__() </a:t>
            </a:r>
            <a:r>
              <a:rPr lang="en-US" dirty="0"/>
              <a:t>methods.</a:t>
            </a:r>
          </a:p>
          <a:p>
            <a:endParaRPr lang="en-US" dirty="0"/>
          </a:p>
          <a:p>
            <a:r>
              <a:rPr lang="en-US" dirty="0"/>
              <a:t>The </a:t>
            </a:r>
            <a:r>
              <a:rPr lang="en-US" dirty="0">
                <a:solidFill>
                  <a:schemeClr val="accent6">
                    <a:lumMod val="75000"/>
                  </a:schemeClr>
                </a:solidFill>
              </a:rPr>
              <a:t>__iter__()</a:t>
            </a:r>
            <a:r>
              <a:rPr lang="en-US" dirty="0"/>
              <a:t> method returns the iterator object itself. If required, some initialization can be performed.</a:t>
            </a:r>
          </a:p>
          <a:p>
            <a:r>
              <a:rPr lang="en-US" dirty="0"/>
              <a:t>The </a:t>
            </a:r>
            <a:r>
              <a:rPr lang="en-US" dirty="0">
                <a:solidFill>
                  <a:schemeClr val="accent6">
                    <a:lumMod val="75000"/>
                  </a:schemeClr>
                </a:solidFill>
              </a:rPr>
              <a:t>__next__() </a:t>
            </a:r>
            <a:r>
              <a:rPr lang="en-US" dirty="0"/>
              <a:t>method must return the next item in the sequence. On reaching the end, and in subsequent calls, it must raise </a:t>
            </a:r>
            <a:r>
              <a:rPr lang="en-US" dirty="0" err="1"/>
              <a:t>StopIteration</a:t>
            </a:r>
            <a:r>
              <a:rPr lang="en-US" dirty="0"/>
              <a:t>.</a:t>
            </a:r>
          </a:p>
          <a:p>
            <a:endParaRPr lang="en-US" dirty="0"/>
          </a:p>
          <a:p>
            <a:endParaRPr lang="en-US" dirty="0"/>
          </a:p>
          <a:p>
            <a:r>
              <a:rPr lang="en-US" dirty="0"/>
              <a:t>Here, we show an example that will give us the next power of 2 in each iteration. Power exponent starts from zero up to a user set number.</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446D20DE-5CAD-4D9D-8226-5D41AE820CAD}"/>
              </a:ext>
            </a:extLst>
          </p:cNvPr>
          <p:cNvPicPr>
            <a:picLocks noChangeAspect="1"/>
          </p:cNvPicPr>
          <p:nvPr/>
        </p:nvPicPr>
        <p:blipFill>
          <a:blip r:embed="rId2"/>
          <a:stretch>
            <a:fillRect/>
          </a:stretch>
        </p:blipFill>
        <p:spPr>
          <a:xfrm>
            <a:off x="4538950" y="847226"/>
            <a:ext cx="4109292" cy="5792308"/>
          </a:xfrm>
          <a:prstGeom prst="rect">
            <a:avLst/>
          </a:prstGeom>
        </p:spPr>
      </p:pic>
      <p:pic>
        <p:nvPicPr>
          <p:cNvPr id="6" name="Picture 5">
            <a:extLst>
              <a:ext uri="{FF2B5EF4-FFF2-40B4-BE49-F238E27FC236}">
                <a16:creationId xmlns:a16="http://schemas.microsoft.com/office/drawing/2014/main" id="{D16EE898-E3D5-4FC9-BAF6-1CDB26E999F2}"/>
              </a:ext>
            </a:extLst>
          </p:cNvPr>
          <p:cNvPicPr>
            <a:picLocks noChangeAspect="1"/>
          </p:cNvPicPr>
          <p:nvPr/>
        </p:nvPicPr>
        <p:blipFill>
          <a:blip r:embed="rId3"/>
          <a:stretch>
            <a:fillRect/>
          </a:stretch>
        </p:blipFill>
        <p:spPr>
          <a:xfrm>
            <a:off x="8954941" y="4406746"/>
            <a:ext cx="3143528" cy="2232787"/>
          </a:xfrm>
          <a:prstGeom prst="rect">
            <a:avLst/>
          </a:prstGeom>
        </p:spPr>
      </p:pic>
    </p:spTree>
    <p:extLst>
      <p:ext uri="{BB962C8B-B14F-4D97-AF65-F5344CB8AC3E}">
        <p14:creationId xmlns:p14="http://schemas.microsoft.com/office/powerpoint/2010/main" val="30191306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9482" y="326010"/>
            <a:ext cx="10210800" cy="50526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dirty="0"/>
              <a:t>Python Infinite Iterators</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378479" y="1114867"/>
            <a:ext cx="10567016" cy="2554545"/>
          </a:xfrm>
          <a:prstGeom prst="rect">
            <a:avLst/>
          </a:prstGeom>
          <a:noFill/>
        </p:spPr>
        <p:txBody>
          <a:bodyPr wrap="square">
            <a:spAutoFit/>
          </a:bodyPr>
          <a:lstStyle/>
          <a:p>
            <a:r>
              <a:rPr lang="en-US" sz="2000" dirty="0"/>
              <a:t>It is not necessary that the item in an iterator object has to be exhausted. There can be infinite iterators (which never ends). We must be careful when handling such iterators.</a:t>
            </a:r>
          </a:p>
          <a:p>
            <a:endParaRPr lang="en-US" sz="2000" dirty="0"/>
          </a:p>
          <a:p>
            <a:r>
              <a:rPr lang="en-US" sz="2000" dirty="0"/>
              <a:t>Here is a simple example to demonstrate infinite iterators.</a:t>
            </a:r>
          </a:p>
          <a:p>
            <a:endParaRPr lang="en-US" sz="2000" dirty="0"/>
          </a:p>
          <a:p>
            <a:r>
              <a:rPr lang="en-US" sz="2000" dirty="0"/>
              <a:t>The built-in function iter() function can be called with two arguments where the first argument must be a callable object (function) and second is the sentinel. The iterator calls this function until the returned value is equal to the sentinel.</a:t>
            </a:r>
          </a:p>
        </p:txBody>
      </p:sp>
      <p:pic>
        <p:nvPicPr>
          <p:cNvPr id="5" name="Picture 4">
            <a:extLst>
              <a:ext uri="{FF2B5EF4-FFF2-40B4-BE49-F238E27FC236}">
                <a16:creationId xmlns:a16="http://schemas.microsoft.com/office/drawing/2014/main" id="{D6F4CFE8-DCB3-44D7-8C64-944CDEF65148}"/>
              </a:ext>
            </a:extLst>
          </p:cNvPr>
          <p:cNvPicPr>
            <a:picLocks noChangeAspect="1"/>
          </p:cNvPicPr>
          <p:nvPr/>
        </p:nvPicPr>
        <p:blipFill>
          <a:blip r:embed="rId2"/>
          <a:stretch>
            <a:fillRect/>
          </a:stretch>
        </p:blipFill>
        <p:spPr>
          <a:xfrm>
            <a:off x="489482" y="3855905"/>
            <a:ext cx="3997162" cy="2767266"/>
          </a:xfrm>
          <a:prstGeom prst="rect">
            <a:avLst/>
          </a:prstGeom>
        </p:spPr>
      </p:pic>
      <p:pic>
        <p:nvPicPr>
          <p:cNvPr id="9" name="Picture 8">
            <a:extLst>
              <a:ext uri="{FF2B5EF4-FFF2-40B4-BE49-F238E27FC236}">
                <a16:creationId xmlns:a16="http://schemas.microsoft.com/office/drawing/2014/main" id="{3E87DFCB-0588-4BFE-B224-0CC42516742A}"/>
              </a:ext>
            </a:extLst>
          </p:cNvPr>
          <p:cNvPicPr>
            <a:picLocks noChangeAspect="1"/>
          </p:cNvPicPr>
          <p:nvPr/>
        </p:nvPicPr>
        <p:blipFill>
          <a:blip r:embed="rId3"/>
          <a:stretch>
            <a:fillRect/>
          </a:stretch>
        </p:blipFill>
        <p:spPr>
          <a:xfrm>
            <a:off x="5457552" y="4319637"/>
            <a:ext cx="3080520" cy="2303534"/>
          </a:xfrm>
          <a:prstGeom prst="rect">
            <a:avLst/>
          </a:prstGeom>
        </p:spPr>
      </p:pic>
    </p:spTree>
    <p:extLst>
      <p:ext uri="{BB962C8B-B14F-4D97-AF65-F5344CB8AC3E}">
        <p14:creationId xmlns:p14="http://schemas.microsoft.com/office/powerpoint/2010/main" val="523437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34695" y="260774"/>
            <a:ext cx="10210800" cy="62837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sz="4000" dirty="0" err="1"/>
              <a:t>Dict</a:t>
            </a:r>
            <a:r>
              <a:rPr lang="en-US" sz="4000" dirty="0"/>
              <a:t> Sorting</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433633" y="1186694"/>
            <a:ext cx="10812924" cy="6555641"/>
          </a:xfrm>
          <a:prstGeom prst="rect">
            <a:avLst/>
          </a:prstGeom>
          <a:noFill/>
        </p:spPr>
        <p:txBody>
          <a:bodyPr wrap="square">
            <a:spAutoFit/>
          </a:bodyPr>
          <a:lstStyle/>
          <a:p>
            <a:r>
              <a:rPr lang="en-US" sz="2000" dirty="0"/>
              <a:t>Here, we have an array called kids where the </a:t>
            </a:r>
            <a:r>
              <a:rPr lang="en-US" sz="2000" dirty="0" err="1"/>
              <a:t>dict</a:t>
            </a:r>
            <a:r>
              <a:rPr lang="en-US" sz="2000" dirty="0"/>
              <a:t> has name, score and age. Suppose we want to sort them by score, what should we do?</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Here are several solutions to solve it, one common way is using anonymous function. The ‘sort’ function has an argument called ‘key’, we can pass a function to it to specify the field for ranking.</a:t>
            </a:r>
          </a:p>
          <a:p>
            <a:endParaRPr lang="en-US" sz="2000" dirty="0"/>
          </a:p>
          <a:p>
            <a:endParaRPr lang="en-US" sz="2000" dirty="0"/>
          </a:p>
          <a:p>
            <a:endParaRPr lang="en-US" sz="2000" dirty="0"/>
          </a:p>
          <a:p>
            <a:endParaRPr lang="en-US" sz="2000" dirty="0"/>
          </a:p>
          <a:p>
            <a:endParaRPr lang="en-US" sz="2000" dirty="0"/>
          </a:p>
          <a:p>
            <a:endParaRPr lang="he-IL" sz="2000" dirty="0"/>
          </a:p>
          <a:p>
            <a:endParaRPr lang="he-IL" sz="2000" dirty="0"/>
          </a:p>
          <a:p>
            <a:endParaRPr lang="en-US" sz="2000" dirty="0"/>
          </a:p>
          <a:p>
            <a:endParaRPr lang="en-US" sz="2000" dirty="0"/>
          </a:p>
        </p:txBody>
      </p:sp>
      <p:pic>
        <p:nvPicPr>
          <p:cNvPr id="5" name="Picture 4">
            <a:extLst>
              <a:ext uri="{FF2B5EF4-FFF2-40B4-BE49-F238E27FC236}">
                <a16:creationId xmlns:a16="http://schemas.microsoft.com/office/drawing/2014/main" id="{78B09EB4-7B87-4DBC-9DCF-AE8C0531A14A}"/>
              </a:ext>
            </a:extLst>
          </p:cNvPr>
          <p:cNvPicPr>
            <a:picLocks noChangeAspect="1"/>
          </p:cNvPicPr>
          <p:nvPr/>
        </p:nvPicPr>
        <p:blipFill>
          <a:blip r:embed="rId2"/>
          <a:stretch>
            <a:fillRect/>
          </a:stretch>
        </p:blipFill>
        <p:spPr>
          <a:xfrm>
            <a:off x="509833" y="2102326"/>
            <a:ext cx="9231046" cy="1588643"/>
          </a:xfrm>
          <a:prstGeom prst="rect">
            <a:avLst/>
          </a:prstGeom>
        </p:spPr>
      </p:pic>
      <p:pic>
        <p:nvPicPr>
          <p:cNvPr id="3" name="Picture 8">
            <a:extLst>
              <a:ext uri="{FF2B5EF4-FFF2-40B4-BE49-F238E27FC236}">
                <a16:creationId xmlns:a16="http://schemas.microsoft.com/office/drawing/2014/main" id="{5D4A62AD-DACB-9E96-94E2-5B4BAB943D1E}"/>
              </a:ext>
            </a:extLst>
          </p:cNvPr>
          <p:cNvPicPr>
            <a:picLocks noChangeAspect="1"/>
          </p:cNvPicPr>
          <p:nvPr/>
        </p:nvPicPr>
        <p:blipFill>
          <a:blip r:embed="rId3"/>
          <a:stretch>
            <a:fillRect/>
          </a:stretch>
        </p:blipFill>
        <p:spPr>
          <a:xfrm>
            <a:off x="509833" y="5136780"/>
            <a:ext cx="7352194" cy="1008768"/>
          </a:xfrm>
          <a:prstGeom prst="rect">
            <a:avLst/>
          </a:prstGeom>
        </p:spPr>
      </p:pic>
    </p:spTree>
    <p:extLst>
      <p:ext uri="{BB962C8B-B14F-4D97-AF65-F5344CB8AC3E}">
        <p14:creationId xmlns:p14="http://schemas.microsoft.com/office/powerpoint/2010/main" val="24127321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4E497-317D-325F-5272-831759F8B5E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A130B6A-8BAE-8D20-BFDB-489B8139D4C7}"/>
              </a:ext>
            </a:extLst>
          </p:cNvPr>
          <p:cNvSpPr txBox="1"/>
          <p:nvPr/>
        </p:nvSpPr>
        <p:spPr>
          <a:xfrm>
            <a:off x="480654" y="181690"/>
            <a:ext cx="3285803" cy="628377"/>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sz="4000" dirty="0" err="1"/>
              <a:t>Dict</a:t>
            </a:r>
            <a:r>
              <a:rPr lang="en-US" sz="4000" dirty="0"/>
              <a:t> Sorting</a:t>
            </a:r>
          </a:p>
        </p:txBody>
      </p:sp>
      <p:sp>
        <p:nvSpPr>
          <p:cNvPr id="10" name="תיבת טקסט 9">
            <a:extLst>
              <a:ext uri="{FF2B5EF4-FFF2-40B4-BE49-F238E27FC236}">
                <a16:creationId xmlns:a16="http://schemas.microsoft.com/office/drawing/2014/main" id="{F0845051-DA2E-B615-3826-AAF9552C042A}"/>
              </a:ext>
            </a:extLst>
          </p:cNvPr>
          <p:cNvSpPr txBox="1"/>
          <p:nvPr/>
        </p:nvSpPr>
        <p:spPr>
          <a:xfrm>
            <a:off x="480654" y="951752"/>
            <a:ext cx="10976651" cy="5601533"/>
          </a:xfrm>
          <a:prstGeom prst="rect">
            <a:avLst/>
          </a:prstGeom>
          <a:noFill/>
        </p:spPr>
        <p:txBody>
          <a:bodyPr wrap="square">
            <a:spAutoFit/>
          </a:bodyPr>
          <a:lstStyle/>
          <a:p>
            <a:endParaRPr lang="en-US" sz="2000" dirty="0"/>
          </a:p>
          <a:p>
            <a:r>
              <a:rPr lang="en-US" sz="2000" dirty="0"/>
              <a:t>In the anonymous function, the ‘x’ represents the element in the array, and in this problem it’s a dict. So we can use </a:t>
            </a:r>
            <a:r>
              <a:rPr lang="en-US" sz="2000" dirty="0" err="1"/>
              <a:t>dict</a:t>
            </a:r>
            <a:r>
              <a:rPr lang="en-US" sz="2000" dirty="0"/>
              <a:t> access element method which is to use brackets to find the value of the corresponding field.</a:t>
            </a:r>
          </a:p>
          <a:p>
            <a:endParaRPr lang="he-IL" sz="2000" dirty="0"/>
          </a:p>
          <a:p>
            <a:r>
              <a:rPr lang="en-US" sz="2000" dirty="0"/>
              <a:t>What if we want to sort them by multiple fields?</a:t>
            </a:r>
          </a:p>
          <a:p>
            <a:endParaRPr lang="en-US" sz="2000" dirty="0"/>
          </a:p>
          <a:p>
            <a:endParaRPr lang="en-US" sz="2000" dirty="0"/>
          </a:p>
          <a:p>
            <a:endParaRPr lang="en-US" sz="2000" dirty="0"/>
          </a:p>
          <a:p>
            <a:endParaRPr lang="en-US" sz="2000" dirty="0"/>
          </a:p>
          <a:p>
            <a:endParaRPr lang="en-US" sz="2000" dirty="0"/>
          </a:p>
          <a:p>
            <a:r>
              <a:rPr lang="en-US" sz="2000" dirty="0"/>
              <a:t>Python also has its own libraries to solve this problem. The usage is very similar to that of anonymous functions and is a little easier to use.</a:t>
            </a:r>
          </a:p>
          <a:p>
            <a:endParaRPr lang="he-IL" sz="2000" dirty="0"/>
          </a:p>
          <a:p>
            <a:endParaRPr lang="en-US" sz="2000" dirty="0"/>
          </a:p>
          <a:p>
            <a:endParaRPr lang="en-US" sz="2000" dirty="0"/>
          </a:p>
          <a:p>
            <a:endParaRPr lang="en-US" sz="2000" dirty="0"/>
          </a:p>
          <a:p>
            <a:endParaRPr lang="en-US" sz="2000" dirty="0"/>
          </a:p>
        </p:txBody>
      </p:sp>
      <p:pic>
        <p:nvPicPr>
          <p:cNvPr id="9" name="Picture 8">
            <a:extLst>
              <a:ext uri="{FF2B5EF4-FFF2-40B4-BE49-F238E27FC236}">
                <a16:creationId xmlns:a16="http://schemas.microsoft.com/office/drawing/2014/main" id="{EF1A1E37-9B78-CFF2-E275-7154CEE40053}"/>
              </a:ext>
            </a:extLst>
          </p:cNvPr>
          <p:cNvPicPr>
            <a:picLocks noChangeAspect="1"/>
          </p:cNvPicPr>
          <p:nvPr/>
        </p:nvPicPr>
        <p:blipFill>
          <a:blip r:embed="rId2"/>
          <a:stretch>
            <a:fillRect/>
          </a:stretch>
        </p:blipFill>
        <p:spPr>
          <a:xfrm>
            <a:off x="480654" y="3062490"/>
            <a:ext cx="7352194" cy="1008768"/>
          </a:xfrm>
          <a:prstGeom prst="rect">
            <a:avLst/>
          </a:prstGeom>
        </p:spPr>
      </p:pic>
      <p:pic>
        <p:nvPicPr>
          <p:cNvPr id="13" name="Picture 12">
            <a:extLst>
              <a:ext uri="{FF2B5EF4-FFF2-40B4-BE49-F238E27FC236}">
                <a16:creationId xmlns:a16="http://schemas.microsoft.com/office/drawing/2014/main" id="{94F57BC7-90D0-D843-2304-B9B5BFA8F6ED}"/>
              </a:ext>
            </a:extLst>
          </p:cNvPr>
          <p:cNvPicPr>
            <a:picLocks noChangeAspect="1"/>
          </p:cNvPicPr>
          <p:nvPr/>
        </p:nvPicPr>
        <p:blipFill>
          <a:blip r:embed="rId3"/>
          <a:stretch>
            <a:fillRect/>
          </a:stretch>
        </p:blipFill>
        <p:spPr>
          <a:xfrm>
            <a:off x="480654" y="5253106"/>
            <a:ext cx="7338754" cy="831923"/>
          </a:xfrm>
          <a:prstGeom prst="rect">
            <a:avLst/>
          </a:prstGeom>
        </p:spPr>
      </p:pic>
    </p:spTree>
    <p:extLst>
      <p:ext uri="{BB962C8B-B14F-4D97-AF65-F5344CB8AC3E}">
        <p14:creationId xmlns:p14="http://schemas.microsoft.com/office/powerpoint/2010/main" val="40371901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8790" y="280766"/>
            <a:ext cx="10210800" cy="566822"/>
          </a:xfrm>
          <a:prstGeom prst="rect">
            <a:avLst/>
          </a:prstGeom>
        </p:spPr>
        <p:txBody>
          <a:bodyPr vert="horz" wrap="square" lIns="0" tIns="12700" rIns="0" bIns="0" rtlCol="0">
            <a:spAutoFit/>
          </a:bodyPr>
          <a:lstStyle>
            <a:defPPr>
              <a:defRPr lang="en-US"/>
            </a:defPPr>
            <a:lvl1pPr marL="12700">
              <a:lnSpc>
                <a:spcPct val="100000"/>
              </a:lnSpc>
              <a:spcBef>
                <a:spcPts val="100"/>
              </a:spcBef>
              <a:defRPr sz="3200">
                <a:cs typeface="Trebuchet MS"/>
              </a:defRPr>
            </a:lvl1pPr>
          </a:lstStyle>
          <a:p>
            <a:r>
              <a:rPr lang="en-US" sz="3600" dirty="0"/>
              <a:t>python comparator</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0" y="609600"/>
            <a:ext cx="8561705" cy="228268"/>
          </a:xfrm>
          <a:prstGeom prst="rect">
            <a:avLst/>
          </a:prstGeom>
        </p:spPr>
        <p:txBody>
          <a:bodyPr vert="horz" wrap="square" lIns="0" tIns="12700" rIns="0" bIns="0" rtlCol="0">
            <a:spAutoFit/>
          </a:bodyPr>
          <a:lstStyle/>
          <a:p>
            <a:pPr algn="l" fontAlgn="base"/>
            <a:endParaRPr lang="en-US" sz="1400" b="1" i="0" dirty="0">
              <a:effectLst/>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478790" y="1114867"/>
            <a:ext cx="11321324" cy="7755969"/>
          </a:xfrm>
          <a:prstGeom prst="rect">
            <a:avLst/>
          </a:prstGeom>
          <a:noFill/>
        </p:spPr>
        <p:txBody>
          <a:bodyPr wrap="square">
            <a:spAutoFit/>
          </a:bodyPr>
          <a:lstStyle/>
          <a:p>
            <a:r>
              <a:rPr lang="en-US" sz="2000" dirty="0"/>
              <a:t>It converts a comparison function into a key function. The comparison function must return 1, -1 and 0 for different conditions. It can be used in key functions such as sorted(), min(), max().</a:t>
            </a:r>
            <a:endParaRPr lang="he-IL" sz="2000" dirty="0"/>
          </a:p>
          <a:p>
            <a:endParaRPr lang="he-IL" sz="2000" dirty="0"/>
          </a:p>
          <a:p>
            <a:endParaRPr lang="he-IL"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p:txBody>
      </p:sp>
      <p:pic>
        <p:nvPicPr>
          <p:cNvPr id="4" name="Picture 3">
            <a:extLst>
              <a:ext uri="{FF2B5EF4-FFF2-40B4-BE49-F238E27FC236}">
                <a16:creationId xmlns:a16="http://schemas.microsoft.com/office/drawing/2014/main" id="{0A6F2EB8-C7FE-4C4A-B3E9-5E4DEFEEBE35}"/>
              </a:ext>
            </a:extLst>
          </p:cNvPr>
          <p:cNvPicPr>
            <a:picLocks noChangeAspect="1"/>
          </p:cNvPicPr>
          <p:nvPr/>
        </p:nvPicPr>
        <p:blipFill>
          <a:blip r:embed="rId2"/>
          <a:stretch>
            <a:fillRect/>
          </a:stretch>
        </p:blipFill>
        <p:spPr>
          <a:xfrm>
            <a:off x="478789" y="4675067"/>
            <a:ext cx="5747093" cy="914310"/>
          </a:xfrm>
          <a:prstGeom prst="rect">
            <a:avLst/>
          </a:prstGeom>
        </p:spPr>
      </p:pic>
      <p:pic>
        <p:nvPicPr>
          <p:cNvPr id="7" name="Picture 6">
            <a:extLst>
              <a:ext uri="{FF2B5EF4-FFF2-40B4-BE49-F238E27FC236}">
                <a16:creationId xmlns:a16="http://schemas.microsoft.com/office/drawing/2014/main" id="{E4858F89-FFF2-436F-B254-A54692BBF2E5}"/>
              </a:ext>
            </a:extLst>
          </p:cNvPr>
          <p:cNvPicPr>
            <a:picLocks noChangeAspect="1"/>
          </p:cNvPicPr>
          <p:nvPr/>
        </p:nvPicPr>
        <p:blipFill>
          <a:blip r:embed="rId3"/>
          <a:stretch>
            <a:fillRect/>
          </a:stretch>
        </p:blipFill>
        <p:spPr>
          <a:xfrm>
            <a:off x="478789" y="5866376"/>
            <a:ext cx="5747093" cy="536555"/>
          </a:xfrm>
          <a:prstGeom prst="rect">
            <a:avLst/>
          </a:prstGeom>
        </p:spPr>
      </p:pic>
      <p:pic>
        <p:nvPicPr>
          <p:cNvPr id="12" name="Picture 11">
            <a:extLst>
              <a:ext uri="{FF2B5EF4-FFF2-40B4-BE49-F238E27FC236}">
                <a16:creationId xmlns:a16="http://schemas.microsoft.com/office/drawing/2014/main" id="{F1083362-CB99-4030-A108-CB915D14A4B7}"/>
              </a:ext>
            </a:extLst>
          </p:cNvPr>
          <p:cNvPicPr>
            <a:picLocks noChangeAspect="1"/>
          </p:cNvPicPr>
          <p:nvPr/>
        </p:nvPicPr>
        <p:blipFill>
          <a:blip r:embed="rId4"/>
          <a:stretch>
            <a:fillRect/>
          </a:stretch>
        </p:blipFill>
        <p:spPr>
          <a:xfrm>
            <a:off x="497119" y="2029665"/>
            <a:ext cx="5728763" cy="2412650"/>
          </a:xfrm>
          <a:prstGeom prst="rect">
            <a:avLst/>
          </a:prstGeom>
        </p:spPr>
      </p:pic>
    </p:spTree>
    <p:extLst>
      <p:ext uri="{BB962C8B-B14F-4D97-AF65-F5344CB8AC3E}">
        <p14:creationId xmlns:p14="http://schemas.microsoft.com/office/powerpoint/2010/main" val="2859034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TM04033921[[fn=אריג דמשק]]</Template>
  <TotalTime>8941</TotalTime>
  <Words>2156</Words>
  <Application>Microsoft Office PowerPoint</Application>
  <PresentationFormat>מסך רחב</PresentationFormat>
  <Paragraphs>390</Paragraphs>
  <Slides>32</Slides>
  <Notes>0</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32</vt:i4>
      </vt:variant>
    </vt:vector>
  </HeadingPairs>
  <TitlesOfParts>
    <vt:vector size="37" baseType="lpstr">
      <vt:lpstr>Arial</vt:lpstr>
      <vt:lpstr>Bookman Old Style</vt:lpstr>
      <vt:lpstr>Rockwell</vt:lpstr>
      <vt:lpstr>var(--font-din)</vt:lpstr>
      <vt:lpstr>Damask</vt:lpstr>
      <vt:lpstr>תכנות מונחה עצמים Python מתקדם </vt:lpstr>
      <vt:lpstr>נושאים להיום: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תכנות מונחה עצמים תרגול 1</dc:title>
  <dc:creator>Itai Lashover</dc:creator>
  <cp:lastModifiedBy>חרות סטרמן/Herut Sterman</cp:lastModifiedBy>
  <cp:revision>51</cp:revision>
  <cp:lastPrinted>2021-10-10T10:21:51Z</cp:lastPrinted>
  <dcterms:created xsi:type="dcterms:W3CDTF">2021-10-09T19:59:47Z</dcterms:created>
  <dcterms:modified xsi:type="dcterms:W3CDTF">2025-12-08T20:17:20Z</dcterms:modified>
</cp:coreProperties>
</file>