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1" r:id="rId1"/>
  </p:sldMasterIdLst>
  <p:notesMasterIdLst>
    <p:notesMasterId r:id="rId39"/>
  </p:notesMasterIdLst>
  <p:sldIdLst>
    <p:sldId id="256" r:id="rId2"/>
    <p:sldId id="481" r:id="rId3"/>
    <p:sldId id="482" r:id="rId4"/>
    <p:sldId id="484" r:id="rId5"/>
    <p:sldId id="485" r:id="rId6"/>
    <p:sldId id="483" r:id="rId7"/>
    <p:sldId id="486" r:id="rId8"/>
    <p:sldId id="487" r:id="rId9"/>
    <p:sldId id="489" r:id="rId10"/>
    <p:sldId id="490" r:id="rId11"/>
    <p:sldId id="491" r:id="rId12"/>
    <p:sldId id="493" r:id="rId13"/>
    <p:sldId id="494" r:id="rId14"/>
    <p:sldId id="495" r:id="rId15"/>
    <p:sldId id="497" r:id="rId16"/>
    <p:sldId id="498" r:id="rId17"/>
    <p:sldId id="499" r:id="rId18"/>
    <p:sldId id="500" r:id="rId19"/>
    <p:sldId id="537" r:id="rId20"/>
    <p:sldId id="502" r:id="rId21"/>
    <p:sldId id="504" r:id="rId22"/>
    <p:sldId id="505" r:id="rId23"/>
    <p:sldId id="506" r:id="rId24"/>
    <p:sldId id="507" r:id="rId25"/>
    <p:sldId id="508" r:id="rId26"/>
    <p:sldId id="509" r:id="rId27"/>
    <p:sldId id="510" r:id="rId28"/>
    <p:sldId id="511" r:id="rId29"/>
    <p:sldId id="512" r:id="rId30"/>
    <p:sldId id="515" r:id="rId31"/>
    <p:sldId id="514" r:id="rId32"/>
    <p:sldId id="539" r:id="rId33"/>
    <p:sldId id="536" r:id="rId34"/>
    <p:sldId id="516" r:id="rId35"/>
    <p:sldId id="517" r:id="rId36"/>
    <p:sldId id="518" r:id="rId37"/>
    <p:sldId id="519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013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72" y="10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5A913AA4-26C8-4D6E-9C62-9FCBE1D5EE0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8332C654-3B51-463E-BA97-8EDB767D1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54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להעיר שהתבלבלתי שבוע שעבר בנוגע ל</a:t>
            </a:r>
            <a:r>
              <a:rPr lang="en-US" dirty="0"/>
              <a:t>pass</a:t>
            </a:r>
            <a:r>
              <a:rPr lang="he-IL" dirty="0"/>
              <a:t>, משתמשים בו כדי לא לקבל שגיאה כשתנאי ריק</a:t>
            </a:r>
            <a:endParaRPr lang="LID4096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8B56D-D7CC-4450-9CD8-F30AD65676A7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9404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התמונה השנייה מזכירה?</a:t>
            </a:r>
            <a:endParaRPr lang="LID4096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8B56D-D7CC-4450-9CD8-F30AD65676A7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72763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לפני שניגשים לערך אסור לשכוח לבדוק אם הוא בכלל קיים</a:t>
            </a:r>
            <a:endParaRPr lang="LID4096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8B56D-D7CC-4450-9CD8-F30AD65676A7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23522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6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812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08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19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98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7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61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4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13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4907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02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07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11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70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89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311" y="680729"/>
            <a:ext cx="10679379" cy="470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36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482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3A98D-2C42-4B09-A8C8-A0192868120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D57AE-70F7-413F-B269-596DFAC3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353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BC5D546-BF96-2E30-3322-FE5813DD79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3769462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060" y="305283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Python If ... </a:t>
            </a:r>
            <a:r>
              <a:rPr lang="fr-FR" sz="3200" dirty="0" err="1">
                <a:cs typeface="Trebuchet MS"/>
              </a:rPr>
              <a:t>Else</a:t>
            </a:r>
            <a:endParaRPr lang="fr-FR" sz="3200" dirty="0">
              <a:cs typeface="Trebuchet MS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882B281F-5CD4-4437-A0C5-71B07D857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53" y="1444778"/>
            <a:ext cx="4295775" cy="1400175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749061" y="1078229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If statement: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0250AB3-2179-48BA-AFA6-0ED31707D012}"/>
              </a:ext>
            </a:extLst>
          </p:cNvPr>
          <p:cNvSpPr txBox="1"/>
          <p:nvPr/>
        </p:nvSpPr>
        <p:spPr>
          <a:xfrm>
            <a:off x="782676" y="3154681"/>
            <a:ext cx="8561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Python relies on indentation (whitespace at the beginning of a line) to define scope in the code. Java programming language use curly-brackets for this purpose.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9E658C6A-6B8F-492E-83E4-180EDF2BC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62" y="3763989"/>
            <a:ext cx="635317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1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882B281F-5CD4-4437-A0C5-71B07D857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53" y="1177098"/>
            <a:ext cx="4295775" cy="1400175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749061" y="90312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If statement: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0250AB3-2179-48BA-AFA6-0ED31707D012}"/>
              </a:ext>
            </a:extLst>
          </p:cNvPr>
          <p:cNvSpPr txBox="1"/>
          <p:nvPr/>
        </p:nvSpPr>
        <p:spPr>
          <a:xfrm>
            <a:off x="749061" y="3017113"/>
            <a:ext cx="8561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Python relies on indentation (whitespace at the beginning of a line) to define scope in the code. Java programming language use curly-brackets for this purpose.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9E658C6A-6B8F-492E-83E4-180EDF2BCD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5342"/>
          <a:stretch/>
        </p:blipFill>
        <p:spPr>
          <a:xfrm>
            <a:off x="717430" y="3512771"/>
            <a:ext cx="6353175" cy="775783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C43125D5-8E77-4013-B80B-2A52D51DE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81" y="4426160"/>
            <a:ext cx="4861601" cy="628496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3D3A0F2D-8EF6-470C-995D-D02A7AE29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430" y="5171839"/>
            <a:ext cx="3000375" cy="1562100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3BACF130-5A0C-4B6E-85A5-CD6E992D69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017" y="5418700"/>
            <a:ext cx="2114551" cy="542925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F86E1CB8-0A2B-4CA2-9FC0-20D8A958A6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029" y="1485385"/>
            <a:ext cx="1743075" cy="676275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078FD913-D4C9-5446-A057-96D4A5BD8825}"/>
              </a:ext>
            </a:extLst>
          </p:cNvPr>
          <p:cNvSpPr txBox="1"/>
          <p:nvPr/>
        </p:nvSpPr>
        <p:spPr>
          <a:xfrm>
            <a:off x="749060" y="305283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Python If ... </a:t>
            </a:r>
            <a:r>
              <a:rPr lang="fr-FR" sz="3200" dirty="0" err="1">
                <a:cs typeface="Trebuchet MS"/>
              </a:rPr>
              <a:t>Else</a:t>
            </a:r>
            <a:endParaRPr lang="fr-FR" sz="3200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284978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749061" y="1189927"/>
            <a:ext cx="8561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b="1" dirty="0">
                <a:latin typeface="+mj-lt"/>
              </a:rPr>
              <a:t>And</a:t>
            </a:r>
          </a:p>
          <a:p>
            <a:pPr algn="l" fontAlgn="base"/>
            <a:r>
              <a:rPr lang="en-US" sz="1400" dirty="0">
                <a:latin typeface="+mj-lt"/>
              </a:rPr>
              <a:t>The and keyword is a logical operator, and is used to combine conditional statements: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0250AB3-2179-48BA-AFA6-0ED31707D012}"/>
              </a:ext>
            </a:extLst>
          </p:cNvPr>
          <p:cNvSpPr txBox="1"/>
          <p:nvPr/>
        </p:nvSpPr>
        <p:spPr>
          <a:xfrm>
            <a:off x="717432" y="2900437"/>
            <a:ext cx="8561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b="1" dirty="0">
                <a:latin typeface="+mj-lt"/>
              </a:rPr>
              <a:t>Or</a:t>
            </a:r>
          </a:p>
          <a:p>
            <a:pPr algn="l" fontAlgn="base"/>
            <a:r>
              <a:rPr lang="en-US" sz="1400" dirty="0">
                <a:latin typeface="+mj-lt"/>
              </a:rPr>
              <a:t>The or keyword is a logical operator, and is used to combine conditional statements: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0F2CF857-6F1D-4537-8392-C444994EF5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207"/>
          <a:stretch/>
        </p:blipFill>
        <p:spPr>
          <a:xfrm>
            <a:off x="749061" y="1747455"/>
            <a:ext cx="3495675" cy="938068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CE0FF114-DC6B-4E65-9B31-CB8BB0915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385" y="1749400"/>
            <a:ext cx="2409825" cy="390525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7CEB0039-D756-4EE9-B1FC-A6DEED075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29" y="3529126"/>
            <a:ext cx="3981451" cy="1571625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3AD7C8EB-D632-4015-B2E6-A837ED501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586" y="3555005"/>
            <a:ext cx="3305175" cy="371475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277AD44D-F035-A049-93F4-8C64484DB1D2}"/>
              </a:ext>
            </a:extLst>
          </p:cNvPr>
          <p:cNvSpPr txBox="1"/>
          <p:nvPr/>
        </p:nvSpPr>
        <p:spPr>
          <a:xfrm>
            <a:off x="749060" y="305283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Python If ... </a:t>
            </a:r>
            <a:r>
              <a:rPr lang="fr-FR" sz="3200" dirty="0" err="1">
                <a:cs typeface="Trebuchet MS"/>
              </a:rPr>
              <a:t>Else</a:t>
            </a:r>
            <a:endParaRPr lang="fr-FR" sz="3200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44820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749061" y="1112521"/>
            <a:ext cx="85617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600" dirty="0"/>
              <a:t>Nested If</a:t>
            </a:r>
          </a:p>
          <a:p>
            <a:pPr algn="l" fontAlgn="base"/>
            <a:r>
              <a:rPr lang="en-US" sz="1600" dirty="0"/>
              <a:t>You can have if statements inside if statements, this is called nested if statements.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A96CFAFE-3EE8-4E2C-BAC6-A26A0754C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980107"/>
            <a:ext cx="3486151" cy="1781175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53DA802F-B12D-4046-BE0F-A57F8CC70209}"/>
              </a:ext>
            </a:extLst>
          </p:cNvPr>
          <p:cNvSpPr txBox="1"/>
          <p:nvPr/>
        </p:nvSpPr>
        <p:spPr>
          <a:xfrm>
            <a:off x="749060" y="3987305"/>
            <a:ext cx="856170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600" dirty="0"/>
              <a:t>The pass Statement</a:t>
            </a:r>
          </a:p>
          <a:p>
            <a:pPr algn="l" fontAlgn="base"/>
            <a:r>
              <a:rPr lang="en-US" sz="1600" dirty="0"/>
              <a:t>if statements cannot be empty, but if you for some reason have an if statement with no content, put in the pass statement to avoid getting an error.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284FAB60-7DE4-4BE1-B55A-B9104BD8D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" y="5062565"/>
            <a:ext cx="2209800" cy="160020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3C4BCABE-A758-4640-B28C-BAA6FD9838C5}"/>
              </a:ext>
            </a:extLst>
          </p:cNvPr>
          <p:cNvSpPr txBox="1"/>
          <p:nvPr/>
        </p:nvSpPr>
        <p:spPr>
          <a:xfrm>
            <a:off x="749060" y="305283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Python If ... </a:t>
            </a:r>
            <a:r>
              <a:rPr lang="fr-FR" sz="3200" dirty="0" err="1">
                <a:cs typeface="Trebuchet MS"/>
              </a:rPr>
              <a:t>Else</a:t>
            </a:r>
            <a:endParaRPr lang="fr-FR" sz="3200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08727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200" y="218467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Short Hand If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726201" y="1132198"/>
            <a:ext cx="8561705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600" dirty="0"/>
              <a:t>If you have only one </a:t>
            </a:r>
            <a:r>
              <a:rPr lang="en-US" dirty="0"/>
              <a:t>statement</a:t>
            </a:r>
            <a:r>
              <a:rPr lang="en-US" sz="1600" dirty="0"/>
              <a:t> to execute, you can put it on the same line as the if statement.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0250AB3-2179-48BA-AFA6-0ED31707D012}"/>
              </a:ext>
            </a:extLst>
          </p:cNvPr>
          <p:cNvSpPr txBox="1"/>
          <p:nvPr/>
        </p:nvSpPr>
        <p:spPr>
          <a:xfrm>
            <a:off x="726201" y="3981593"/>
            <a:ext cx="856170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600" dirty="0"/>
              <a:t>Short Hand If ... Else</a:t>
            </a:r>
          </a:p>
          <a:p>
            <a:pPr algn="l" fontAlgn="base"/>
            <a:r>
              <a:rPr lang="en-US" sz="1600" dirty="0"/>
              <a:t>If you have only one statement to execute, one for if, and one for else, you can put it all on the same line: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32F07B02-C226-4426-AEE9-30D5A381C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02" y="1730419"/>
            <a:ext cx="5743575" cy="1885951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24105DF2-8396-4A17-BB4E-0DC5B024F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00" y="5050321"/>
            <a:ext cx="3287178" cy="155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827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725" y="332602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latin typeface="+mj-lt"/>
                <a:cs typeface="Trebuchet MS"/>
              </a:rPr>
              <a:t>Python </a:t>
            </a:r>
            <a:r>
              <a:rPr lang="fr-FR" sz="3200" dirty="0" err="1">
                <a:latin typeface="+mj-lt"/>
                <a:cs typeface="Trebuchet MS"/>
              </a:rPr>
              <a:t>While</a:t>
            </a:r>
            <a:r>
              <a:rPr lang="fr-FR" sz="3200" dirty="0">
                <a:latin typeface="+mj-lt"/>
                <a:cs typeface="Trebuchet MS"/>
              </a:rPr>
              <a:t> </a:t>
            </a:r>
            <a:r>
              <a:rPr lang="fr-FR" sz="3200" dirty="0" err="1">
                <a:latin typeface="+mj-lt"/>
                <a:cs typeface="Trebuchet MS"/>
              </a:rPr>
              <a:t>Loops</a:t>
            </a:r>
            <a:endParaRPr lang="fr-FR" sz="3200" dirty="0">
              <a:latin typeface="+mj-lt"/>
              <a:cs typeface="Trebuchet M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847726" y="1425617"/>
            <a:ext cx="6508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while Loop</a:t>
            </a:r>
          </a:p>
          <a:p>
            <a:r>
              <a:rPr lang="en-US" sz="1600" dirty="0"/>
              <a:t>With the while loop we can execute a set of statements as long as a condition is true.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FF34EC55-E673-4CF4-B72C-813765293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56" y="2332551"/>
            <a:ext cx="3057525" cy="1371600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53D188A2-991A-447B-9710-382C93075E1B}"/>
              </a:ext>
            </a:extLst>
          </p:cNvPr>
          <p:cNvSpPr txBox="1"/>
          <p:nvPr/>
        </p:nvSpPr>
        <p:spPr>
          <a:xfrm>
            <a:off x="847726" y="4025612"/>
            <a:ext cx="6508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while Loop</a:t>
            </a:r>
          </a:p>
          <a:p>
            <a:r>
              <a:rPr lang="en-US" sz="1600" dirty="0"/>
              <a:t>With the while loop we can execute a set of statements as long as a condition is true.</a:t>
            </a:r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2484D5BA-7710-469D-9BB7-B0DC821C0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856" y="5024879"/>
            <a:ext cx="2457451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94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900" y="268341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latin typeface="+mj-lt"/>
                <a:cs typeface="Trebuchet MS"/>
              </a:rPr>
              <a:t>Python </a:t>
            </a:r>
            <a:r>
              <a:rPr lang="fr-FR" sz="3200" dirty="0" err="1">
                <a:latin typeface="+mj-lt"/>
                <a:cs typeface="Trebuchet MS"/>
              </a:rPr>
              <a:t>While</a:t>
            </a:r>
            <a:r>
              <a:rPr lang="fr-FR" sz="3200" dirty="0">
                <a:latin typeface="+mj-lt"/>
                <a:cs typeface="Trebuchet MS"/>
              </a:rPr>
              <a:t> </a:t>
            </a:r>
            <a:r>
              <a:rPr lang="fr-FR" sz="3200" dirty="0" err="1">
                <a:latin typeface="+mj-lt"/>
                <a:cs typeface="Trebuchet MS"/>
              </a:rPr>
              <a:t>Loops</a:t>
            </a:r>
            <a:endParaRPr lang="fr-FR" sz="3200" dirty="0">
              <a:latin typeface="+mj-lt"/>
              <a:cs typeface="Trebuchet M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531890" y="1033847"/>
            <a:ext cx="65086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continue Statement</a:t>
            </a:r>
          </a:p>
          <a:p>
            <a:r>
              <a:rPr lang="en-US" sz="1400" dirty="0"/>
              <a:t>With the continue statement we can stop the current iteration, and continue with the next: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7B86991-4F01-4B55-A1C6-EF77F07CB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00" y="1780707"/>
            <a:ext cx="3657600" cy="175260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CB1AA0CB-115A-4C0F-8350-D79158078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00" y="4282470"/>
            <a:ext cx="4572000" cy="1962151"/>
          </a:xfrm>
          <a:prstGeom prst="rect">
            <a:avLst/>
          </a:prstGeom>
        </p:spPr>
      </p:pic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ACEE95E6-A7AF-4A48-8FB6-0C8AB295704B}"/>
              </a:ext>
            </a:extLst>
          </p:cNvPr>
          <p:cNvSpPr txBox="1"/>
          <p:nvPr/>
        </p:nvSpPr>
        <p:spPr>
          <a:xfrm>
            <a:off x="531890" y="3742858"/>
            <a:ext cx="65086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while-loop-else-clause, which is unique to Python. The else-block is only executed if the while-loop is exhausted.</a:t>
            </a:r>
          </a:p>
        </p:txBody>
      </p:sp>
    </p:spTree>
    <p:extLst>
      <p:ext uri="{BB962C8B-B14F-4D97-AF65-F5344CB8AC3E}">
        <p14:creationId xmlns:p14="http://schemas.microsoft.com/office/powerpoint/2010/main" val="1428782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911" y="354063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latin typeface="+mj-lt"/>
                <a:cs typeface="Trebuchet MS"/>
              </a:rPr>
              <a:t>Python </a:t>
            </a:r>
            <a:r>
              <a:rPr lang="fr-FR" sz="3200" dirty="0" err="1">
                <a:latin typeface="+mj-lt"/>
                <a:cs typeface="Trebuchet MS"/>
              </a:rPr>
              <a:t>Lists</a:t>
            </a:r>
            <a:endParaRPr lang="fr-FR" sz="3200" dirty="0">
              <a:latin typeface="+mj-lt"/>
              <a:cs typeface="Trebuchet M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dirty="0">
              <a:latin typeface="+mj-lt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691910" y="1077023"/>
            <a:ext cx="65086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j-lt"/>
              </a:rPr>
              <a:t>List</a:t>
            </a:r>
          </a:p>
          <a:p>
            <a:r>
              <a:rPr lang="en-US" sz="1400" dirty="0">
                <a:latin typeface="+mj-lt"/>
              </a:rPr>
              <a:t>Lists are used to store multiple items in a single variable.</a:t>
            </a:r>
          </a:p>
          <a:p>
            <a:r>
              <a:rPr lang="en-US" sz="1400" dirty="0">
                <a:latin typeface="+mj-lt"/>
              </a:rPr>
              <a:t>Lists are one of 4 built-in data types in Python used to store collections of data, the other 3 are Tuple, Set, and Dictionary, all with different qualities and usage.</a:t>
            </a:r>
          </a:p>
          <a:p>
            <a:r>
              <a:rPr lang="en-US" sz="1400" dirty="0">
                <a:latin typeface="+mj-lt"/>
              </a:rPr>
              <a:t>Lists are created using square brackets: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4F4EC4F-45CF-4254-AF0A-96E52512F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545" y="1114869"/>
            <a:ext cx="4801384" cy="1347151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A9904761-BE5A-441F-98F6-16E7B0927DDB}"/>
              </a:ext>
            </a:extLst>
          </p:cNvPr>
          <p:cNvSpPr txBox="1"/>
          <p:nvPr/>
        </p:nvSpPr>
        <p:spPr>
          <a:xfrm>
            <a:off x="691910" y="2679713"/>
            <a:ext cx="91926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</a:rPr>
              <a:t>List items are ordered, changeable, and allow duplicate values.</a:t>
            </a:r>
          </a:p>
          <a:p>
            <a:r>
              <a:rPr lang="en-US" sz="1400" dirty="0">
                <a:latin typeface="+mj-lt"/>
              </a:rPr>
              <a:t>List items are indexed, the first item has index [0], the second item has index [1] etc.\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dirty="0">
                <a:latin typeface="+mj-lt"/>
              </a:rPr>
              <a:t>Ordered</a:t>
            </a:r>
          </a:p>
          <a:p>
            <a:r>
              <a:rPr lang="en-US" sz="1400" dirty="0">
                <a:latin typeface="+mj-lt"/>
              </a:rPr>
              <a:t>When we say that lists are ordered, it means that the items have a defined order, and that order will not change.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dirty="0">
                <a:latin typeface="+mj-lt"/>
              </a:rPr>
              <a:t>If you add new items to a list, the new items will be placed at the end of the list.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dirty="0">
                <a:latin typeface="+mj-lt"/>
              </a:rPr>
              <a:t>Note: There are some list methods that will change the order, but in general: the order of the items will not change.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dirty="0">
                <a:latin typeface="+mj-lt"/>
              </a:rPr>
              <a:t>Changeable</a:t>
            </a:r>
          </a:p>
          <a:p>
            <a:r>
              <a:rPr lang="en-US" sz="1400" dirty="0">
                <a:latin typeface="+mj-lt"/>
              </a:rPr>
              <a:t>The list is changeable, meaning that we can change, add, and remove items in a list after it has been created.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dirty="0">
                <a:latin typeface="+mj-lt"/>
              </a:rPr>
              <a:t>Allow Duplicates</a:t>
            </a:r>
          </a:p>
          <a:p>
            <a:r>
              <a:rPr lang="en-US" sz="1400" dirty="0">
                <a:latin typeface="+mj-lt"/>
              </a:rPr>
              <a:t>Since lists are indexed, lists can have items with the same value.</a:t>
            </a:r>
          </a:p>
        </p:txBody>
      </p:sp>
    </p:spTree>
    <p:extLst>
      <p:ext uri="{BB962C8B-B14F-4D97-AF65-F5344CB8AC3E}">
        <p14:creationId xmlns:p14="http://schemas.microsoft.com/office/powerpoint/2010/main" val="3479120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4375" y="238323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Python </a:t>
            </a:r>
            <a:r>
              <a:rPr lang="fr-FR" sz="3200" dirty="0" err="1">
                <a:cs typeface="Trebuchet MS"/>
              </a:rPr>
              <a:t>Lists</a:t>
            </a:r>
            <a:endParaRPr lang="fr-FR" sz="3200" dirty="0">
              <a:cs typeface="Trebuchet M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667822" y="1032142"/>
            <a:ext cx="65086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list() Constructor</a:t>
            </a:r>
          </a:p>
          <a:p>
            <a:r>
              <a:rPr lang="en-US" sz="1400" dirty="0"/>
              <a:t>It is also possible to use the list() constructor when creating a new list.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A0D5630F-5DF5-457B-A997-BE171DF54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67975"/>
            <a:ext cx="6515628" cy="960939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78CCDD80-6CCF-4717-B7AC-2632997DCC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385"/>
          <a:stretch/>
        </p:blipFill>
        <p:spPr>
          <a:xfrm>
            <a:off x="6652119" y="3086118"/>
            <a:ext cx="4076877" cy="1005823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4C161E50-3EEF-44EF-A701-BD0D05BAC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086118"/>
            <a:ext cx="5718284" cy="10058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8E13DA-1211-4F32-8C2B-75F8053C8E3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5731"/>
          <a:stretch/>
        </p:blipFill>
        <p:spPr>
          <a:xfrm>
            <a:off x="7655914" y="1857919"/>
            <a:ext cx="3269263" cy="78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8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4780" y="343837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Python - Access List Items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794781" y="954044"/>
            <a:ext cx="65086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Access Items</a:t>
            </a:r>
          </a:p>
          <a:p>
            <a:r>
              <a:rPr lang="en-US" sz="1400" dirty="0"/>
              <a:t>List items are indexed and you can access them by referring to the index number: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07292B5-20A0-4030-A8B7-0B4799B00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1694286"/>
            <a:ext cx="4171951" cy="1047751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732A6662-4C9F-4827-8456-50C2382B7303}"/>
              </a:ext>
            </a:extLst>
          </p:cNvPr>
          <p:cNvSpPr txBox="1"/>
          <p:nvPr/>
        </p:nvSpPr>
        <p:spPr>
          <a:xfrm>
            <a:off x="794781" y="2921737"/>
            <a:ext cx="65086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Negative Indexing</a:t>
            </a:r>
          </a:p>
          <a:p>
            <a:r>
              <a:rPr lang="en-US" sz="1400" dirty="0"/>
              <a:t>Negative indexing means start from the end</a:t>
            </a:r>
          </a:p>
          <a:p>
            <a:endParaRPr lang="en-US" sz="1400" dirty="0"/>
          </a:p>
          <a:p>
            <a:r>
              <a:rPr lang="en-US" sz="1400" dirty="0"/>
              <a:t>-1 refers to the last item, -2 refers to the second last item etc.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61C7AE88-520C-483E-8BB5-DB50DA058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580" y="2836195"/>
            <a:ext cx="4191000" cy="1000125"/>
          </a:xfrm>
          <a:prstGeom prst="rect">
            <a:avLst/>
          </a:prstGeom>
        </p:spPr>
      </p:pic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00102ADE-FF6E-471D-9577-350833D88C35}"/>
              </a:ext>
            </a:extLst>
          </p:cNvPr>
          <p:cNvSpPr txBox="1"/>
          <p:nvPr/>
        </p:nvSpPr>
        <p:spPr>
          <a:xfrm>
            <a:off x="819150" y="4502752"/>
            <a:ext cx="65086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Negative Indexing</a:t>
            </a:r>
          </a:p>
          <a:p>
            <a:r>
              <a:rPr lang="en-US" sz="1400" dirty="0"/>
              <a:t>Negative indexing means start from the end</a:t>
            </a:r>
          </a:p>
          <a:p>
            <a:endParaRPr lang="en-US" sz="1400" dirty="0"/>
          </a:p>
          <a:p>
            <a:r>
              <a:rPr lang="en-US" sz="1400" dirty="0"/>
              <a:t>-1 refers to the last item, -2 refers to the second last item etc.</a:t>
            </a: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6B92B017-3C6F-43E5-B5F0-4189B2DE2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632" y="4409109"/>
            <a:ext cx="5153025" cy="104775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669FA2-E26E-2946-A6BB-FDDADAADCFEA}"/>
              </a:ext>
            </a:extLst>
          </p:cNvPr>
          <p:cNvSpPr/>
          <p:nvPr/>
        </p:nvSpPr>
        <p:spPr>
          <a:xfrm>
            <a:off x="819151" y="5626351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u="sng" dirty="0"/>
              <a:t>Note: </a:t>
            </a:r>
            <a:r>
              <a:rPr lang="en-US" sz="1400" dirty="0"/>
              <a:t>The search will start at index 2 (included) and end at index 5 (not included).</a:t>
            </a:r>
          </a:p>
        </p:txBody>
      </p:sp>
    </p:spTree>
    <p:extLst>
      <p:ext uri="{BB962C8B-B14F-4D97-AF65-F5344CB8AC3E}">
        <p14:creationId xmlns:p14="http://schemas.microsoft.com/office/powerpoint/2010/main" val="406418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9051" y="327275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Python - Access List Items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669050" y="954519"/>
            <a:ext cx="6508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Example</a:t>
            </a:r>
          </a:p>
          <a:p>
            <a:r>
              <a:rPr lang="en-US" sz="1600" dirty="0"/>
              <a:t>This example returns the items from the beginning to, but NOT included, "kiwi":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00102ADE-FF6E-471D-9577-350833D88C35}"/>
              </a:ext>
            </a:extLst>
          </p:cNvPr>
          <p:cNvSpPr txBox="1"/>
          <p:nvPr/>
        </p:nvSpPr>
        <p:spPr>
          <a:xfrm>
            <a:off x="667822" y="4072925"/>
            <a:ext cx="6508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Check if Item Exists</a:t>
            </a:r>
          </a:p>
          <a:p>
            <a:r>
              <a:rPr lang="en-US" sz="1600" dirty="0"/>
              <a:t>To determine if a specified item is present in a list use the in keyword:</a:t>
            </a: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F34139D-E5D2-4F5B-A6AE-0CFB516FF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1" y="1783809"/>
            <a:ext cx="5219700" cy="581025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6D60D901-EAEA-454F-BE71-87E3404CD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1" y="2514043"/>
            <a:ext cx="6515100" cy="1171575"/>
          </a:xfrm>
          <a:prstGeom prst="rect">
            <a:avLst/>
          </a:prstGeom>
        </p:spPr>
      </p:pic>
      <p:pic>
        <p:nvPicPr>
          <p:cNvPr id="19" name="תמונה 18">
            <a:extLst>
              <a:ext uri="{FF2B5EF4-FFF2-40B4-BE49-F238E27FC236}">
                <a16:creationId xmlns:a16="http://schemas.microsoft.com/office/drawing/2014/main" id="{7CC5280A-1D02-443F-A116-21C7965B5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1" y="4955295"/>
            <a:ext cx="4650799" cy="169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200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611" y="302169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Modifying elements in a list</a:t>
            </a:r>
            <a:endParaRPr lang="fr-FR" sz="3200" dirty="0">
              <a:latin typeface="+mj-lt"/>
              <a:cs typeface="Trebuchet M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1B6BD50-4390-42ED-98FB-AD82BE293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45" y="2223577"/>
            <a:ext cx="5762011" cy="2931353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856CE6D1-F612-4ED4-873C-ACB11379F0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827"/>
          <a:stretch/>
        </p:blipFill>
        <p:spPr>
          <a:xfrm>
            <a:off x="6437631" y="2223576"/>
            <a:ext cx="501967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95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200" y="359271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Modifying elements in a list</a:t>
            </a:r>
            <a:endParaRPr lang="fr-FR" sz="3200" dirty="0">
              <a:latin typeface="+mj-lt"/>
              <a:cs typeface="Trebuchet M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286E2686-CD10-4A08-871B-D81C527C5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21" y="2139925"/>
            <a:ext cx="70485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83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8325" y="332602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Removing elements from a list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528326" y="989161"/>
            <a:ext cx="6508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remove() method removes the specified item.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5A7DF-CF57-422D-AE9C-F46AD0783E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226"/>
          <a:stretch/>
        </p:blipFill>
        <p:spPr>
          <a:xfrm>
            <a:off x="528325" y="1333466"/>
            <a:ext cx="5654531" cy="1513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ADD6C2-3318-4978-A7DA-9C558BFBB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5" y="3418542"/>
            <a:ext cx="4976291" cy="2911092"/>
          </a:xfrm>
          <a:prstGeom prst="rect">
            <a:avLst/>
          </a:prstGeom>
        </p:spPr>
      </p:pic>
      <p:sp>
        <p:nvSpPr>
          <p:cNvPr id="11" name="תיבת טקסט 9">
            <a:extLst>
              <a:ext uri="{FF2B5EF4-FFF2-40B4-BE49-F238E27FC236}">
                <a16:creationId xmlns:a16="http://schemas.microsoft.com/office/drawing/2014/main" id="{4D15C983-117F-4206-BFE4-0862B068108E}"/>
              </a:ext>
            </a:extLst>
          </p:cNvPr>
          <p:cNvSpPr txBox="1"/>
          <p:nvPr/>
        </p:nvSpPr>
        <p:spPr>
          <a:xfrm>
            <a:off x="528326" y="3030748"/>
            <a:ext cx="6508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remove() method removes the specified item.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73137D-8CA4-4EA2-A9A3-42DCA70D8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747" y="5654040"/>
            <a:ext cx="1935648" cy="52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24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6180" y="336411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Removing elements from a list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566181" y="945227"/>
            <a:ext cx="6508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If you do not specify the index, the pop() method removes the last item.</a:t>
            </a:r>
          </a:p>
        </p:txBody>
      </p:sp>
      <p:sp>
        <p:nvSpPr>
          <p:cNvPr id="11" name="תיבת טקסט 9">
            <a:extLst>
              <a:ext uri="{FF2B5EF4-FFF2-40B4-BE49-F238E27FC236}">
                <a16:creationId xmlns:a16="http://schemas.microsoft.com/office/drawing/2014/main" id="{4D15C983-117F-4206-BFE4-0862B068108E}"/>
              </a:ext>
            </a:extLst>
          </p:cNvPr>
          <p:cNvSpPr txBox="1"/>
          <p:nvPr/>
        </p:nvSpPr>
        <p:spPr>
          <a:xfrm>
            <a:off x="566181" y="2733808"/>
            <a:ext cx="6508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Remove the first item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071C63-B023-4590-BCA6-6F9E7C9F1F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017"/>
          <a:stretch/>
        </p:blipFill>
        <p:spPr>
          <a:xfrm>
            <a:off x="615061" y="1235217"/>
            <a:ext cx="4176123" cy="1262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11886F-5D98-48AE-ADCC-BC927351F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32" y="3041585"/>
            <a:ext cx="4450467" cy="1280271"/>
          </a:xfrm>
          <a:prstGeom prst="rect">
            <a:avLst/>
          </a:prstGeom>
        </p:spPr>
      </p:pic>
      <p:sp>
        <p:nvSpPr>
          <p:cNvPr id="13" name="תיבת טקסט 9">
            <a:extLst>
              <a:ext uri="{FF2B5EF4-FFF2-40B4-BE49-F238E27FC236}">
                <a16:creationId xmlns:a16="http://schemas.microsoft.com/office/drawing/2014/main" id="{6D37F146-272C-46BC-882E-720135F714A3}"/>
              </a:ext>
            </a:extLst>
          </p:cNvPr>
          <p:cNvSpPr txBox="1"/>
          <p:nvPr/>
        </p:nvSpPr>
        <p:spPr>
          <a:xfrm>
            <a:off x="615062" y="4629631"/>
            <a:ext cx="65086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clear() method empties the list.</a:t>
            </a:r>
          </a:p>
          <a:p>
            <a:r>
              <a:rPr lang="en-US" sz="1400" dirty="0"/>
              <a:t>The list still remains, but it has no content.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33B8AE-5AB0-44E2-9B5E-AB6142DD1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33" y="5198905"/>
            <a:ext cx="3955123" cy="121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71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331" y="269717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cs typeface="Trebuchet MS"/>
              </a:rPr>
              <a:t>Join Two Lists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623330" y="1114869"/>
            <a:ext cx="65086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There are several ways to join, or concatenate, two or more lists in Python.</a:t>
            </a:r>
          </a:p>
          <a:p>
            <a:endParaRPr lang="en-US" sz="1400" dirty="0"/>
          </a:p>
          <a:p>
            <a:r>
              <a:rPr lang="en-US" sz="1400" dirty="0"/>
              <a:t>One of the easiest ways are by using the + operator.</a:t>
            </a:r>
          </a:p>
        </p:txBody>
      </p:sp>
      <p:sp>
        <p:nvSpPr>
          <p:cNvPr id="11" name="תיבת טקסט 9">
            <a:extLst>
              <a:ext uri="{FF2B5EF4-FFF2-40B4-BE49-F238E27FC236}">
                <a16:creationId xmlns:a16="http://schemas.microsoft.com/office/drawing/2014/main" id="{4D15C983-117F-4206-BFE4-0862B068108E}"/>
              </a:ext>
            </a:extLst>
          </p:cNvPr>
          <p:cNvSpPr txBox="1"/>
          <p:nvPr/>
        </p:nvSpPr>
        <p:spPr>
          <a:xfrm>
            <a:off x="653522" y="4027636"/>
            <a:ext cx="6508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Use the extend() method to add list2 at the end of list1: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13E910-0515-468C-9F34-0953FEF56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23" y="2064214"/>
            <a:ext cx="2385267" cy="1592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944D2B-2635-493C-ABBC-8EB46AB09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082" y="2574798"/>
            <a:ext cx="2583404" cy="10821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2A002A-3C51-498D-925C-FC6E8F9D8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027" y="4397033"/>
            <a:ext cx="5231459" cy="14340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5931EB-780E-40C8-86B5-BFA9E6FB45C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90"/>
          <a:stretch/>
        </p:blipFill>
        <p:spPr>
          <a:xfrm>
            <a:off x="6186794" y="4958485"/>
            <a:ext cx="3814175" cy="86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972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340" y="292562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List Methods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667822" y="1154907"/>
            <a:ext cx="6508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Python has a set of built-in methods that you can use on lists.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7B1551-D1C8-4F15-92B9-6F8E11657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23" y="1550604"/>
            <a:ext cx="8169348" cy="471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22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0480" y="356967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List Methods Complexity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5BAC9-B135-4D85-A493-29B8F209E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82" y="948407"/>
            <a:ext cx="4715527" cy="566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72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911" y="266247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Tuples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551589" y="977254"/>
            <a:ext cx="65086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Tuples are used to store multiple items in a single variable.</a:t>
            </a:r>
          </a:p>
          <a:p>
            <a:r>
              <a:rPr lang="en-US" sz="1400" dirty="0"/>
              <a:t>A tuple is a collection which is ordered and unchangeable.</a:t>
            </a:r>
          </a:p>
          <a:p>
            <a:r>
              <a:rPr lang="en-US" sz="1400" dirty="0"/>
              <a:t>Tuples are written with round brackets.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C4A56-8B61-4E09-AE8D-AE988EC4F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71" y="1828801"/>
            <a:ext cx="4595259" cy="10516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C8B7E2-3A44-469A-9A5C-851F4FE56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431" y="2062261"/>
            <a:ext cx="2941575" cy="823031"/>
          </a:xfrm>
          <a:prstGeom prst="rect">
            <a:avLst/>
          </a:prstGeom>
        </p:spPr>
      </p:pic>
      <p:sp>
        <p:nvSpPr>
          <p:cNvPr id="11" name="תיבת טקסט 9">
            <a:extLst>
              <a:ext uri="{FF2B5EF4-FFF2-40B4-BE49-F238E27FC236}">
                <a16:creationId xmlns:a16="http://schemas.microsoft.com/office/drawing/2014/main" id="{09764D7C-9E13-4179-B9E7-F73EF9782A57}"/>
              </a:ext>
            </a:extLst>
          </p:cNvPr>
          <p:cNvSpPr txBox="1"/>
          <p:nvPr/>
        </p:nvSpPr>
        <p:spPr>
          <a:xfrm>
            <a:off x="597971" y="3226794"/>
            <a:ext cx="650863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Tuple items are ordered, unchangeable, and allow duplicate values.</a:t>
            </a:r>
          </a:p>
          <a:p>
            <a:endParaRPr lang="en-US" sz="1400" dirty="0"/>
          </a:p>
          <a:p>
            <a:r>
              <a:rPr lang="en-US" sz="1400" dirty="0"/>
              <a:t>Tuple items are indexed, the first item has index [0], the second item has index [1] etc.</a:t>
            </a:r>
          </a:p>
          <a:p>
            <a:endParaRPr lang="en-US" sz="1400" dirty="0"/>
          </a:p>
          <a:p>
            <a:r>
              <a:rPr lang="en-US" sz="1400" dirty="0">
                <a:solidFill>
                  <a:schemeClr val="accent2"/>
                </a:solidFill>
              </a:rPr>
              <a:t>Ordered</a:t>
            </a:r>
          </a:p>
          <a:p>
            <a:r>
              <a:rPr lang="en-US" sz="1400" dirty="0"/>
              <a:t>When we say that tuples are ordered, it means that the items have a defined order, and that order will not change.</a:t>
            </a:r>
          </a:p>
          <a:p>
            <a:endParaRPr lang="en-US" sz="1400" dirty="0"/>
          </a:p>
          <a:p>
            <a:r>
              <a:rPr lang="en-US" sz="1400" dirty="0">
                <a:solidFill>
                  <a:schemeClr val="accent4"/>
                </a:solidFill>
              </a:rPr>
              <a:t>Unchangeable</a:t>
            </a:r>
          </a:p>
          <a:p>
            <a:r>
              <a:rPr lang="en-US" sz="1400" dirty="0"/>
              <a:t>Tuples are unchangeable, meaning that we cannot change, add or remove items after the tuple has been created.</a:t>
            </a:r>
          </a:p>
          <a:p>
            <a:endParaRPr lang="en-US" sz="1400" dirty="0"/>
          </a:p>
          <a:p>
            <a:r>
              <a:rPr lang="en-US" sz="1400" dirty="0">
                <a:solidFill>
                  <a:schemeClr val="accent2"/>
                </a:solidFill>
              </a:rPr>
              <a:t>Allow Duplicates</a:t>
            </a:r>
          </a:p>
          <a:p>
            <a:r>
              <a:rPr lang="en-US" sz="1400" dirty="0"/>
              <a:t>Since tuple are indexed, tuples can have items with the same value:</a:t>
            </a:r>
          </a:p>
        </p:txBody>
      </p:sp>
    </p:spTree>
    <p:extLst>
      <p:ext uri="{BB962C8B-B14F-4D97-AF65-F5344CB8AC3E}">
        <p14:creationId xmlns:p14="http://schemas.microsoft.com/office/powerpoint/2010/main" val="2907102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643029" y="851695"/>
            <a:ext cx="6508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To determine how many items a tuple has, use the </a:t>
            </a:r>
            <a:r>
              <a:rPr lang="en-US" sz="1400" dirty="0" err="1"/>
              <a:t>len</a:t>
            </a:r>
            <a:r>
              <a:rPr lang="en-US" sz="1400" dirty="0"/>
              <a:t>() function:</a:t>
            </a:r>
          </a:p>
        </p:txBody>
      </p:sp>
      <p:sp>
        <p:nvSpPr>
          <p:cNvPr id="11" name="תיבת טקסט 9">
            <a:extLst>
              <a:ext uri="{FF2B5EF4-FFF2-40B4-BE49-F238E27FC236}">
                <a16:creationId xmlns:a16="http://schemas.microsoft.com/office/drawing/2014/main" id="{09764D7C-9E13-4179-B9E7-F73EF9782A57}"/>
              </a:ext>
            </a:extLst>
          </p:cNvPr>
          <p:cNvSpPr txBox="1"/>
          <p:nvPr/>
        </p:nvSpPr>
        <p:spPr>
          <a:xfrm>
            <a:off x="667822" y="2350184"/>
            <a:ext cx="65086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Access Tuple Items</a:t>
            </a:r>
          </a:p>
          <a:p>
            <a:r>
              <a:rPr lang="en-US" sz="1400" dirty="0"/>
              <a:t>You can access tuple items by referring to the index number, inside square brackets: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EAF3E-A08C-4563-9541-EBFC42433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82" y="1159472"/>
            <a:ext cx="4366639" cy="10287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4825AF-B172-477B-B8D2-C45A84CB4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068" y="1372851"/>
            <a:ext cx="1211685" cy="8154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0A553D-AA07-4311-9407-CDFDC9C07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201" y="3090966"/>
            <a:ext cx="4122777" cy="10973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FB9B13-D865-4D25-A701-307B73434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201" y="4275766"/>
            <a:ext cx="7262489" cy="11354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614EDA-BA3D-4E95-A261-7A4F3D341E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00" y="5498669"/>
            <a:ext cx="6104149" cy="1272651"/>
          </a:xfrm>
          <a:prstGeom prst="rect">
            <a:avLst/>
          </a:prstGeom>
        </p:spPr>
      </p:pic>
      <p:sp>
        <p:nvSpPr>
          <p:cNvPr id="12" name="object 2">
            <a:extLst>
              <a:ext uri="{FF2B5EF4-FFF2-40B4-BE49-F238E27FC236}">
                <a16:creationId xmlns:a16="http://schemas.microsoft.com/office/drawing/2014/main" id="{110CAADC-02DA-0144-8A05-ED75DCAEDA64}"/>
              </a:ext>
            </a:extLst>
          </p:cNvPr>
          <p:cNvSpPr txBox="1"/>
          <p:nvPr/>
        </p:nvSpPr>
        <p:spPr>
          <a:xfrm>
            <a:off x="726200" y="252378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cs typeface="Trebuchet MS"/>
              </a:rPr>
              <a:t>Python Tuples</a:t>
            </a:r>
          </a:p>
        </p:txBody>
      </p:sp>
    </p:spTree>
    <p:extLst>
      <p:ext uri="{BB962C8B-B14F-4D97-AF65-F5344CB8AC3E}">
        <p14:creationId xmlns:p14="http://schemas.microsoft.com/office/powerpoint/2010/main" val="527436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4760" y="395538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cs typeface="Trebuchet MS"/>
              </a:rPr>
              <a:t>Change Tuple Values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634760" y="1776875"/>
            <a:ext cx="65086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Once a tuple is created, you cannot change its values. Tuples are unchangeable, or immutable as it also is called.</a:t>
            </a:r>
          </a:p>
        </p:txBody>
      </p:sp>
      <p:sp>
        <p:nvSpPr>
          <p:cNvPr id="11" name="תיבת טקסט 9">
            <a:extLst>
              <a:ext uri="{FF2B5EF4-FFF2-40B4-BE49-F238E27FC236}">
                <a16:creationId xmlns:a16="http://schemas.microsoft.com/office/drawing/2014/main" id="{09764D7C-9E13-4179-B9E7-F73EF9782A57}"/>
              </a:ext>
            </a:extLst>
          </p:cNvPr>
          <p:cNvSpPr txBox="1"/>
          <p:nvPr/>
        </p:nvSpPr>
        <p:spPr>
          <a:xfrm>
            <a:off x="482053" y="5225632"/>
            <a:ext cx="6878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Tuples are unchangeable, so you cannot remove items from 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B6BABF-2A2E-4D98-BF64-38089D06F0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88" t="13671" r="488" b="-2271"/>
          <a:stretch/>
        </p:blipFill>
        <p:spPr>
          <a:xfrm>
            <a:off x="634760" y="2747629"/>
            <a:ext cx="6203219" cy="183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79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9051" y="349257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- Unpack Tuples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623794" y="1098212"/>
            <a:ext cx="6508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Packing a Tuple</a:t>
            </a:r>
          </a:p>
          <a:p>
            <a:r>
              <a:rPr lang="en-US" sz="1600" dirty="0"/>
              <a:t>When we create a tuple, we normally assign values to it. This is called "packing" a tuple: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ADF9F-9B86-468F-80F2-6AE9FD655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02" y="2006527"/>
            <a:ext cx="3726503" cy="922100"/>
          </a:xfrm>
          <a:prstGeom prst="rect">
            <a:avLst/>
          </a:prstGeom>
        </p:spPr>
      </p:pic>
      <p:sp>
        <p:nvSpPr>
          <p:cNvPr id="9" name="תיבת טקסט 9">
            <a:extLst>
              <a:ext uri="{FF2B5EF4-FFF2-40B4-BE49-F238E27FC236}">
                <a16:creationId xmlns:a16="http://schemas.microsoft.com/office/drawing/2014/main" id="{170F62E4-C937-49ED-9403-EBBCB9B6C876}"/>
              </a:ext>
            </a:extLst>
          </p:cNvPr>
          <p:cNvSpPr txBox="1"/>
          <p:nvPr/>
        </p:nvSpPr>
        <p:spPr>
          <a:xfrm>
            <a:off x="707902" y="3429000"/>
            <a:ext cx="65086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Unpacking a Tuple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57C9C0-5E8C-4C5E-B7C0-FCB5C705C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15" y="3880091"/>
            <a:ext cx="4267571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94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200" y="264831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Tuples</a:t>
            </a:r>
            <a:endParaRPr lang="en-US" sz="2400" dirty="0">
              <a:latin typeface="+mj-lt"/>
              <a:cs typeface="Trebuchet M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812209" y="113538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 defTabSz="457189" rtl="1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643029" y="900681"/>
            <a:ext cx="6508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To join two or more tuples you can use the + operator</a:t>
            </a:r>
          </a:p>
        </p:txBody>
      </p:sp>
      <p:sp>
        <p:nvSpPr>
          <p:cNvPr id="9" name="תיבת טקסט 9">
            <a:extLst>
              <a:ext uri="{FF2B5EF4-FFF2-40B4-BE49-F238E27FC236}">
                <a16:creationId xmlns:a16="http://schemas.microsoft.com/office/drawing/2014/main" id="{170F62E4-C937-49ED-9403-EBBCB9B6C876}"/>
              </a:ext>
            </a:extLst>
          </p:cNvPr>
          <p:cNvSpPr txBox="1"/>
          <p:nvPr/>
        </p:nvSpPr>
        <p:spPr>
          <a:xfrm>
            <a:off x="723069" y="3026679"/>
            <a:ext cx="8928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If you want to multiply the content of a tuple a given number of times, you can use the * operator: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F7C9B-8931-4042-8CEF-742D14FB0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02" y="1227515"/>
            <a:ext cx="3398815" cy="17070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38FE40-8243-4512-84B9-45C34C46D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31" y="3426591"/>
            <a:ext cx="4198984" cy="1516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1A9AA6-A30F-4210-9399-0462D4791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71" y="4997486"/>
            <a:ext cx="8229600" cy="178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51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0471" y="256567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cs typeface="Trebuchet MS"/>
              </a:rPr>
              <a:t>Python Dictionaries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600470" y="903333"/>
            <a:ext cx="91296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Dictionaries are used to store data values in </a:t>
            </a:r>
            <a:r>
              <a:rPr lang="en-US" sz="1400" dirty="0" err="1"/>
              <a:t>key:value</a:t>
            </a:r>
            <a:r>
              <a:rPr lang="en-US" sz="1400" dirty="0"/>
              <a:t> pairs.</a:t>
            </a:r>
          </a:p>
          <a:p>
            <a:r>
              <a:rPr lang="en-US" sz="1400" dirty="0"/>
              <a:t>A dictionary is a collection which is unordered, changeable and does not allow duplicates.</a:t>
            </a:r>
          </a:p>
          <a:p>
            <a:r>
              <a:rPr lang="en-US" sz="1400" dirty="0"/>
              <a:t>Dictionaries are written with curly brackets, and have keys and values: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EF32A-5469-4387-A5D1-7843C0B47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71" y="1707460"/>
            <a:ext cx="3749365" cy="19127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3C0FB6-7DEF-4EB7-8BF4-93ED6B074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351" y="2541479"/>
            <a:ext cx="3962400" cy="1078768"/>
          </a:xfrm>
          <a:prstGeom prst="rect">
            <a:avLst/>
          </a:prstGeom>
        </p:spPr>
      </p:pic>
      <p:sp>
        <p:nvSpPr>
          <p:cNvPr id="14" name="תיבת טקסט 9">
            <a:extLst>
              <a:ext uri="{FF2B5EF4-FFF2-40B4-BE49-F238E27FC236}">
                <a16:creationId xmlns:a16="http://schemas.microsoft.com/office/drawing/2014/main" id="{D385D61B-E72C-4D09-B5E9-FE75712C00EE}"/>
              </a:ext>
            </a:extLst>
          </p:cNvPr>
          <p:cNvSpPr txBox="1"/>
          <p:nvPr/>
        </p:nvSpPr>
        <p:spPr>
          <a:xfrm>
            <a:off x="600470" y="3935384"/>
            <a:ext cx="91296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Dictionary Items</a:t>
            </a:r>
          </a:p>
          <a:p>
            <a:r>
              <a:rPr lang="en-US" sz="1400" dirty="0"/>
              <a:t>Dictionary items are unordered, changeable, and does not allow duplicates.</a:t>
            </a:r>
          </a:p>
          <a:p>
            <a:endParaRPr lang="en-US" sz="1400" dirty="0"/>
          </a:p>
          <a:p>
            <a:r>
              <a:rPr lang="en-US" sz="1400" dirty="0"/>
              <a:t>Dictionary items are presented in </a:t>
            </a:r>
            <a:r>
              <a:rPr lang="en-US" sz="1400" dirty="0" err="1"/>
              <a:t>key:value</a:t>
            </a:r>
            <a:r>
              <a:rPr lang="en-US" sz="1400" dirty="0"/>
              <a:t> pairs, and can be referred to by using the key name.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DB99AC-D766-4160-BBDD-C9E611617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71" y="4889490"/>
            <a:ext cx="3863675" cy="1882303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FA20F924-E3A2-F7E9-9DC4-FE9469F61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442" y="4972482"/>
            <a:ext cx="4588558" cy="18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83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0460" y="267998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Dictionaries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520461" y="837869"/>
            <a:ext cx="912962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Unordered</a:t>
            </a:r>
          </a:p>
          <a:p>
            <a:r>
              <a:rPr lang="en-US" sz="1400" dirty="0"/>
              <a:t>When we say that dictionaries are unordered, it means that the items does not have a defined order, you cannot refer to an item by using an index.</a:t>
            </a:r>
          </a:p>
          <a:p>
            <a:endParaRPr lang="en-US" sz="1400" dirty="0"/>
          </a:p>
          <a:p>
            <a:r>
              <a:rPr lang="en-US" sz="1400" dirty="0">
                <a:solidFill>
                  <a:schemeClr val="accent2"/>
                </a:solidFill>
              </a:rPr>
              <a:t>Changeable</a:t>
            </a:r>
          </a:p>
          <a:p>
            <a:r>
              <a:rPr lang="en-US" sz="1400" dirty="0"/>
              <a:t>Dictionaries are changeable, meaning that we can change, add or remove items after the dictionary has been created.</a:t>
            </a:r>
          </a:p>
          <a:p>
            <a:endParaRPr lang="en-US" sz="1400" dirty="0"/>
          </a:p>
          <a:p>
            <a:r>
              <a:rPr lang="en-US" sz="1400" dirty="0">
                <a:solidFill>
                  <a:schemeClr val="accent4"/>
                </a:solidFill>
              </a:rPr>
              <a:t>Duplicates Not Allowed</a:t>
            </a:r>
          </a:p>
          <a:p>
            <a:r>
              <a:rPr lang="en-US" sz="1400" dirty="0"/>
              <a:t>Dictionaries cannot have two items with the same key: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17EA8-ED52-4CA9-9CFD-F9F06A5B6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1" y="3131553"/>
            <a:ext cx="4618120" cy="2133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260453-F4D0-42FC-8766-D859E9712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21" y="5527696"/>
            <a:ext cx="5128704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25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620" y="332602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Dictionaries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524818" y="1323849"/>
            <a:ext cx="91296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Dictionary Length</a:t>
            </a:r>
          </a:p>
          <a:p>
            <a:r>
              <a:rPr lang="en-US" sz="1600" dirty="0"/>
              <a:t>To determine how many items a dictionary has, use the </a:t>
            </a:r>
            <a:r>
              <a:rPr lang="en-US" sz="1600" dirty="0" err="1"/>
              <a:t>len</a:t>
            </a:r>
            <a:r>
              <a:rPr lang="en-US" sz="1600" dirty="0"/>
              <a:t>() function: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B1E815-368C-4D1F-A833-D11E775C2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18" y="2394604"/>
            <a:ext cx="3985605" cy="89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45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4751" y="269702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cs typeface="Trebuchet MS"/>
              </a:rPr>
              <a:t>Access Dictionary Items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554750" y="910919"/>
            <a:ext cx="91296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You can access the items of a dictionary by referring to its key name, inside square brackets: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6E16B-01E5-4FDB-A7DC-C5EFF35B9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09" y="1359932"/>
            <a:ext cx="4320915" cy="1912787"/>
          </a:xfrm>
          <a:prstGeom prst="rect">
            <a:avLst/>
          </a:prstGeom>
        </p:spPr>
      </p:pic>
      <p:sp>
        <p:nvSpPr>
          <p:cNvPr id="12" name="תיבת טקסט 9">
            <a:extLst>
              <a:ext uri="{FF2B5EF4-FFF2-40B4-BE49-F238E27FC236}">
                <a16:creationId xmlns:a16="http://schemas.microsoft.com/office/drawing/2014/main" id="{4ED4CE4F-9BCB-4BED-83A7-6D13A2656115}"/>
              </a:ext>
            </a:extLst>
          </p:cNvPr>
          <p:cNvSpPr txBox="1"/>
          <p:nvPr/>
        </p:nvSpPr>
        <p:spPr>
          <a:xfrm>
            <a:off x="655194" y="3370299"/>
            <a:ext cx="91296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You can access the items of a dictionary by referring to its key name, using get() method: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35D912-C69C-492B-A874-549FDC4B2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73" y="3775658"/>
            <a:ext cx="3612193" cy="861135"/>
          </a:xfrm>
          <a:prstGeom prst="rect">
            <a:avLst/>
          </a:prstGeom>
        </p:spPr>
      </p:pic>
      <p:sp>
        <p:nvSpPr>
          <p:cNvPr id="17" name="תיבת טקסט 9">
            <a:extLst>
              <a:ext uri="{FF2B5EF4-FFF2-40B4-BE49-F238E27FC236}">
                <a16:creationId xmlns:a16="http://schemas.microsoft.com/office/drawing/2014/main" id="{E817096B-CE07-4229-B5C8-974147DA4B0B}"/>
              </a:ext>
            </a:extLst>
          </p:cNvPr>
          <p:cNvSpPr txBox="1"/>
          <p:nvPr/>
        </p:nvSpPr>
        <p:spPr>
          <a:xfrm>
            <a:off x="652710" y="5055976"/>
            <a:ext cx="91296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keys() method will return a list of all the keys in the dictionary.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14C4175-5C0F-4F91-AA88-622F8EAFB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73" y="5461334"/>
            <a:ext cx="2766300" cy="83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07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911" y="297202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Access Dictionary Items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721138" y="1114867"/>
            <a:ext cx="91296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list of the keys is a view of the dictionary, meaning that any changes done to the dictionary will be reflected in the keys list.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3D3FC5-50F6-4825-A05E-5BD0A01F56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257" t="13244" r="1257" b="-3383"/>
          <a:stretch/>
        </p:blipFill>
        <p:spPr>
          <a:xfrm>
            <a:off x="589041" y="1976640"/>
            <a:ext cx="9272486" cy="2817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48252B-9583-457E-9431-3507E871F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11" y="5071478"/>
            <a:ext cx="6314282" cy="117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615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340" y="316639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Access Dictionary Items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703341" y="1366351"/>
            <a:ext cx="91296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Get Values</a:t>
            </a:r>
          </a:p>
          <a:p>
            <a:r>
              <a:rPr lang="en-US" dirty="0"/>
              <a:t>The values() method will return a list of all the values in the dictionary.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1D053B-B03E-4143-AC0C-0078EA471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58" y="2124588"/>
            <a:ext cx="3206285" cy="938652"/>
          </a:xfrm>
          <a:prstGeom prst="rect">
            <a:avLst/>
          </a:prstGeom>
        </p:spPr>
      </p:pic>
      <p:sp>
        <p:nvSpPr>
          <p:cNvPr id="9" name="תיבת טקסט 9">
            <a:extLst>
              <a:ext uri="{FF2B5EF4-FFF2-40B4-BE49-F238E27FC236}">
                <a16:creationId xmlns:a16="http://schemas.microsoft.com/office/drawing/2014/main" id="{960CDE70-18B7-409A-8D63-8CCC05E8983D}"/>
              </a:ext>
            </a:extLst>
          </p:cNvPr>
          <p:cNvSpPr txBox="1"/>
          <p:nvPr/>
        </p:nvSpPr>
        <p:spPr>
          <a:xfrm>
            <a:off x="786558" y="3965630"/>
            <a:ext cx="91296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items() method will return each item in a dictionary, as tuples in a list.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964C34-E10E-45D3-A7B7-C6F0B8A24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58" y="4471422"/>
            <a:ext cx="2667231" cy="6248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122A25-D724-4A0E-AF77-203EDF4AC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59" y="5294332"/>
            <a:ext cx="7323455" cy="75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96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068" y="356967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Loop Through a Dictionary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766069" y="1069097"/>
            <a:ext cx="91296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You can loop through a dictionary by using a for loop.</a:t>
            </a:r>
          </a:p>
          <a:p>
            <a:endParaRPr lang="en-US" sz="1400" dirty="0"/>
          </a:p>
          <a:p>
            <a:r>
              <a:rPr lang="en-US" sz="1400" dirty="0"/>
              <a:t>When looping through a dictionary, the return value are the keys of the dictionary, but there are methods to return the values as well.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BA1B89-0E48-4236-A363-BB4AD29D9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05" y="2111418"/>
            <a:ext cx="4221847" cy="10668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BF0386-FFB0-4381-B017-8A1164188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977" y="2102399"/>
            <a:ext cx="1691787" cy="13564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FD36437-BFF8-437E-A3AF-7F9D527D5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04" y="3298368"/>
            <a:ext cx="4381880" cy="10516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FA20433-115A-4A97-A4B9-033B9D889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06" y="4444135"/>
            <a:ext cx="6774767" cy="115072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0D6FF9E-38BE-4D3E-87F0-FF1A9F77B1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904" y="5688973"/>
            <a:ext cx="5951736" cy="110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06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1920" y="471101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Dictionary Methods Complexity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B5822F-B9C9-4946-B662-79A79DC8E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20" y="1222959"/>
            <a:ext cx="703755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91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500" y="585235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data structures 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pic>
        <p:nvPicPr>
          <p:cNvPr id="1026" name="Picture 2" descr="Data Structures- Lists, Tuples, Dictionaries, and Sets in Python | by  Rachel Aitaru | Medium">
            <a:extLst>
              <a:ext uri="{FF2B5EF4-FFF2-40B4-BE49-F238E27FC236}">
                <a16:creationId xmlns:a16="http://schemas.microsoft.com/office/drawing/2014/main" id="{93ECF399-58B6-4EC6-8B1E-CF13E2970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00" y="1432846"/>
            <a:ext cx="8970256" cy="358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018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911" y="471101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For Loops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691910" y="1136625"/>
            <a:ext cx="912962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 for loop is used for iterating over a sequence (that is either a list, a tuple, a dictionary, a set, or a string).</a:t>
            </a:r>
          </a:p>
          <a:p>
            <a:endParaRPr lang="en-US" sz="1400" dirty="0"/>
          </a:p>
          <a:p>
            <a:r>
              <a:rPr lang="en-US" sz="1400" dirty="0"/>
              <a:t>This is less like the for keyword in other programming languages, and works more like an iterator method as found in other object-orientated programming languages.</a:t>
            </a:r>
          </a:p>
          <a:p>
            <a:endParaRPr lang="en-US" sz="1400" dirty="0"/>
          </a:p>
          <a:p>
            <a:r>
              <a:rPr lang="en-US" sz="1400" dirty="0"/>
              <a:t>With the for loop we can execute a set of statements, once for each item in a list, tuple, set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49DC55-0EBF-43D5-9F1A-BB4CEAB79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76" y="2954953"/>
            <a:ext cx="6131704" cy="1308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F8BF95-3554-48CA-A94C-8604BB173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334" y="2939110"/>
            <a:ext cx="2065199" cy="16841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1CA056-D449-4E5B-AB2B-3CEAE3F57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76" y="4696724"/>
            <a:ext cx="5344933" cy="11459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A4AD0A-E363-46BB-B8BC-961871C45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506" y="4775725"/>
            <a:ext cx="1120237" cy="170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5866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9051" y="440522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For Loops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 defTabSz="457189" rtl="1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669050" y="1286341"/>
            <a:ext cx="91296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With the break statement we can stop the loop before it has looped through all the items: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67C01D-3D12-4DEA-A675-74DEBC4BD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32" y="1759364"/>
            <a:ext cx="4778155" cy="1714649"/>
          </a:xfrm>
          <a:prstGeom prst="rect">
            <a:avLst/>
          </a:prstGeom>
        </p:spPr>
      </p:pic>
      <p:sp>
        <p:nvSpPr>
          <p:cNvPr id="11" name="תיבת טקסט 9">
            <a:extLst>
              <a:ext uri="{FF2B5EF4-FFF2-40B4-BE49-F238E27FC236}">
                <a16:creationId xmlns:a16="http://schemas.microsoft.com/office/drawing/2014/main" id="{815CF92B-D074-4585-A7C1-21D2B164D289}"/>
              </a:ext>
            </a:extLst>
          </p:cNvPr>
          <p:cNvSpPr txBox="1"/>
          <p:nvPr/>
        </p:nvSpPr>
        <p:spPr>
          <a:xfrm>
            <a:off x="779933" y="3625353"/>
            <a:ext cx="91296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With the continue statement we can stop the current iteration of the loop, and continue with the next: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C75138-4709-4921-B484-861FFB22A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43" y="4016780"/>
            <a:ext cx="4770533" cy="162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678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319" y="251933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For Loops  The range() Function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607221" y="837869"/>
            <a:ext cx="91296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To loop through a set of code a specified number of times, we can use the range() function,</a:t>
            </a:r>
          </a:p>
          <a:p>
            <a:r>
              <a:rPr lang="en-US" sz="1400" dirty="0"/>
              <a:t>The range() function returns a sequence of numbers, starting from 0 by default, and increments by 1 (by default), and ends at a specified number.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05D00E-490C-4067-99E5-023B1C5BE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50" y="1576532"/>
            <a:ext cx="2651991" cy="9754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7F6136-761C-49D1-975B-8052024ED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123" y="1486394"/>
            <a:ext cx="1051651" cy="16308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0E7824-325B-4D11-96DA-98CDB1CF7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20" y="2639933"/>
            <a:ext cx="6736664" cy="571551"/>
          </a:xfrm>
          <a:prstGeom prst="rect">
            <a:avLst/>
          </a:prstGeom>
        </p:spPr>
      </p:pic>
      <p:sp>
        <p:nvSpPr>
          <p:cNvPr id="16" name="תיבת טקסט 9">
            <a:extLst>
              <a:ext uri="{FF2B5EF4-FFF2-40B4-BE49-F238E27FC236}">
                <a16:creationId xmlns:a16="http://schemas.microsoft.com/office/drawing/2014/main" id="{45BE2277-1138-4135-A583-B02ED45A4F9C}"/>
              </a:ext>
            </a:extLst>
          </p:cNvPr>
          <p:cNvSpPr txBox="1"/>
          <p:nvPr/>
        </p:nvSpPr>
        <p:spPr>
          <a:xfrm>
            <a:off x="607221" y="3282802"/>
            <a:ext cx="91296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To loop through a set of code a specified number of times, we can use the range() function,</a:t>
            </a:r>
          </a:p>
          <a:p>
            <a:r>
              <a:rPr lang="en-US" sz="1400" dirty="0"/>
              <a:t>The range() function returns a sequence of numbers, starting from 0 by default, and increments by 1 (by default), and ends at a specified number.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6C83166-0E2B-4B6B-9037-DDF7245CA2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20" y="4063201"/>
            <a:ext cx="2812024" cy="9983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E41B25-814E-46DE-AABF-D45D1E60827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7645"/>
          <a:stretch/>
        </p:blipFill>
        <p:spPr>
          <a:xfrm>
            <a:off x="5172032" y="3907999"/>
            <a:ext cx="662997" cy="1186165"/>
          </a:xfrm>
          <a:prstGeom prst="rect">
            <a:avLst/>
          </a:prstGeom>
        </p:spPr>
      </p:pic>
      <p:sp>
        <p:nvSpPr>
          <p:cNvPr id="21" name="תיבת טקסט 9">
            <a:extLst>
              <a:ext uri="{FF2B5EF4-FFF2-40B4-BE49-F238E27FC236}">
                <a16:creationId xmlns:a16="http://schemas.microsoft.com/office/drawing/2014/main" id="{BAD89D2E-ABCC-4BEE-B8D2-D17BB3ED9057}"/>
              </a:ext>
            </a:extLst>
          </p:cNvPr>
          <p:cNvSpPr txBox="1"/>
          <p:nvPr/>
        </p:nvSpPr>
        <p:spPr>
          <a:xfrm>
            <a:off x="661319" y="5191160"/>
            <a:ext cx="91296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range() function defaults to increment the sequence by 1, however it is possible to specify </a:t>
            </a:r>
            <a:endParaRPr lang="he-IL" sz="1400" dirty="0"/>
          </a:p>
          <a:p>
            <a:r>
              <a:rPr lang="en-US" sz="1400" dirty="0"/>
              <a:t>the increment value by adding a third parameter: range(2, 30, 3):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EA51F07-D0C5-4F3A-A649-1FC40EC4DB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551" y="5740334"/>
            <a:ext cx="4610500" cy="9525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67F5FD1-2692-41FF-843F-44409DF6EE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9774" y="4562354"/>
            <a:ext cx="962335" cy="212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10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7631" y="354910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For Loops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16E044-87B4-4BFF-A22F-890CA709EC6C}"/>
              </a:ext>
            </a:extLst>
          </p:cNvPr>
          <p:cNvSpPr txBox="1"/>
          <p:nvPr/>
        </p:nvSpPr>
        <p:spPr>
          <a:xfrm>
            <a:off x="2895601" y="609601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endParaRPr lang="en-US" sz="1400" b="1" dirty="0">
              <a:latin typeface="var(--font-din)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8AC4B54-B5F4-474E-9673-04DCF759462F}"/>
              </a:ext>
            </a:extLst>
          </p:cNvPr>
          <p:cNvSpPr txBox="1"/>
          <p:nvPr/>
        </p:nvSpPr>
        <p:spPr>
          <a:xfrm>
            <a:off x="737630" y="1503864"/>
            <a:ext cx="91296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 nested loop is a loop inside a loop.</a:t>
            </a:r>
          </a:p>
          <a:p>
            <a:endParaRPr lang="en-US" sz="1600" dirty="0"/>
          </a:p>
          <a:p>
            <a:r>
              <a:rPr lang="en-US" sz="1600" dirty="0"/>
              <a:t>The "inner loop" will be executed one time for each iteration of the "outer loop":</a:t>
            </a:r>
          </a:p>
        </p:txBody>
      </p:sp>
      <p:sp>
        <p:nvSpPr>
          <p:cNvPr id="16" name="תיבת טקסט 9">
            <a:extLst>
              <a:ext uri="{FF2B5EF4-FFF2-40B4-BE49-F238E27FC236}">
                <a16:creationId xmlns:a16="http://schemas.microsoft.com/office/drawing/2014/main" id="{45BE2277-1138-4135-A583-B02ED45A4F9C}"/>
              </a:ext>
            </a:extLst>
          </p:cNvPr>
          <p:cNvSpPr txBox="1"/>
          <p:nvPr/>
        </p:nvSpPr>
        <p:spPr>
          <a:xfrm>
            <a:off x="817225" y="4523139"/>
            <a:ext cx="91296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pass Statement</a:t>
            </a:r>
            <a:endParaRPr lang="he-IL" sz="1600" dirty="0"/>
          </a:p>
          <a:p>
            <a:r>
              <a:rPr lang="en-US" sz="1600" dirty="0"/>
              <a:t>for loops cannot be empty, but if you for some reason have a for loop with no content, put in the pass statement to avoid getting an error.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F70BE2-C6B8-4E08-80A7-B3E06292F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25" y="2595562"/>
            <a:ext cx="4267200" cy="1666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62F4E7-7DAE-47C7-8A97-AC222BA8B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27" y="5631134"/>
            <a:ext cx="2415749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09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אריג דמשק</Template>
  <TotalTime>2</TotalTime>
  <Words>1819</Words>
  <Application>Microsoft Office PowerPoint</Application>
  <PresentationFormat>מסך רחב</PresentationFormat>
  <Paragraphs>182</Paragraphs>
  <Slides>37</Slides>
  <Notes>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37</vt:i4>
      </vt:variant>
    </vt:vector>
  </HeadingPairs>
  <TitlesOfParts>
    <vt:vector size="44" baseType="lpstr">
      <vt:lpstr>Aptos</vt:lpstr>
      <vt:lpstr>Arial</vt:lpstr>
      <vt:lpstr>Bookman Old Style</vt:lpstr>
      <vt:lpstr>Rockwell</vt:lpstr>
      <vt:lpstr>Trebuchet MS</vt:lpstr>
      <vt:lpstr>var(--font-din)</vt:lpstr>
      <vt:lpstr>Damask</vt:lpstr>
      <vt:lpstr>Part 2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משה עופר</dc:creator>
  <cp:lastModifiedBy>משה עופר</cp:lastModifiedBy>
  <cp:revision>1</cp:revision>
  <dcterms:created xsi:type="dcterms:W3CDTF">2025-11-09T12:10:35Z</dcterms:created>
  <dcterms:modified xsi:type="dcterms:W3CDTF">2025-11-09T12:13:09Z</dcterms:modified>
</cp:coreProperties>
</file>