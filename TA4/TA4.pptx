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93" r:id="rId1"/>
  </p:sldMasterIdLst>
  <p:sldIdLst>
    <p:sldId id="320" r:id="rId2"/>
    <p:sldId id="335" r:id="rId3"/>
    <p:sldId id="307" r:id="rId4"/>
    <p:sldId id="306" r:id="rId5"/>
    <p:sldId id="273" r:id="rId6"/>
    <p:sldId id="272" r:id="rId7"/>
    <p:sldId id="275" r:id="rId8"/>
    <p:sldId id="276" r:id="rId9"/>
    <p:sldId id="336" r:id="rId10"/>
    <p:sldId id="277" r:id="rId11"/>
    <p:sldId id="278" r:id="rId12"/>
    <p:sldId id="279" r:id="rId13"/>
    <p:sldId id="280" r:id="rId14"/>
    <p:sldId id="451" r:id="rId15"/>
    <p:sldId id="490" r:id="rId16"/>
    <p:sldId id="452" r:id="rId17"/>
    <p:sldId id="457" r:id="rId18"/>
    <p:sldId id="453" r:id="rId19"/>
    <p:sldId id="458" r:id="rId20"/>
    <p:sldId id="454" r:id="rId21"/>
    <p:sldId id="492" r:id="rId22"/>
    <p:sldId id="459" r:id="rId23"/>
    <p:sldId id="455" r:id="rId24"/>
    <p:sldId id="460" r:id="rId25"/>
    <p:sldId id="462" r:id="rId26"/>
    <p:sldId id="463" r:id="rId27"/>
    <p:sldId id="456" r:id="rId28"/>
    <p:sldId id="464" r:id="rId29"/>
    <p:sldId id="491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13092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62433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46818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08636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04955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08177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62247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76070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73677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4953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2676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04706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97364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68313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4813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21881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2658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11/17/2025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600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BA7DC-6397-40D3-B664-54854C64F526}" type="datetimeFigureOut">
              <a:rPr lang="he-IL" smtClean="0"/>
              <a:t>כ"ו/חשון/תשפ"ו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A2EE2-AC28-4036-8BF8-295E370EB1B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7389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</p:sldLayoutIdLst>
  <p:txStyles>
    <p:titleStyle>
      <a:lvl1pPr algn="ctr" defTabSz="914400" rtl="1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g"/><Relationship Id="rId5" Type="http://schemas.openxmlformats.org/officeDocument/2006/relationships/image" Target="../media/image23.jpg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7" Type="http://schemas.openxmlformats.org/officeDocument/2006/relationships/image" Target="../media/image32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7E42007-43A3-4590-DD17-DA58ABEC12A3}"/>
              </a:ext>
            </a:extLst>
          </p:cNvPr>
          <p:cNvSpPr txBox="1">
            <a:spLocks/>
          </p:cNvSpPr>
          <p:nvPr/>
        </p:nvSpPr>
        <p:spPr>
          <a:xfrm>
            <a:off x="2439789" y="485850"/>
            <a:ext cx="7312421" cy="20563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95"/>
              </a:spcBef>
            </a:pPr>
            <a:r>
              <a:rPr lang="he-IL" sz="6600" dirty="0">
                <a:latin typeface="+mn-lt"/>
                <a:ea typeface="+mn-ea"/>
                <a:cs typeface="+mn-cs"/>
              </a:rPr>
              <a:t>תכנות מונחה עצמים</a:t>
            </a:r>
          </a:p>
          <a:p>
            <a:pPr marL="12700" algn="ctr">
              <a:spcBef>
                <a:spcPts val="95"/>
              </a:spcBef>
            </a:pPr>
            <a:r>
              <a:rPr lang="he-IL" sz="6600" dirty="0">
                <a:latin typeface="+mn-lt"/>
                <a:ea typeface="+mn-ea"/>
                <a:cs typeface="+mn-cs"/>
              </a:rPr>
              <a:t>תרגול 4</a:t>
            </a:r>
          </a:p>
        </p:txBody>
      </p:sp>
      <p:sp>
        <p:nvSpPr>
          <p:cNvPr id="6" name="מציין מיקום תוכן 2">
            <a:extLst>
              <a:ext uri="{FF2B5EF4-FFF2-40B4-BE49-F238E27FC236}">
                <a16:creationId xmlns:a16="http://schemas.microsoft.com/office/drawing/2014/main" id="{27FD7B32-AD36-2E22-5850-F4DA7E04F13B}"/>
              </a:ext>
            </a:extLst>
          </p:cNvPr>
          <p:cNvSpPr txBox="1">
            <a:spLocks/>
          </p:cNvSpPr>
          <p:nvPr/>
        </p:nvSpPr>
        <p:spPr>
          <a:xfrm>
            <a:off x="965200" y="4065502"/>
            <a:ext cx="10994570" cy="435133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228600" indent="-228600" algn="r" defTabSz="914400" rtl="1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Polymorphism</a:t>
            </a:r>
            <a:r>
              <a:rPr lang="en-US" sz="3200" b="1" dirty="0">
                <a:ln w="10160">
                  <a:solidFill>
                    <a:schemeClr val="accent5"/>
                  </a:solidFill>
                  <a:prstDash val="solid"/>
                </a:ln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800" dirty="0"/>
              <a:t> </a:t>
            </a:r>
            <a:r>
              <a:rPr lang="en-US" sz="2800" dirty="0"/>
              <a:t>Overloading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he-IL" sz="2800" dirty="0"/>
              <a:t> </a:t>
            </a:r>
            <a:r>
              <a:rPr lang="en-US" sz="2800" dirty="0"/>
              <a:t>Overriding</a:t>
            </a:r>
          </a:p>
          <a:p>
            <a:r>
              <a:rPr lang="he-IL" sz="3000" dirty="0">
                <a:latin typeface="Rockwell (גוף)"/>
              </a:rPr>
              <a:t>עקרונות </a:t>
            </a:r>
            <a:r>
              <a:rPr lang="en-US" sz="3000" dirty="0">
                <a:latin typeface="Rockwell (גוף)"/>
              </a:rPr>
              <a:t>S.O.L.I.D</a:t>
            </a:r>
          </a:p>
        </p:txBody>
      </p:sp>
    </p:spTree>
    <p:extLst>
      <p:ext uri="{BB962C8B-B14F-4D97-AF65-F5344CB8AC3E}">
        <p14:creationId xmlns:p14="http://schemas.microsoft.com/office/powerpoint/2010/main" val="723084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>
            <a:extLst>
              <a:ext uri="{FF2B5EF4-FFF2-40B4-BE49-F238E27FC236}">
                <a16:creationId xmlns:a16="http://schemas.microsoft.com/office/drawing/2014/main" id="{8D0B24A1-75CD-FAA1-65C1-A19B88A3CD5D}"/>
              </a:ext>
            </a:extLst>
          </p:cNvPr>
          <p:cNvSpPr/>
          <p:nvPr/>
        </p:nvSpPr>
        <p:spPr>
          <a:xfrm>
            <a:off x="1792257" y="1883229"/>
            <a:ext cx="8607485" cy="29238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9600" dirty="0"/>
              <a:t>Polymorphism</a:t>
            </a:r>
            <a:r>
              <a:rPr lang="en-US" sz="8800" dirty="0">
                <a:latin typeface="Söhne"/>
              </a:rPr>
              <a:t> </a:t>
            </a:r>
            <a:endParaRPr lang="he-IL" sz="8800" dirty="0"/>
          </a:p>
          <a:p>
            <a:pPr algn="ctr"/>
            <a:endParaRPr lang="en-US" sz="8800" b="1" cap="none" spc="0" dirty="0">
              <a:ln w="10160">
                <a:solidFill>
                  <a:schemeClr val="accent5"/>
                </a:solidFill>
                <a:prstDash val="solid"/>
              </a:ln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1167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71FBBF92-46EE-8C3C-EA20-7804F2AE3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86806"/>
            <a:ext cx="10353761" cy="1326321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Polymorphism</a:t>
            </a:r>
            <a:r>
              <a:rPr lang="en-US" sz="4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endParaRPr lang="he-IL" sz="4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1F0B75B-3535-89F2-137F-97A3DCAA82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653702"/>
            <a:ext cx="10353762" cy="437096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b="1" u="sng" dirty="0"/>
              <a:t>מוטיבציה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כאשר מסתכלים על בן אדם, ניתן להסתכל עליו מכמה זוויות שונות כמו אבא, סטודנט, בוס ועוד.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פולימורפיזם מאפשר לנו להסתכל על אותו הדבר בכמה צורות שונות בהתאם לסיטואציה הנוכחית, ולבצע פעולה אחת בדרכים שונות.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נרצה להמיר את זה לעולם התכנות, ולאפשר לנו להשתמש במתודות בצורה שונה, בהתאם לאובייקט הנתון או לצורה בה הם נקראות.</a:t>
            </a:r>
          </a:p>
        </p:txBody>
      </p:sp>
    </p:spTree>
    <p:extLst>
      <p:ext uri="{BB962C8B-B14F-4D97-AF65-F5344CB8AC3E}">
        <p14:creationId xmlns:p14="http://schemas.microsoft.com/office/powerpoint/2010/main" val="1505353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4D662CA-FB1D-816D-DEDC-6E9922026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Polymorphism</a:t>
            </a:r>
            <a:r>
              <a:rPr lang="en-US" sz="4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endParaRPr lang="he-IL" sz="4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FC5071F-E592-36F7-0265-758BF32D07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601" y="2009247"/>
            <a:ext cx="10655984" cy="438066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b="1" u="sng" dirty="0"/>
              <a:t>הסבר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פולימורפיזם מאפשר למתכנתים להשתמש במתודות או בפונקציות בצורה שונה בהתאם לסוג או לטיפוס של האובייקט הנתון.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הוא מספק גמישות גדולה והפשטות בעיצוב קוד, ומאפשר יצירת קוד נקי וקל לתחזוקה.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dirty="0"/>
              <a:t>זה מאפשר להתייחס לאובייקטים ממחלקות שונות כאובייקטים של מחלקת-אב משותפת.</a:t>
            </a:r>
          </a:p>
        </p:txBody>
      </p:sp>
    </p:spTree>
    <p:extLst>
      <p:ext uri="{BB962C8B-B14F-4D97-AF65-F5344CB8AC3E}">
        <p14:creationId xmlns:p14="http://schemas.microsoft.com/office/powerpoint/2010/main" val="2415357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A62D5074-FE49-325B-EF4C-AE0CA1A2D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Polymorphism</a:t>
            </a:r>
            <a:r>
              <a:rPr lang="en-US" sz="4400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  <a:endParaRPr lang="he-IL" sz="4400" dirty="0"/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EF017104-F0CF-6828-3C28-3D22AC7269C5}"/>
              </a:ext>
            </a:extLst>
          </p:cNvPr>
          <p:cNvSpPr txBox="1">
            <a:spLocks/>
          </p:cNvSpPr>
          <p:nvPr/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he-IL" dirty="0"/>
              <a:t>ישנם 2 סוגים עיקריים של</a:t>
            </a:r>
            <a:r>
              <a:rPr lang="en-US" dirty="0"/>
              <a:t>:Polymorphism</a:t>
            </a:r>
            <a:r>
              <a:rPr lang="en-US" b="0" i="0" dirty="0">
                <a:solidFill>
                  <a:srgbClr val="D1D5DB"/>
                </a:solidFill>
                <a:effectLst/>
                <a:latin typeface="Söhne"/>
              </a:rPr>
              <a:t> </a:t>
            </a:r>
          </a:p>
          <a:p>
            <a:pPr marL="514350" indent="-514350" algn="l" rtl="0">
              <a:lnSpc>
                <a:spcPct val="150000"/>
              </a:lnSpc>
              <a:buAutoNum type="arabicPeriod"/>
            </a:pPr>
            <a:r>
              <a:rPr lang="en-US" dirty="0"/>
              <a:t>Overloading</a:t>
            </a:r>
          </a:p>
          <a:p>
            <a:pPr marL="514350" indent="-514350" algn="l" rtl="0">
              <a:lnSpc>
                <a:spcPct val="150000"/>
              </a:lnSpc>
              <a:buAutoNum type="arabicPeriod"/>
            </a:pPr>
            <a:r>
              <a:rPr lang="en-US" dirty="0"/>
              <a:t>Overriding</a:t>
            </a:r>
            <a:endParaRPr lang="he-IL" dirty="0"/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250F66A0-F188-B1F1-88DF-445AD83A24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86" t="1417" r="994" b="2538"/>
          <a:stretch/>
        </p:blipFill>
        <p:spPr>
          <a:xfrm>
            <a:off x="5954486" y="3402852"/>
            <a:ext cx="5965371" cy="323743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92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A62D5074-FE49-325B-EF4C-AE0CA1A2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241301"/>
            <a:ext cx="9291215" cy="13673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/>
              <a:t>Overloading</a:t>
            </a:r>
            <a:r>
              <a:rPr lang="en-US" sz="4400" b="0" i="0" dirty="0">
                <a:effectLst/>
                <a:latin typeface="Söhne"/>
              </a:rPr>
              <a:t> </a:t>
            </a:r>
            <a:br>
              <a:rPr lang="he-IL" sz="4400" b="0" i="0" dirty="0">
                <a:effectLst/>
                <a:latin typeface="Söhne"/>
              </a:rPr>
            </a:br>
            <a:r>
              <a:rPr lang="he-IL" sz="4400" b="0" i="0" dirty="0">
                <a:effectLst/>
                <a:latin typeface="Söhne"/>
              </a:rPr>
              <a:t>העמסת מתודות</a:t>
            </a:r>
            <a:endParaRPr lang="he-IL" sz="4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DE116FA-97AD-D388-AD06-4D7F2673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603634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sz="2400" dirty="0"/>
              <a:t>העמסת מתודות היא שיטה המאפשרת להגדיר כמה מתודות תחת אותו שם אך עם פרמטרים שונים (כל שינוי בסוג או בכמות הפרמטרים תופס)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כאשר נקרא לפונקציה, יתברר בזמן </a:t>
            </a:r>
            <a:r>
              <a:rPr lang="he-IL" sz="2400" u="sng" dirty="0"/>
              <a:t>הקומפילציה</a:t>
            </a:r>
            <a:r>
              <a:rPr lang="he-IL" sz="2400" dirty="0"/>
              <a:t> לאיזו פונקציה בדיוק קראנו בהתאם לפרמטרים שהבאנו לה 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BABF6BA3-9ACD-A986-7A37-1B07E2DF1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3" y="3967357"/>
            <a:ext cx="7562948" cy="2724734"/>
          </a:xfrm>
          <a:prstGeom prst="roundRect">
            <a:avLst>
              <a:gd name="adj" fmla="val 9691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97579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A62D5074-FE49-325B-EF4C-AE0CA1A2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241301"/>
            <a:ext cx="9291215" cy="1367371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/>
              <a:t>Overloading</a:t>
            </a:r>
            <a:r>
              <a:rPr lang="en-US" sz="4400" b="0" i="0" dirty="0">
                <a:effectLst/>
                <a:latin typeface="Söhne"/>
              </a:rPr>
              <a:t> </a:t>
            </a:r>
            <a:br>
              <a:rPr lang="he-IL" sz="4400" b="0" i="0" dirty="0">
                <a:effectLst/>
                <a:latin typeface="Söhne"/>
              </a:rPr>
            </a:br>
            <a:r>
              <a:rPr lang="he-IL" sz="4400" b="0" i="0" dirty="0">
                <a:effectLst/>
                <a:latin typeface="Söhne"/>
              </a:rPr>
              <a:t>העמסת מתודות</a:t>
            </a:r>
            <a:endParaRPr lang="he-IL" sz="4400" dirty="0"/>
          </a:p>
        </p:txBody>
      </p:sp>
      <p:sp>
        <p:nvSpPr>
          <p:cNvPr id="9" name="מציין מיקום תוכן 2">
            <a:extLst>
              <a:ext uri="{FF2B5EF4-FFF2-40B4-BE49-F238E27FC236}">
                <a16:creationId xmlns:a16="http://schemas.microsoft.com/office/drawing/2014/main" id="{F23B6EF2-FDF4-BD78-0D11-B1CF3942CE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4" y="1690719"/>
            <a:ext cx="1099457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he-IL" sz="2400" dirty="0"/>
              <a:t>מתודה המבצעת העמסת מתודות חייבת להיות עם כמות שונה של פרמטרים או עם סוג פרמטרים שונה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ערך ההחזרה של הפונקציה לא משפיע בעת העמסת מתודות, כלומר: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he-IL" sz="2400" dirty="0"/>
              <a:t>גם אם 2 פונקציות עם אותו שם ופרמטרים שונים מחזירות ערך שונה עדיין הם נחשבות כהעמסת מתודות אחת של השנייה</a:t>
            </a:r>
          </a:p>
          <a:p>
            <a:pPr marL="457200" indent="-457200">
              <a:lnSpc>
                <a:spcPct val="150000"/>
              </a:lnSpc>
              <a:buAutoNum type="arabicParenR"/>
            </a:pPr>
            <a:r>
              <a:rPr lang="he-IL" sz="2400" dirty="0"/>
              <a:t>אם הפרמטרים זהים ב2 הפונקציות, תהיה שגיאת קומפילציה אפילו אם ערך ההחזרה שונה </a:t>
            </a:r>
          </a:p>
        </p:txBody>
      </p:sp>
    </p:spTree>
    <p:extLst>
      <p:ext uri="{BB962C8B-B14F-4D97-AF65-F5344CB8AC3E}">
        <p14:creationId xmlns:p14="http://schemas.microsoft.com/office/powerpoint/2010/main" val="303404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A62D5074-FE49-325B-EF4C-AE0CA1A2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34502"/>
            <a:ext cx="10353761" cy="1521739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/>
              <a:t>Overriding</a:t>
            </a:r>
            <a:r>
              <a:rPr lang="en-US" sz="4400" b="0" i="0" dirty="0">
                <a:effectLst/>
                <a:latin typeface="Söhne"/>
              </a:rPr>
              <a:t> </a:t>
            </a:r>
            <a:br>
              <a:rPr lang="he-IL" sz="4400" b="0" i="0" dirty="0">
                <a:effectLst/>
                <a:latin typeface="Söhne"/>
              </a:rPr>
            </a:br>
            <a:r>
              <a:rPr lang="he-IL" sz="4400" b="0" i="0" dirty="0">
                <a:effectLst/>
                <a:latin typeface="Söhne"/>
              </a:rPr>
              <a:t>דריסת מתודות</a:t>
            </a:r>
            <a:endParaRPr lang="he-IL" sz="4400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DE116FA-97AD-D388-AD06-4D7F2673A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4093" y="2210241"/>
            <a:ext cx="7273072" cy="368671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he-IL" sz="2400" dirty="0"/>
              <a:t>דריסת מתודות היא שיטה המאפשרת לממש מתודה שכבר מומשה במחלקה שממנה ירשנו.</a:t>
            </a:r>
          </a:p>
          <a:p>
            <a:r>
              <a:rPr lang="he-IL" sz="2400" dirty="0"/>
              <a:t>כאשר נקרא לפונקציה, יתברר בזמן </a:t>
            </a:r>
            <a:r>
              <a:rPr lang="he-IL" sz="2400" u="sng" dirty="0"/>
              <a:t>הריצה</a:t>
            </a:r>
            <a:r>
              <a:rPr lang="he-IL" sz="2400" dirty="0"/>
              <a:t> מהו סוג האובייקט שעליו קראנו את הפונקציה ובהתאם לכך תיקרא הפונקציה המתאימה לו בשרשרת הירושות.</a:t>
            </a:r>
          </a:p>
          <a:p>
            <a:pPr marL="0" indent="0">
              <a:buNone/>
            </a:pPr>
            <a:endParaRPr lang="he-IL" sz="2400" dirty="0"/>
          </a:p>
          <a:p>
            <a:pPr marL="0" indent="0">
              <a:buNone/>
            </a:pPr>
            <a:r>
              <a:rPr lang="he-IL" sz="2400" b="1" u="sng" dirty="0"/>
              <a:t>הערה:</a:t>
            </a:r>
            <a:r>
              <a:rPr lang="he-IL" sz="2400" b="1" dirty="0"/>
              <a:t> </a:t>
            </a:r>
            <a:r>
              <a:rPr lang="he-IL" sz="2400" dirty="0"/>
              <a:t>מתודות </a:t>
            </a:r>
            <a:r>
              <a:rPr lang="en-US" sz="2400" dirty="0"/>
              <a:t>Override</a:t>
            </a:r>
            <a:r>
              <a:rPr lang="he-IL" sz="2400" dirty="0"/>
              <a:t> חייבות להיות בעלות אותה הצהרה בדיוק (שם, פרמטרים והערך שהפונקציה מחזירה) </a:t>
            </a:r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E464F21E-08F7-DD01-1147-FC856C652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020" y="3364411"/>
            <a:ext cx="4447767" cy="1776549"/>
          </a:xfrm>
          <a:prstGeom prst="roundRect">
            <a:avLst>
              <a:gd name="adj" fmla="val 9953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1554551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A62D5074-FE49-325B-EF4C-AE0CA1A2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565"/>
            <a:ext cx="10515600" cy="13255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/>
              <a:t>Overriding</a:t>
            </a:r>
            <a:r>
              <a:rPr lang="en-US" sz="4400" b="0" i="0" dirty="0">
                <a:effectLst/>
                <a:latin typeface="Söhne"/>
              </a:rPr>
              <a:t> </a:t>
            </a:r>
            <a:br>
              <a:rPr lang="he-IL" sz="4400" b="0" i="0" dirty="0">
                <a:effectLst/>
                <a:latin typeface="Söhne"/>
              </a:rPr>
            </a:br>
            <a:r>
              <a:rPr lang="he-IL" sz="4400" b="0" i="0" dirty="0">
                <a:effectLst/>
                <a:latin typeface="Söhne"/>
              </a:rPr>
              <a:t>דריסת מתודות</a:t>
            </a:r>
            <a:endParaRPr lang="he-IL" sz="4400" dirty="0"/>
          </a:p>
        </p:txBody>
      </p:sp>
      <p:sp>
        <p:nvSpPr>
          <p:cNvPr id="6" name="AutoShape 4" descr="Overriding in Java - GeeksforGeeks">
            <a:extLst>
              <a:ext uri="{FF2B5EF4-FFF2-40B4-BE49-F238E27FC236}">
                <a16:creationId xmlns:a16="http://schemas.microsoft.com/office/drawing/2014/main" id="{035EA923-CE94-5B6B-6A5C-17096CF20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285240"/>
            <a:ext cx="2296160" cy="229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3A16FE2F-17EA-FD96-473E-3BC7F0ED38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967" r="7651"/>
          <a:stretch/>
        </p:blipFill>
        <p:spPr>
          <a:xfrm>
            <a:off x="228006" y="1893651"/>
            <a:ext cx="6207719" cy="37224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מלבן 1"/>
          <p:cNvSpPr/>
          <p:nvPr/>
        </p:nvSpPr>
        <p:spPr>
          <a:xfrm>
            <a:off x="6435726" y="1893651"/>
            <a:ext cx="5633058" cy="39018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מחלקת הבן </a:t>
            </a:r>
            <a:r>
              <a:rPr lang="en-US" sz="2400" dirty="0"/>
              <a:t>Dog</a:t>
            </a:r>
            <a:r>
              <a:rPr lang="he-IL" sz="2400" dirty="0"/>
              <a:t> היורשת ממחלקת האב </a:t>
            </a:r>
            <a:r>
              <a:rPr lang="en-US" sz="2400" dirty="0"/>
              <a:t>Animal</a:t>
            </a:r>
            <a:r>
              <a:rPr lang="he-IL" sz="2400" dirty="0"/>
              <a:t>.</a:t>
            </a:r>
          </a:p>
          <a:p>
            <a:pPr marL="285750" indent="-28575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ניתן לראות בתת-המחלקה </a:t>
            </a:r>
            <a:r>
              <a:rPr lang="en-US" sz="2400" dirty="0"/>
              <a:t>Dog</a:t>
            </a:r>
            <a:r>
              <a:rPr lang="he-IL" sz="2400" dirty="0"/>
              <a:t> הגדרה מחדש (</a:t>
            </a:r>
            <a:r>
              <a:rPr lang="en-US" sz="2400" dirty="0"/>
              <a:t>Overriding</a:t>
            </a:r>
            <a:r>
              <a:rPr lang="he-IL" sz="2400" dirty="0"/>
              <a:t>) של המתודה </a:t>
            </a:r>
            <a:r>
              <a:rPr lang="en-US" sz="2400" dirty="0"/>
              <a:t>move</a:t>
            </a:r>
            <a:r>
              <a:rPr lang="he-IL" sz="2400" dirty="0"/>
              <a:t>. </a:t>
            </a:r>
            <a:br>
              <a:rPr lang="en-US" sz="2400" dirty="0"/>
            </a:br>
            <a:r>
              <a:rPr lang="he-IL" sz="2400" dirty="0"/>
              <a:t>המתודה החדשה מחליפה את המתודה המקורית המוגדרת במחלקת האב </a:t>
            </a:r>
            <a:r>
              <a:rPr lang="en-US" sz="2400" dirty="0"/>
              <a:t>Animal</a:t>
            </a:r>
            <a:r>
              <a:rPr lang="he-IL" sz="2400" dirty="0"/>
              <a:t> בעת יצירת אובייקט מסוג </a:t>
            </a:r>
            <a:r>
              <a:rPr lang="en-US" sz="2400" dirty="0"/>
              <a:t>Dog</a:t>
            </a:r>
            <a:r>
              <a:rPr lang="he-IL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03246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>
            <a:extLst>
              <a:ext uri="{FF2B5EF4-FFF2-40B4-BE49-F238E27FC236}">
                <a16:creationId xmlns:a16="http://schemas.microsoft.com/office/drawing/2014/main" id="{A62D5074-FE49-325B-EF4C-AE0CA1A2D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2565"/>
            <a:ext cx="10515600" cy="1490048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dirty="0"/>
              <a:t>Overriding</a:t>
            </a:r>
            <a:r>
              <a:rPr lang="en-US" sz="4400" b="0" i="0" dirty="0">
                <a:effectLst/>
                <a:latin typeface="Söhne"/>
              </a:rPr>
              <a:t> </a:t>
            </a:r>
            <a:br>
              <a:rPr lang="he-IL" sz="4400" b="0" i="0" dirty="0">
                <a:effectLst/>
                <a:latin typeface="Söhne"/>
              </a:rPr>
            </a:br>
            <a:r>
              <a:rPr lang="he-IL" sz="4400" b="0" i="0" dirty="0">
                <a:effectLst/>
                <a:latin typeface="Söhne"/>
              </a:rPr>
              <a:t>דריסת מתודות</a:t>
            </a:r>
            <a:endParaRPr lang="he-IL" sz="4400" dirty="0"/>
          </a:p>
        </p:txBody>
      </p:sp>
      <p:sp>
        <p:nvSpPr>
          <p:cNvPr id="2" name="מציין מיקום תוכן 2">
            <a:extLst>
              <a:ext uri="{FF2B5EF4-FFF2-40B4-BE49-F238E27FC236}">
                <a16:creationId xmlns:a16="http://schemas.microsoft.com/office/drawing/2014/main" id="{8B39AF02-FE73-196C-A8C9-96F5449A6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31" y="1596979"/>
            <a:ext cx="11462425" cy="4099724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b="1" dirty="0"/>
              <a:t>ישנם כמה סוגים של מתודות שמחלקת הבן </a:t>
            </a:r>
            <a:r>
              <a:rPr lang="he-IL" sz="2400" b="1" u="sng" dirty="0"/>
              <a:t>לא יכולה</a:t>
            </a:r>
            <a:r>
              <a:rPr lang="he-IL" sz="2400" b="1" dirty="0"/>
              <a:t> לדרוס: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מתודות המוצהרות כ-</a:t>
            </a:r>
            <a:r>
              <a:rPr lang="en-US" sz="2400" dirty="0"/>
              <a:t>static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מתודות המוצהרות כ-</a:t>
            </a:r>
            <a:r>
              <a:rPr lang="en-US" sz="2400" dirty="0"/>
              <a:t>final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400" dirty="0"/>
              <a:t>מתודות המוגדרות כ-</a:t>
            </a:r>
            <a:r>
              <a:rPr lang="en-US" sz="2400" dirty="0"/>
              <a:t>private</a:t>
            </a:r>
            <a:r>
              <a:rPr lang="he-IL" sz="2400" dirty="0"/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400" b="1" dirty="0"/>
              <a:t>ישנם סוגים של מתודות שמחלקת הבן </a:t>
            </a:r>
            <a:r>
              <a:rPr lang="he-IL" sz="2400" b="1" u="sng" dirty="0"/>
              <a:t>חייבת</a:t>
            </a:r>
            <a:r>
              <a:rPr lang="he-IL" sz="2400" b="1" dirty="0"/>
              <a:t> לדרוס:</a:t>
            </a:r>
          </a:p>
          <a:p>
            <a:pPr>
              <a:lnSpc>
                <a:spcPct val="150000"/>
              </a:lnSpc>
            </a:pPr>
            <a:r>
              <a:rPr lang="he-IL" sz="2400" dirty="0"/>
              <a:t>כל המתודות של </a:t>
            </a:r>
            <a:r>
              <a:rPr lang="en-US" sz="2400" dirty="0"/>
              <a:t>interface</a:t>
            </a:r>
            <a:endParaRPr lang="he-IL" sz="2400" dirty="0"/>
          </a:p>
          <a:p>
            <a:pPr>
              <a:lnSpc>
                <a:spcPct val="150000"/>
              </a:lnSpc>
            </a:pPr>
            <a:r>
              <a:rPr lang="he-IL" sz="2400" dirty="0"/>
              <a:t>מתודה המוצהרת כ-</a:t>
            </a:r>
            <a:r>
              <a:rPr lang="en-US" sz="2400" dirty="0"/>
              <a:t>abstract</a:t>
            </a:r>
            <a:r>
              <a:rPr lang="he-IL" sz="2400" dirty="0"/>
              <a:t> במחלקת האב (אלא אם מחלקת הבן גם תוצהר כ-</a:t>
            </a:r>
            <a:r>
              <a:rPr lang="en-US" sz="2400" dirty="0"/>
              <a:t>abstract</a:t>
            </a:r>
            <a:r>
              <a:rPr lang="he-IL" sz="2400" dirty="0"/>
              <a:t>)</a:t>
            </a:r>
          </a:p>
        </p:txBody>
      </p:sp>
      <p:sp>
        <p:nvSpPr>
          <p:cNvPr id="6" name="AutoShape 4" descr="Overriding in Java - GeeksforGeeks">
            <a:extLst>
              <a:ext uri="{FF2B5EF4-FFF2-40B4-BE49-F238E27FC236}">
                <a16:creationId xmlns:a16="http://schemas.microsoft.com/office/drawing/2014/main" id="{035EA923-CE94-5B6B-6A5C-17096CF20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285240"/>
            <a:ext cx="2296160" cy="229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28111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4" descr="Overriding in Java - GeeksforGeeks">
            <a:extLst>
              <a:ext uri="{FF2B5EF4-FFF2-40B4-BE49-F238E27FC236}">
                <a16:creationId xmlns:a16="http://schemas.microsoft.com/office/drawing/2014/main" id="{035EA923-CE94-5B6B-6A5C-17096CF2069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1285240"/>
            <a:ext cx="2296160" cy="2296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e-IL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07E1D94-B9F7-1357-D314-E56799806502}"/>
              </a:ext>
            </a:extLst>
          </p:cNvPr>
          <p:cNvSpPr txBox="1"/>
          <p:nvPr/>
        </p:nvSpPr>
        <p:spPr>
          <a:xfrm>
            <a:off x="6167336" y="1585982"/>
            <a:ext cx="5077244" cy="4455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50000"/>
              </a:lnSpc>
            </a:pPr>
            <a:r>
              <a:rPr lang="he-IL" sz="2400" dirty="0"/>
              <a:t>נניח שיש לנו מערך שמכיל כמה סוגים של צורות, כיצד נוכל לדעת מה הסוג המדויק של האובייקט בכל אינדקס במערך?</a:t>
            </a:r>
          </a:p>
          <a:p>
            <a:pPr algn="r">
              <a:lnSpc>
                <a:spcPct val="150000"/>
              </a:lnSpc>
            </a:pPr>
            <a:endParaRPr lang="he-IL" sz="2400" dirty="0"/>
          </a:p>
          <a:p>
            <a:pPr algn="r" rtl="1">
              <a:lnSpc>
                <a:spcPct val="150000"/>
              </a:lnSpc>
            </a:pPr>
            <a:r>
              <a:rPr lang="he-IL" sz="2400" b="1" u="sng" dirty="0"/>
              <a:t>פתרון</a:t>
            </a:r>
            <a:r>
              <a:rPr lang="he-IL" sz="2400" b="1" dirty="0"/>
              <a:t>: </a:t>
            </a:r>
            <a:r>
              <a:rPr lang="he-IL" sz="2400" b="1" dirty="0">
                <a:solidFill>
                  <a:srgbClr val="FF0000"/>
                </a:solidFill>
              </a:rPr>
              <a:t>(לא מומלץ)</a:t>
            </a:r>
          </a:p>
          <a:p>
            <a:pPr algn="r" rtl="1">
              <a:lnSpc>
                <a:spcPct val="150000"/>
              </a:lnSpc>
            </a:pPr>
            <a:r>
              <a:rPr lang="he-IL" sz="2400" dirty="0"/>
              <a:t>נשתמש במילה השמורה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  <a:ea typeface="+mj-ea"/>
                <a:cs typeface="+mj-cs"/>
              </a:rPr>
              <a:t>instanceof</a:t>
            </a:r>
            <a:r>
              <a:rPr lang="he-IL" sz="2400" dirty="0"/>
              <a:t> באמצעותה נוכל לברר מהו הסוג המדויק של האובייקט.</a:t>
            </a:r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90ADA0E-CC4E-575B-AA3A-C6460E2B42E4}"/>
              </a:ext>
            </a:extLst>
          </p:cNvPr>
          <p:cNvSpPr txBox="1">
            <a:spLocks/>
          </p:cNvSpPr>
          <p:nvPr/>
        </p:nvSpPr>
        <p:spPr>
          <a:xfrm>
            <a:off x="1041400" y="19081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Polymorphism</a:t>
            </a:r>
            <a:r>
              <a:rPr lang="en-US" dirty="0">
                <a:latin typeface="Söhne"/>
              </a:rPr>
              <a:t>  </a:t>
            </a:r>
            <a:endParaRPr lang="he-IL" dirty="0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E89D82CA-6ABE-B5D1-BAC1-C42EC66AE9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43" y="2966232"/>
            <a:ext cx="5710020" cy="3136755"/>
          </a:xfrm>
          <a:prstGeom prst="roundRect">
            <a:avLst>
              <a:gd name="adj" fmla="val 6950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1AFF9B7A-B958-DC18-FDB7-2B44C21D5404}"/>
              </a:ext>
            </a:extLst>
          </p:cNvPr>
          <p:cNvSpPr txBox="1"/>
          <p:nvPr/>
        </p:nvSpPr>
        <p:spPr>
          <a:xfrm>
            <a:off x="9840028" y="6205518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2400" dirty="0"/>
              <a:t>אז מה כן?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663008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כותרת 2"/>
          <p:cNvSpPr>
            <a:spLocks noGrp="1"/>
          </p:cNvSpPr>
          <p:nvPr>
            <p:ph type="title"/>
          </p:nvPr>
        </p:nvSpPr>
        <p:spPr>
          <a:xfrm>
            <a:off x="1663547" y="2351773"/>
            <a:ext cx="8626368" cy="2154453"/>
          </a:xfrm>
        </p:spPr>
        <p:txBody>
          <a:bodyPr>
            <a:normAutofit/>
          </a:bodyPr>
          <a:lstStyle/>
          <a:p>
            <a:r>
              <a:rPr lang="en-US" sz="8800" b="1" dirty="0"/>
              <a:t>SOLID</a:t>
            </a:r>
            <a:endParaRPr lang="he-IL" sz="8800" b="1" dirty="0"/>
          </a:p>
        </p:txBody>
      </p:sp>
    </p:spTree>
    <p:extLst>
      <p:ext uri="{BB962C8B-B14F-4D97-AF65-F5344CB8AC3E}">
        <p14:creationId xmlns:p14="http://schemas.microsoft.com/office/powerpoint/2010/main" val="26888620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D12AD-4AAE-C92C-4010-4B06CC512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F6847649-F4E9-83D7-A6A6-0CEF6E650E0F}"/>
              </a:ext>
            </a:extLst>
          </p:cNvPr>
          <p:cNvSpPr txBox="1"/>
          <p:nvPr/>
        </p:nvSpPr>
        <p:spPr>
          <a:xfrm>
            <a:off x="878840" y="1259840"/>
            <a:ext cx="10434320" cy="41915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he-IL" sz="2000" b="1" u="sng" dirty="0"/>
              <a:t>סימפטומים של קוד לא מתוכנן טוב: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קוד ספגטי – </a:t>
            </a:r>
            <a:r>
              <a:rPr lang="en-US" sz="2000" dirty="0"/>
              <a:t>AKA</a:t>
            </a:r>
            <a:r>
              <a:rPr lang="he-IL" sz="2000" dirty="0"/>
              <a:t>.</a:t>
            </a:r>
            <a:endParaRPr lang="en-US" sz="2000" dirty="0"/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כל שינוי בקוד משפיע על הרבה חלקים בקוד.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שינוי בקוד משפיע על אזורים לא קשורים בקוד.</a:t>
            </a:r>
          </a:p>
          <a:p>
            <a:pPr marL="342900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he-IL" sz="2000" dirty="0"/>
              <a:t>קוד לא פריק - לא ניתן להשתמש בקוד שכבר כתבנו בהקשרים אחרים מאלו שלשמם נכתב הקוד במקור.</a:t>
            </a:r>
          </a:p>
          <a:p>
            <a:pPr algn="r" rtl="1">
              <a:lnSpc>
                <a:spcPct val="150000"/>
              </a:lnSpc>
            </a:pPr>
            <a:endParaRPr lang="he-IL" sz="2000" dirty="0"/>
          </a:p>
          <a:p>
            <a:pPr algn="r" rtl="1">
              <a:lnSpc>
                <a:spcPct val="150000"/>
              </a:lnSpc>
            </a:pPr>
            <a:r>
              <a:rPr lang="he-IL" sz="2000" dirty="0"/>
              <a:t>האופי המרכזי של הבעיות האלו הוא יותר מידי תלות בתוך הקוד.</a:t>
            </a:r>
          </a:p>
          <a:p>
            <a:pPr algn="r" rtl="1">
              <a:lnSpc>
                <a:spcPct val="150000"/>
              </a:lnSpc>
            </a:pPr>
            <a:r>
              <a:rPr lang="he-IL" sz="2000" dirty="0"/>
              <a:t>עקרונות</a:t>
            </a:r>
            <a:r>
              <a:rPr lang="en-US" sz="2000" dirty="0"/>
              <a:t> SOLID </a:t>
            </a:r>
            <a:r>
              <a:rPr lang="he-IL" sz="2000" dirty="0"/>
              <a:t>באים לתת קווים מנחים שיגרמו לנו להימנע מלכתוב קוד עם הבעיות הנ"ל.</a:t>
            </a:r>
          </a:p>
        </p:txBody>
      </p:sp>
      <p:sp>
        <p:nvSpPr>
          <p:cNvPr id="3" name="כותרת 2">
            <a:extLst>
              <a:ext uri="{FF2B5EF4-FFF2-40B4-BE49-F238E27FC236}">
                <a16:creationId xmlns:a16="http://schemas.microsoft.com/office/drawing/2014/main" id="{FAE4011D-3159-B895-C1B3-30EE47D22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039" y="357393"/>
            <a:ext cx="9291215" cy="1049235"/>
          </a:xfrm>
        </p:spPr>
        <p:txBody>
          <a:bodyPr>
            <a:normAutofit/>
          </a:bodyPr>
          <a:lstStyle/>
          <a:p>
            <a:r>
              <a:rPr lang="en-US" sz="4000" b="1" dirty="0"/>
              <a:t>SOLID</a:t>
            </a:r>
            <a:endParaRPr lang="he-IL" sz="4000" b="1" dirty="0"/>
          </a:p>
        </p:txBody>
      </p:sp>
    </p:spTree>
    <p:extLst>
      <p:ext uri="{BB962C8B-B14F-4D97-AF65-F5344CB8AC3E}">
        <p14:creationId xmlns:p14="http://schemas.microsoft.com/office/powerpoint/2010/main" val="37645420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86BF801-EB32-6468-2999-3EDAEBAF7045}"/>
              </a:ext>
            </a:extLst>
          </p:cNvPr>
          <p:cNvSpPr txBox="1"/>
          <p:nvPr/>
        </p:nvSpPr>
        <p:spPr>
          <a:xfrm>
            <a:off x="878840" y="2158877"/>
            <a:ext cx="10434320" cy="254024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5400" b="1" u="sng" dirty="0">
                <a:solidFill>
                  <a:schemeClr val="accent1">
                    <a:lumMod val="75000"/>
                  </a:schemeClr>
                </a:solidFill>
              </a:rPr>
              <a:t>S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- Single Responsibility Principle</a:t>
            </a:r>
          </a:p>
          <a:p>
            <a:pPr algn="ctr" rtl="1">
              <a:lnSpc>
                <a:spcPct val="300000"/>
              </a:lnSpc>
            </a:pPr>
            <a:r>
              <a:rPr lang="he-IL" sz="3200" dirty="0"/>
              <a:t>למחלקה צריך להיות תחום אחריות אחד</a:t>
            </a:r>
          </a:p>
        </p:txBody>
      </p:sp>
    </p:spTree>
    <p:extLst>
      <p:ext uri="{BB962C8B-B14F-4D97-AF65-F5344CB8AC3E}">
        <p14:creationId xmlns:p14="http://schemas.microsoft.com/office/powerpoint/2010/main" val="936014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מלבן 10">
            <a:extLst>
              <a:ext uri="{FF2B5EF4-FFF2-40B4-BE49-F238E27FC236}">
                <a16:creationId xmlns:a16="http://schemas.microsoft.com/office/drawing/2014/main" id="{DE401F46-F98E-3A73-A9A9-9984EE885A92}"/>
              </a:ext>
            </a:extLst>
          </p:cNvPr>
          <p:cNvSpPr/>
          <p:nvPr/>
        </p:nvSpPr>
        <p:spPr>
          <a:xfrm>
            <a:off x="9374755" y="893933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1CA1A43-675E-9040-797F-F1E9F16DC60A}"/>
              </a:ext>
            </a:extLst>
          </p:cNvPr>
          <p:cNvSpPr/>
          <p:nvPr/>
        </p:nvSpPr>
        <p:spPr>
          <a:xfrm>
            <a:off x="3269651" y="893933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30132F9F-87DC-B34F-80A7-BD38A29D1C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448" y="1905674"/>
            <a:ext cx="4429743" cy="4591691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E145B00E-1809-C89C-58E0-35B38404E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11" y="1905674"/>
            <a:ext cx="4067743" cy="4505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4067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86BF801-EB32-6468-2999-3EDAEBAF7045}"/>
              </a:ext>
            </a:extLst>
          </p:cNvPr>
          <p:cNvSpPr txBox="1"/>
          <p:nvPr/>
        </p:nvSpPr>
        <p:spPr>
          <a:xfrm>
            <a:off x="878840" y="2066544"/>
            <a:ext cx="10434320" cy="272491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5400" b="1" u="sng" dirty="0">
                <a:solidFill>
                  <a:schemeClr val="accent1">
                    <a:lumMod val="75000"/>
                  </a:schemeClr>
                </a:solidFill>
              </a:rPr>
              <a:t>O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- Open/Closed Principle </a:t>
            </a:r>
            <a:endParaRPr lang="he-IL" sz="3200" b="1" u="sng" dirty="0">
              <a:solidFill>
                <a:schemeClr val="accent1">
                  <a:lumMod val="75000"/>
                </a:schemeClr>
              </a:solidFill>
            </a:endParaRPr>
          </a:p>
          <a:p>
            <a:pPr algn="ctr" rtl="1">
              <a:lnSpc>
                <a:spcPct val="150000"/>
              </a:lnSpc>
            </a:pPr>
            <a:endParaRPr lang="he-IL" sz="3200" dirty="0"/>
          </a:p>
          <a:p>
            <a:pPr algn="ctr" rtl="1">
              <a:lnSpc>
                <a:spcPct val="150000"/>
              </a:lnSpc>
            </a:pPr>
            <a:r>
              <a:rPr lang="he-IL" sz="3200" dirty="0"/>
              <a:t>מחלקה צריכה להיות פתוחה להוספות וסגורה לשינויים</a:t>
            </a:r>
          </a:p>
        </p:txBody>
      </p:sp>
    </p:spTree>
    <p:extLst>
      <p:ext uri="{BB962C8B-B14F-4D97-AF65-F5344CB8AC3E}">
        <p14:creationId xmlns:p14="http://schemas.microsoft.com/office/powerpoint/2010/main" val="18404823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מלבן 9">
            <a:extLst>
              <a:ext uri="{FF2B5EF4-FFF2-40B4-BE49-F238E27FC236}">
                <a16:creationId xmlns:a16="http://schemas.microsoft.com/office/drawing/2014/main" id="{51CA1A43-675E-9040-797F-F1E9F16DC60A}"/>
              </a:ext>
            </a:extLst>
          </p:cNvPr>
          <p:cNvSpPr/>
          <p:nvPr/>
        </p:nvSpPr>
        <p:spPr>
          <a:xfrm>
            <a:off x="4905421" y="999489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DE401F46-F98E-3A73-A9A9-9984EE885A92}"/>
              </a:ext>
            </a:extLst>
          </p:cNvPr>
          <p:cNvSpPr/>
          <p:nvPr/>
        </p:nvSpPr>
        <p:spPr>
          <a:xfrm>
            <a:off x="9970817" y="674568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C9B7C58C-3514-C2CE-087F-5C234D818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31" y="1905675"/>
            <a:ext cx="5686530" cy="2686550"/>
          </a:xfrm>
          <a:prstGeom prst="rect">
            <a:avLst/>
          </a:prstGeom>
        </p:spPr>
      </p:pic>
      <p:pic>
        <p:nvPicPr>
          <p:cNvPr id="6" name="תמונה 5">
            <a:extLst>
              <a:ext uri="{FF2B5EF4-FFF2-40B4-BE49-F238E27FC236}">
                <a16:creationId xmlns:a16="http://schemas.microsoft.com/office/drawing/2014/main" id="{EB7E0D71-19DE-2EBB-5D2B-13D5CE9FF6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420" y="1597898"/>
            <a:ext cx="4906060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0920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86BF801-EB32-6468-2999-3EDAEBAF7045}"/>
              </a:ext>
            </a:extLst>
          </p:cNvPr>
          <p:cNvSpPr txBox="1"/>
          <p:nvPr/>
        </p:nvSpPr>
        <p:spPr>
          <a:xfrm>
            <a:off x="878840" y="1327880"/>
            <a:ext cx="10434320" cy="42022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5400" b="1" u="sng" dirty="0">
                <a:solidFill>
                  <a:schemeClr val="accent1">
                    <a:lumMod val="75000"/>
                  </a:schemeClr>
                </a:solidFill>
              </a:rPr>
              <a:t>L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- </a:t>
            </a:r>
            <a:r>
              <a:rPr lang="en-US" sz="3200" b="1" u="sng" dirty="0" err="1">
                <a:solidFill>
                  <a:schemeClr val="accent1">
                    <a:lumMod val="75000"/>
                  </a:schemeClr>
                </a:solidFill>
              </a:rPr>
              <a:t>Liskov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Substitution Principle</a:t>
            </a:r>
          </a:p>
          <a:p>
            <a:pPr algn="ctr" rtl="1">
              <a:lnSpc>
                <a:spcPct val="150000"/>
              </a:lnSpc>
            </a:pPr>
            <a:endParaRPr lang="en-US" sz="3200" dirty="0"/>
          </a:p>
          <a:p>
            <a:pPr algn="ctr" rtl="1">
              <a:lnSpc>
                <a:spcPct val="150000"/>
              </a:lnSpc>
            </a:pPr>
            <a:r>
              <a:rPr lang="he-IL" sz="3200" dirty="0"/>
              <a:t>עקרון </a:t>
            </a:r>
            <a:r>
              <a:rPr lang="he-IL" sz="3200" dirty="0" err="1"/>
              <a:t>ליסקוב</a:t>
            </a:r>
            <a:r>
              <a:rPr lang="he-IL" sz="3200" dirty="0"/>
              <a:t> קובע שכל מחלקת בן חייבת להתנהג כך שניתן יהיה להחליף אותה במחלקת האב ללא שינוי בהתנהגות התקינה של התוכנה.</a:t>
            </a:r>
          </a:p>
        </p:txBody>
      </p:sp>
    </p:spTree>
    <p:extLst>
      <p:ext uri="{BB962C8B-B14F-4D97-AF65-F5344CB8AC3E}">
        <p14:creationId xmlns:p14="http://schemas.microsoft.com/office/powerpoint/2010/main" val="1530154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74D27F97-CACD-DD00-C216-49DD041DAEA7}"/>
              </a:ext>
            </a:extLst>
          </p:cNvPr>
          <p:cNvSpPr txBox="1"/>
          <p:nvPr/>
        </p:nvSpPr>
        <p:spPr>
          <a:xfrm>
            <a:off x="2944123" y="1535349"/>
            <a:ext cx="6303753" cy="2241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he-IL" sz="2400" dirty="0"/>
              <a:t>ירושה אמורה להרחיב או לדייק את היכולות של מחלקת-הבסיס, לא לסתור אותן. כשעיקרון זה מופר, נוצרים באגים חמקמקים, תנאים מיותרים בקוד, ותכנון בלתי-יציב שקשה לתחזק.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28830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מלבן 7">
            <a:extLst>
              <a:ext uri="{FF2B5EF4-FFF2-40B4-BE49-F238E27FC236}">
                <a16:creationId xmlns:a16="http://schemas.microsoft.com/office/drawing/2014/main" id="{51CA1A43-675E-9040-797F-F1E9F16DC60A}"/>
              </a:ext>
            </a:extLst>
          </p:cNvPr>
          <p:cNvSpPr/>
          <p:nvPr/>
        </p:nvSpPr>
        <p:spPr>
          <a:xfrm>
            <a:off x="5078140" y="2211030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  <p:pic>
        <p:nvPicPr>
          <p:cNvPr id="3" name="תמונה 2">
            <a:extLst>
              <a:ext uri="{FF2B5EF4-FFF2-40B4-BE49-F238E27FC236}">
                <a16:creationId xmlns:a16="http://schemas.microsoft.com/office/drawing/2014/main" id="{DBFA9678-555C-66AC-590D-56FE0267D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848" y="3281215"/>
            <a:ext cx="6241832" cy="3238160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AC3657FA-EFC6-A8CB-7B48-4AF9862DF3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8832" y="1235163"/>
            <a:ext cx="3191320" cy="5391902"/>
          </a:xfrm>
          <a:prstGeom prst="rect">
            <a:avLst/>
          </a:prstGeom>
        </p:spPr>
      </p:pic>
      <p:sp>
        <p:nvSpPr>
          <p:cNvPr id="10" name="מלבן 9">
            <a:extLst>
              <a:ext uri="{FF2B5EF4-FFF2-40B4-BE49-F238E27FC236}">
                <a16:creationId xmlns:a16="http://schemas.microsoft.com/office/drawing/2014/main" id="{C65E0733-45E9-963A-6AD7-544E4DE3BC5C}"/>
              </a:ext>
            </a:extLst>
          </p:cNvPr>
          <p:cNvSpPr/>
          <p:nvPr/>
        </p:nvSpPr>
        <p:spPr>
          <a:xfrm>
            <a:off x="9811849" y="271193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86766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86BF801-EB32-6468-2999-3EDAEBAF7045}"/>
              </a:ext>
            </a:extLst>
          </p:cNvPr>
          <p:cNvSpPr txBox="1"/>
          <p:nvPr/>
        </p:nvSpPr>
        <p:spPr>
          <a:xfrm>
            <a:off x="878840" y="1327880"/>
            <a:ext cx="10434320" cy="420224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5400" b="1" u="sng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- Interface Segregation Principle</a:t>
            </a:r>
          </a:p>
          <a:p>
            <a:pPr algn="ctr" rtl="1">
              <a:lnSpc>
                <a:spcPct val="150000"/>
              </a:lnSpc>
            </a:pPr>
            <a:endParaRPr lang="en-US" sz="3200" dirty="0"/>
          </a:p>
          <a:p>
            <a:pPr algn="ctr" rtl="1">
              <a:lnSpc>
                <a:spcPct val="150000"/>
              </a:lnSpc>
            </a:pPr>
            <a:r>
              <a:rPr lang="en-US" sz="3200" dirty="0"/>
              <a:t> </a:t>
            </a:r>
            <a:r>
              <a:rPr lang="he-IL" sz="3200" dirty="0"/>
              <a:t>יש לדאוג לממשקים מצומצמים - לא לאלץ מחלקה לממש ממשק שאין לה צורך מלא בו </a:t>
            </a:r>
            <a:br>
              <a:rPr lang="en-US" sz="3200" dirty="0"/>
            </a:br>
            <a:r>
              <a:rPr lang="he-IL" sz="3200" dirty="0"/>
              <a:t>(כלומר, לדאוג לכימוס מרבי של מידע)</a:t>
            </a:r>
          </a:p>
        </p:txBody>
      </p:sp>
    </p:spTree>
    <p:extLst>
      <p:ext uri="{BB962C8B-B14F-4D97-AF65-F5344CB8AC3E}">
        <p14:creationId xmlns:p14="http://schemas.microsoft.com/office/powerpoint/2010/main" val="28575785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51CA1A43-675E-9040-797F-F1E9F16DC60A}"/>
              </a:ext>
            </a:extLst>
          </p:cNvPr>
          <p:cNvSpPr/>
          <p:nvPr/>
        </p:nvSpPr>
        <p:spPr>
          <a:xfrm>
            <a:off x="5047661" y="2095174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70A01978-4057-D18A-B147-10241063C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437" y="3018504"/>
            <a:ext cx="6039764" cy="3458496"/>
          </a:xfrm>
          <a:prstGeom prst="rect">
            <a:avLst/>
          </a:prstGeom>
        </p:spPr>
      </p:pic>
      <p:sp>
        <p:nvSpPr>
          <p:cNvPr id="10" name="מלבן 9">
            <a:extLst>
              <a:ext uri="{FF2B5EF4-FFF2-40B4-BE49-F238E27FC236}">
                <a16:creationId xmlns:a16="http://schemas.microsoft.com/office/drawing/2014/main" id="{391DBBC8-34BE-1E97-4308-AD496199BB68}"/>
              </a:ext>
            </a:extLst>
          </p:cNvPr>
          <p:cNvSpPr/>
          <p:nvPr/>
        </p:nvSpPr>
        <p:spPr>
          <a:xfrm>
            <a:off x="9811849" y="151447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2" name="תמונה 11">
            <a:extLst>
              <a:ext uri="{FF2B5EF4-FFF2-40B4-BE49-F238E27FC236}">
                <a16:creationId xmlns:a16="http://schemas.microsoft.com/office/drawing/2014/main" id="{A8D7D32A-47D7-983F-8EE4-5E7A18E13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1371" y="1125305"/>
            <a:ext cx="3558141" cy="5617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0692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ject 3">
            <a:extLst>
              <a:ext uri="{FF2B5EF4-FFF2-40B4-BE49-F238E27FC236}">
                <a16:creationId xmlns:a16="http://schemas.microsoft.com/office/drawing/2014/main" id="{E6AC0D82-E734-11FB-561B-AAAED2801E09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4131" y="1911095"/>
            <a:ext cx="6866797" cy="2802635"/>
          </a:xfrm>
          <a:prstGeom prst="rect">
            <a:avLst/>
          </a:prstGeom>
        </p:spPr>
      </p:pic>
      <p:pic>
        <p:nvPicPr>
          <p:cNvPr id="10" name="object 4">
            <a:extLst>
              <a:ext uri="{FF2B5EF4-FFF2-40B4-BE49-F238E27FC236}">
                <a16:creationId xmlns:a16="http://schemas.microsoft.com/office/drawing/2014/main" id="{7F458297-5608-3026-D242-7939909F94A5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452359" y="1309116"/>
            <a:ext cx="4395215" cy="1205484"/>
          </a:xfrm>
          <a:prstGeom prst="rect">
            <a:avLst/>
          </a:prstGeom>
        </p:spPr>
      </p:pic>
      <p:pic>
        <p:nvPicPr>
          <p:cNvPr id="11" name="object 5">
            <a:extLst>
              <a:ext uri="{FF2B5EF4-FFF2-40B4-BE49-F238E27FC236}">
                <a16:creationId xmlns:a16="http://schemas.microsoft.com/office/drawing/2014/main" id="{2917CC0A-2798-CD11-53CA-A653F3A909B6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2359" y="3419855"/>
            <a:ext cx="3884364" cy="1453896"/>
          </a:xfrm>
          <a:prstGeom prst="rect">
            <a:avLst/>
          </a:prstGeom>
        </p:spPr>
      </p:pic>
      <p:sp>
        <p:nvSpPr>
          <p:cNvPr id="6" name="מלבן 5">
            <a:extLst>
              <a:ext uri="{FF2B5EF4-FFF2-40B4-BE49-F238E27FC236}">
                <a16:creationId xmlns:a16="http://schemas.microsoft.com/office/drawing/2014/main" id="{51CA1A43-675E-9040-797F-F1E9F16DC60A}"/>
              </a:ext>
            </a:extLst>
          </p:cNvPr>
          <p:cNvSpPr/>
          <p:nvPr/>
        </p:nvSpPr>
        <p:spPr>
          <a:xfrm>
            <a:off x="1929471" y="982344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40828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object 3">
            <a:extLst>
              <a:ext uri="{FF2B5EF4-FFF2-40B4-BE49-F238E27FC236}">
                <a16:creationId xmlns:a16="http://schemas.microsoft.com/office/drawing/2014/main" id="{2D3793DE-F6F2-F760-8245-DEDA0D3DE1D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39055" y="423672"/>
            <a:ext cx="6533779" cy="2619755"/>
          </a:xfrm>
          <a:prstGeom prst="rect">
            <a:avLst/>
          </a:prstGeom>
        </p:spPr>
      </p:pic>
      <p:pic>
        <p:nvPicPr>
          <p:cNvPr id="16" name="object 4">
            <a:extLst>
              <a:ext uri="{FF2B5EF4-FFF2-40B4-BE49-F238E27FC236}">
                <a16:creationId xmlns:a16="http://schemas.microsoft.com/office/drawing/2014/main" id="{38B982E7-05E6-FFAC-AD9F-02830B7D56F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39055" y="3538218"/>
            <a:ext cx="4181115" cy="1039221"/>
          </a:xfrm>
          <a:prstGeom prst="rect">
            <a:avLst/>
          </a:prstGeom>
        </p:spPr>
      </p:pic>
      <p:pic>
        <p:nvPicPr>
          <p:cNvPr id="17" name="object 5">
            <a:extLst>
              <a:ext uri="{FF2B5EF4-FFF2-40B4-BE49-F238E27FC236}">
                <a16:creationId xmlns:a16="http://schemas.microsoft.com/office/drawing/2014/main" id="{5CB4ACF7-2273-A2E9-00D8-3C0EE97C66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20007" y="5128457"/>
            <a:ext cx="3704859" cy="1342644"/>
          </a:xfrm>
          <a:prstGeom prst="rect">
            <a:avLst/>
          </a:prstGeom>
        </p:spPr>
      </p:pic>
      <p:pic>
        <p:nvPicPr>
          <p:cNvPr id="18" name="object 6">
            <a:extLst>
              <a:ext uri="{FF2B5EF4-FFF2-40B4-BE49-F238E27FC236}">
                <a16:creationId xmlns:a16="http://schemas.microsoft.com/office/drawing/2014/main" id="{D924D5DA-3D1B-63DB-0B3A-D0C9854E80AB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4954" y="1773509"/>
            <a:ext cx="2695415" cy="715362"/>
          </a:xfrm>
          <a:prstGeom prst="rect">
            <a:avLst/>
          </a:prstGeom>
        </p:spPr>
      </p:pic>
      <p:pic>
        <p:nvPicPr>
          <p:cNvPr id="19" name="object 7">
            <a:extLst>
              <a:ext uri="{FF2B5EF4-FFF2-40B4-BE49-F238E27FC236}">
                <a16:creationId xmlns:a16="http://schemas.microsoft.com/office/drawing/2014/main" id="{4D92FEC4-2161-F175-E384-CEC68FC9A22F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2122" y="3293263"/>
            <a:ext cx="2750769" cy="665066"/>
          </a:xfrm>
          <a:prstGeom prst="rect">
            <a:avLst/>
          </a:prstGeom>
        </p:spPr>
      </p:pic>
      <p:sp>
        <p:nvSpPr>
          <p:cNvPr id="2" name="מלבן 1">
            <a:extLst>
              <a:ext uri="{FF2B5EF4-FFF2-40B4-BE49-F238E27FC236}">
                <a16:creationId xmlns:a16="http://schemas.microsoft.com/office/drawing/2014/main" id="{C6E53CAE-57A9-4D75-4F04-46B2154967EC}"/>
              </a:ext>
            </a:extLst>
          </p:cNvPr>
          <p:cNvSpPr/>
          <p:nvPr/>
        </p:nvSpPr>
        <p:spPr>
          <a:xfrm>
            <a:off x="1409529" y="447983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040865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D86BF801-EB32-6468-2999-3EDAEBAF7045}"/>
              </a:ext>
            </a:extLst>
          </p:cNvPr>
          <p:cNvSpPr txBox="1"/>
          <p:nvPr/>
        </p:nvSpPr>
        <p:spPr>
          <a:xfrm>
            <a:off x="878840" y="1696218"/>
            <a:ext cx="10434320" cy="34655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en-US" sz="5400" b="1" u="sng" dirty="0">
                <a:solidFill>
                  <a:schemeClr val="accent1">
                    <a:lumMod val="75000"/>
                  </a:schemeClr>
                </a:solidFill>
              </a:rPr>
              <a:t>D</a:t>
            </a:r>
            <a:r>
              <a:rPr lang="en-US" sz="3200" b="1" u="sng" dirty="0">
                <a:solidFill>
                  <a:schemeClr val="accent1">
                    <a:lumMod val="75000"/>
                  </a:schemeClr>
                </a:solidFill>
              </a:rPr>
              <a:t> - Dependency Inversion Principle</a:t>
            </a:r>
          </a:p>
          <a:p>
            <a:pPr algn="ctr" rtl="1">
              <a:lnSpc>
                <a:spcPct val="150000"/>
              </a:lnSpc>
            </a:pPr>
            <a:endParaRPr lang="en-US" sz="3200" dirty="0"/>
          </a:p>
          <a:p>
            <a:pPr algn="ctr" rtl="1">
              <a:lnSpc>
                <a:spcPct val="150000"/>
              </a:lnSpc>
            </a:pPr>
            <a:r>
              <a:rPr lang="en-US" sz="3200" dirty="0"/>
              <a:t> </a:t>
            </a:r>
            <a:r>
              <a:rPr lang="he-IL" sz="3200" dirty="0"/>
              <a:t>מחלקות</a:t>
            </a:r>
            <a:r>
              <a:rPr lang="en-US" sz="3200" dirty="0"/>
              <a:t> high level </a:t>
            </a:r>
            <a:r>
              <a:rPr lang="he-IL" sz="3200" dirty="0"/>
              <a:t>לא צריכות להשתמש באופן ישיר </a:t>
            </a:r>
            <a:br>
              <a:rPr lang="en-US" sz="3200" dirty="0"/>
            </a:br>
            <a:r>
              <a:rPr lang="he-IL" sz="3200" dirty="0"/>
              <a:t>במחלקות </a:t>
            </a:r>
            <a:r>
              <a:rPr lang="en-US" sz="3200" dirty="0"/>
              <a:t>Low level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9635538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מלבן 6">
            <a:extLst>
              <a:ext uri="{FF2B5EF4-FFF2-40B4-BE49-F238E27FC236}">
                <a16:creationId xmlns:a16="http://schemas.microsoft.com/office/drawing/2014/main" id="{51CA1A43-675E-9040-797F-F1E9F16DC60A}"/>
              </a:ext>
            </a:extLst>
          </p:cNvPr>
          <p:cNvSpPr/>
          <p:nvPr/>
        </p:nvSpPr>
        <p:spPr>
          <a:xfrm>
            <a:off x="259291" y="1066319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  <p:pic>
        <p:nvPicPr>
          <p:cNvPr id="13" name="תמונה 12">
            <a:extLst>
              <a:ext uri="{FF2B5EF4-FFF2-40B4-BE49-F238E27FC236}">
                <a16:creationId xmlns:a16="http://schemas.microsoft.com/office/drawing/2014/main" id="{6914405E-391E-8005-1534-F4790364B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247" y="2076239"/>
            <a:ext cx="5459822" cy="3616989"/>
          </a:xfrm>
          <a:prstGeom prst="rect">
            <a:avLst/>
          </a:prstGeom>
        </p:spPr>
      </p:pic>
      <p:pic>
        <p:nvPicPr>
          <p:cNvPr id="15" name="תמונה 14">
            <a:extLst>
              <a:ext uri="{FF2B5EF4-FFF2-40B4-BE49-F238E27FC236}">
                <a16:creationId xmlns:a16="http://schemas.microsoft.com/office/drawing/2014/main" id="{37D83AB4-DC03-FB66-312C-E694BA46B4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5403" y="1100460"/>
            <a:ext cx="4084109" cy="5757540"/>
          </a:xfrm>
          <a:prstGeom prst="rect">
            <a:avLst/>
          </a:prstGeom>
        </p:spPr>
      </p:pic>
      <p:sp>
        <p:nvSpPr>
          <p:cNvPr id="16" name="מלבן 15">
            <a:extLst>
              <a:ext uri="{FF2B5EF4-FFF2-40B4-BE49-F238E27FC236}">
                <a16:creationId xmlns:a16="http://schemas.microsoft.com/office/drawing/2014/main" id="{2CAD8FBE-5AAD-CDCF-B34F-66653191F2BB}"/>
              </a:ext>
            </a:extLst>
          </p:cNvPr>
          <p:cNvSpPr/>
          <p:nvPr/>
        </p:nvSpPr>
        <p:spPr>
          <a:xfrm>
            <a:off x="9800963" y="140561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714185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43F74-2B28-103B-716C-850836A4F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3">
            <a:extLst>
              <a:ext uri="{FF2B5EF4-FFF2-40B4-BE49-F238E27FC236}">
                <a16:creationId xmlns:a16="http://schemas.microsoft.com/office/drawing/2014/main" id="{1DF35845-ED98-979E-A1BE-EC0401D017B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9291" y="4725233"/>
            <a:ext cx="3275010" cy="1316915"/>
          </a:xfrm>
          <a:prstGeom prst="rect">
            <a:avLst/>
          </a:prstGeom>
        </p:spPr>
      </p:pic>
      <p:pic>
        <p:nvPicPr>
          <p:cNvPr id="6" name="object 4">
            <a:extLst>
              <a:ext uri="{FF2B5EF4-FFF2-40B4-BE49-F238E27FC236}">
                <a16:creationId xmlns:a16="http://schemas.microsoft.com/office/drawing/2014/main" id="{31FC2799-CD49-B229-2D45-A0619A2B445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9291" y="2012254"/>
            <a:ext cx="3496773" cy="2536046"/>
          </a:xfrm>
          <a:prstGeom prst="rect">
            <a:avLst/>
          </a:prstGeom>
        </p:spPr>
      </p:pic>
      <p:sp>
        <p:nvSpPr>
          <p:cNvPr id="7" name="מלבן 6">
            <a:extLst>
              <a:ext uri="{FF2B5EF4-FFF2-40B4-BE49-F238E27FC236}">
                <a16:creationId xmlns:a16="http://schemas.microsoft.com/office/drawing/2014/main" id="{2619A766-25DD-1D1F-D5B0-82D841D26BB7}"/>
              </a:ext>
            </a:extLst>
          </p:cNvPr>
          <p:cNvSpPr/>
          <p:nvPr/>
        </p:nvSpPr>
        <p:spPr>
          <a:xfrm>
            <a:off x="259291" y="1066319"/>
            <a:ext cx="15055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12700" dist="38100" dir="2700000" algn="tl" rotWithShape="0">
                    <a:srgbClr val="FF0000"/>
                  </a:outerShdw>
                </a:effectLst>
              </a:rPr>
              <a:t>Bad</a:t>
            </a:r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12700" dist="38100" dir="2700000" algn="tl" rotWithShape="0">
                  <a:srgbClr val="FF0000"/>
                </a:outerShdw>
              </a:effectLst>
            </a:endParaRPr>
          </a:p>
        </p:txBody>
      </p:sp>
      <p:pic>
        <p:nvPicPr>
          <p:cNvPr id="2" name="object 3">
            <a:extLst>
              <a:ext uri="{FF2B5EF4-FFF2-40B4-BE49-F238E27FC236}">
                <a16:creationId xmlns:a16="http://schemas.microsoft.com/office/drawing/2014/main" id="{1AF57F0F-DD6F-EC0F-D145-C38125C7FFA8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646510" y="1364874"/>
            <a:ext cx="2898981" cy="658560"/>
          </a:xfrm>
          <a:prstGeom prst="rect">
            <a:avLst/>
          </a:prstGeom>
        </p:spPr>
      </p:pic>
      <p:pic>
        <p:nvPicPr>
          <p:cNvPr id="3" name="object 4">
            <a:extLst>
              <a:ext uri="{FF2B5EF4-FFF2-40B4-BE49-F238E27FC236}">
                <a16:creationId xmlns:a16="http://schemas.microsoft.com/office/drawing/2014/main" id="{93710997-1E97-3E5A-48A9-F8B82520F72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646510" y="2267507"/>
            <a:ext cx="3200829" cy="2322985"/>
          </a:xfrm>
          <a:prstGeom prst="rect">
            <a:avLst/>
          </a:prstGeom>
        </p:spPr>
      </p:pic>
      <p:pic>
        <p:nvPicPr>
          <p:cNvPr id="4" name="object 5">
            <a:extLst>
              <a:ext uri="{FF2B5EF4-FFF2-40B4-BE49-F238E27FC236}">
                <a16:creationId xmlns:a16="http://schemas.microsoft.com/office/drawing/2014/main" id="{3AB7B0F5-8244-AC28-4641-2C4668AC8FF8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109367" y="1364874"/>
            <a:ext cx="3412312" cy="1332498"/>
          </a:xfrm>
          <a:prstGeom prst="rect">
            <a:avLst/>
          </a:prstGeom>
        </p:spPr>
      </p:pic>
      <p:pic>
        <p:nvPicPr>
          <p:cNvPr id="8" name="object 6">
            <a:extLst>
              <a:ext uri="{FF2B5EF4-FFF2-40B4-BE49-F238E27FC236}">
                <a16:creationId xmlns:a16="http://schemas.microsoft.com/office/drawing/2014/main" id="{9D69EF2B-390E-9584-0644-8D79BEAE06C7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109367" y="3203418"/>
            <a:ext cx="3757697" cy="1387074"/>
          </a:xfrm>
          <a:prstGeom prst="rect">
            <a:avLst/>
          </a:prstGeom>
        </p:spPr>
      </p:pic>
      <p:sp>
        <p:nvSpPr>
          <p:cNvPr id="10" name="מלבן 9">
            <a:extLst>
              <a:ext uri="{FF2B5EF4-FFF2-40B4-BE49-F238E27FC236}">
                <a16:creationId xmlns:a16="http://schemas.microsoft.com/office/drawing/2014/main" id="{FB261EC6-030F-3698-52FC-90E31FA7CAE0}"/>
              </a:ext>
            </a:extLst>
          </p:cNvPr>
          <p:cNvSpPr/>
          <p:nvPr/>
        </p:nvSpPr>
        <p:spPr>
          <a:xfrm>
            <a:off x="4488009" y="197471"/>
            <a:ext cx="19976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1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Good</a:t>
            </a:r>
            <a:endParaRPr lang="he-IL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1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3050800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אריג דמשק</Template>
  <TotalTime>1559</TotalTime>
  <Words>674</Words>
  <Application>Microsoft Office PowerPoint</Application>
  <PresentationFormat>מסך רחב</PresentationFormat>
  <Paragraphs>90</Paragraphs>
  <Slides>29</Slides>
  <Notes>0</Notes>
  <HiddenSlides>1</HiddenSlides>
  <MMClips>0</MMClips>
  <ScaleCrop>false</ScaleCrop>
  <HeadingPairs>
    <vt:vector size="6" baseType="variant">
      <vt:variant>
        <vt:lpstr>גופנים בשימוש</vt:lpstr>
      </vt:variant>
      <vt:variant>
        <vt:i4>6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29</vt:i4>
      </vt:variant>
    </vt:vector>
  </HeadingPairs>
  <TitlesOfParts>
    <vt:vector size="36" baseType="lpstr">
      <vt:lpstr>Arial</vt:lpstr>
      <vt:lpstr>Bookman Old Style</vt:lpstr>
      <vt:lpstr>Rockwell</vt:lpstr>
      <vt:lpstr>Rockwell (גוף)</vt:lpstr>
      <vt:lpstr>Söhne</vt:lpstr>
      <vt:lpstr>Wingdings</vt:lpstr>
      <vt:lpstr>Damask</vt:lpstr>
      <vt:lpstr>מצגת של PowerPoint‏</vt:lpstr>
      <vt:lpstr>מצגת של PowerPoint‏</vt:lpstr>
      <vt:lpstr>מצגת של PowerPoint‏</vt:lpstr>
      <vt:lpstr>מצגת של PowerPoint‏</vt:lpstr>
      <vt:lpstr>Polymorphism </vt:lpstr>
      <vt:lpstr>Polymorphism </vt:lpstr>
      <vt:lpstr>Polymorphism </vt:lpstr>
      <vt:lpstr>Overloading  העמסת מתודות</vt:lpstr>
      <vt:lpstr>Overloading  העמסת מתודות</vt:lpstr>
      <vt:lpstr>Overriding  דריסת מתודות</vt:lpstr>
      <vt:lpstr>Overriding  דריסת מתודות</vt:lpstr>
      <vt:lpstr>Overriding  דריסת מתודות</vt:lpstr>
      <vt:lpstr>מצגת של PowerPoint‏</vt:lpstr>
      <vt:lpstr>SOLID</vt:lpstr>
      <vt:lpstr>SOLID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משה</dc:creator>
  <cp:lastModifiedBy>משה עופר</cp:lastModifiedBy>
  <cp:revision>17</cp:revision>
  <dcterms:created xsi:type="dcterms:W3CDTF">2023-09-18T11:09:22Z</dcterms:created>
  <dcterms:modified xsi:type="dcterms:W3CDTF">2025-11-17T15:36:49Z</dcterms:modified>
</cp:coreProperties>
</file>