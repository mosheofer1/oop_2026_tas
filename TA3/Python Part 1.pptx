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4"/>
  </p:sldMasterIdLst>
  <p:sldIdLst>
    <p:sldId id="256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454" r:id="rId13"/>
    <p:sldId id="456" r:id="rId14"/>
    <p:sldId id="457" r:id="rId15"/>
    <p:sldId id="460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1" r:id="rId25"/>
    <p:sldId id="472" r:id="rId26"/>
    <p:sldId id="473" r:id="rId27"/>
    <p:sldId id="475" r:id="rId28"/>
    <p:sldId id="476" r:id="rId29"/>
    <p:sldId id="478" r:id="rId30"/>
    <p:sldId id="479" r:id="rId31"/>
    <p:sldId id="48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6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0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6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8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1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0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3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82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8168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4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90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79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16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64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311" y="680729"/>
            <a:ext cx="10679379" cy="470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36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130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A4A25-C09D-4767-B633-7292A4E008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A0980-1F8F-4E3C-BA69-825DFE59C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74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sparrow.blogspot.com/2018/02/how-to-create-quiz-using-python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D2C10C-888C-D4D0-B08B-FA007F8DF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98715EE-725D-6F52-6F04-047C5326A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3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CC72-8287-EE4D-8114-149296622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rtl="1"/>
            <a:r>
              <a:rPr lang="he-IL" cap="none" dirty="0"/>
              <a:t>תכנות מונחה עצמים</a:t>
            </a:r>
            <a:br>
              <a:rPr lang="he-IL" cap="none" dirty="0"/>
            </a:br>
            <a:r>
              <a:rPr lang="he-IL" cap="none" dirty="0" err="1"/>
              <a:t>P</a:t>
            </a:r>
            <a:r>
              <a:rPr lang="en-US" cap="none" dirty="0" err="1"/>
              <a:t>ython</a:t>
            </a:r>
            <a:br>
              <a:rPr lang="he-IL" cap="none" dirty="0"/>
            </a:br>
            <a:endParaRPr lang="en-US" cap="none" dirty="0"/>
          </a:p>
        </p:txBody>
      </p:sp>
      <p:pic>
        <p:nvPicPr>
          <p:cNvPr id="7" name="תמונה 6" descr="תמונה שמכילה טקסט, גופן, צילום מסך, לוגו&#10;&#10;התיאור נוצר באופן אוטומטי">
            <a:extLst>
              <a:ext uri="{FF2B5EF4-FFF2-40B4-BE49-F238E27FC236}">
                <a16:creationId xmlns:a16="http://schemas.microsoft.com/office/drawing/2014/main" id="{7584DAEF-9E4A-9406-FAC7-61510D269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01094" y="3429000"/>
            <a:ext cx="5981700" cy="314325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1F5CD84-014C-097C-A389-D31906DC73C7}"/>
              </a:ext>
            </a:extLst>
          </p:cNvPr>
          <p:cNvSpPr txBox="1"/>
          <p:nvPr/>
        </p:nvSpPr>
        <p:spPr>
          <a:xfrm>
            <a:off x="3301094" y="6572251"/>
            <a:ext cx="59817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>
                <a:hlinkClick r:id="rId3" tooltip="https://wsparrow.blogspot.com/2018/02/how-to-create-quiz-using-python.html"/>
              </a:rPr>
              <a:t>תמונה זו</a:t>
            </a:r>
            <a:r>
              <a:rPr lang="he-IL" sz="900" dirty="0"/>
              <a:t> מאת מחבר לא ידוע ניתן </a:t>
            </a:r>
            <a:r>
              <a:rPr lang="he-IL" sz="900" dirty="0" err="1"/>
              <a:t>ברשיון</a:t>
            </a:r>
            <a:r>
              <a:rPr lang="he-IL" sz="900" dirty="0"/>
              <a:t> במסגרת </a:t>
            </a:r>
            <a:r>
              <a:rPr lang="he-IL" sz="900" dirty="0">
                <a:hlinkClick r:id="rId4" tooltip="https://creativecommons.org/licenses/by-nc-sa/3.0/"/>
              </a:rPr>
              <a:t>CC BY-SA-NC</a:t>
            </a:r>
            <a:endParaRPr lang="he-IL" sz="900" dirty="0"/>
          </a:p>
        </p:txBody>
      </p:sp>
    </p:spTree>
    <p:extLst>
      <p:ext uri="{BB962C8B-B14F-4D97-AF65-F5344CB8AC3E}">
        <p14:creationId xmlns:p14="http://schemas.microsoft.com/office/powerpoint/2010/main" val="85709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A6C1642-1A5D-9546-8C71-E1FD791820CD}"/>
              </a:ext>
            </a:extLst>
          </p:cNvPr>
          <p:cNvSpPr txBox="1"/>
          <p:nvPr/>
        </p:nvSpPr>
        <p:spPr>
          <a:xfrm>
            <a:off x="493701" y="3326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syntax basics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95F30B8-B7D5-A749-AF65-1D9743E5C94C}"/>
              </a:ext>
            </a:extLst>
          </p:cNvPr>
          <p:cNvSpPr txBox="1"/>
          <p:nvPr/>
        </p:nvSpPr>
        <p:spPr>
          <a:xfrm>
            <a:off x="493702" y="1821227"/>
            <a:ext cx="59403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dirty="0"/>
              <a:t>In Python, variables are created when you assign a value to it</a:t>
            </a:r>
          </a:p>
        </p:txBody>
      </p:sp>
      <p:pic>
        <p:nvPicPr>
          <p:cNvPr id="6" name="תמונה 7">
            <a:extLst>
              <a:ext uri="{FF2B5EF4-FFF2-40B4-BE49-F238E27FC236}">
                <a16:creationId xmlns:a16="http://schemas.microsoft.com/office/drawing/2014/main" id="{CA88EE62-557E-ED4C-AF86-23F55224C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007" y="987457"/>
            <a:ext cx="4876800" cy="2124075"/>
          </a:xfrm>
          <a:prstGeom prst="rect">
            <a:avLst/>
          </a:prstGeom>
        </p:spPr>
      </p:pic>
      <p:pic>
        <p:nvPicPr>
          <p:cNvPr id="7" name="תמונה 9">
            <a:extLst>
              <a:ext uri="{FF2B5EF4-FFF2-40B4-BE49-F238E27FC236}">
                <a16:creationId xmlns:a16="http://schemas.microsoft.com/office/drawing/2014/main" id="{ADBF1FF7-82E0-6647-B755-0DA7E7683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746" y="3552613"/>
            <a:ext cx="6076951" cy="27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3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13A9BBC-0087-804F-92F8-1053FBE6928B}"/>
              </a:ext>
            </a:extLst>
          </p:cNvPr>
          <p:cNvSpPr txBox="1"/>
          <p:nvPr/>
        </p:nvSpPr>
        <p:spPr>
          <a:xfrm>
            <a:off x="895351" y="20280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Comments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C63A9C4-5B5C-5C48-A3FC-6D64E7224EEE}"/>
              </a:ext>
            </a:extLst>
          </p:cNvPr>
          <p:cNvSpPr txBox="1"/>
          <p:nvPr/>
        </p:nvSpPr>
        <p:spPr>
          <a:xfrm>
            <a:off x="895349" y="1233285"/>
            <a:ext cx="4969587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dirty="0"/>
              <a:t>Comments can be used to explain Python code.</a:t>
            </a:r>
          </a:p>
          <a:p>
            <a:pPr algn="l" fontAlgn="base"/>
            <a:r>
              <a:rPr lang="en-US" dirty="0"/>
              <a:t>Comments can be used to make the code more readable.</a:t>
            </a:r>
          </a:p>
          <a:p>
            <a:pPr algn="l" fontAlgn="base"/>
            <a:r>
              <a:rPr lang="en-US" dirty="0"/>
              <a:t>Comments can be used to prevent execution when testing code.</a:t>
            </a:r>
          </a:p>
        </p:txBody>
      </p:sp>
      <p:pic>
        <p:nvPicPr>
          <p:cNvPr id="6" name="תמונה 3">
            <a:extLst>
              <a:ext uri="{FF2B5EF4-FFF2-40B4-BE49-F238E27FC236}">
                <a16:creationId xmlns:a16="http://schemas.microsoft.com/office/drawing/2014/main" id="{27FCBBEC-F17E-6942-BEBA-E103A692E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686" y="423977"/>
            <a:ext cx="4676775" cy="210502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13DAD7B-33D1-394E-B4E5-E5BFC755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759" y="2666551"/>
            <a:ext cx="6362700" cy="1533525"/>
          </a:xfrm>
          <a:prstGeom prst="rect">
            <a:avLst/>
          </a:prstGeom>
        </p:spPr>
      </p:pic>
      <p:pic>
        <p:nvPicPr>
          <p:cNvPr id="8" name="תמונה 10">
            <a:extLst>
              <a:ext uri="{FF2B5EF4-FFF2-40B4-BE49-F238E27FC236}">
                <a16:creationId xmlns:a16="http://schemas.microsoft.com/office/drawing/2014/main" id="{AB8E95E8-32C9-9640-9337-E6432F322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636" y="4529782"/>
            <a:ext cx="81248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8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4C3611D-9C9A-6448-96CE-57D1F185E5C6}"/>
              </a:ext>
            </a:extLst>
          </p:cNvPr>
          <p:cNvSpPr txBox="1"/>
          <p:nvPr/>
        </p:nvSpPr>
        <p:spPr>
          <a:xfrm>
            <a:off x="1170305" y="3569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Multi Line Comments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6D36BE5-B017-E74C-8121-708692336DD8}"/>
              </a:ext>
            </a:extLst>
          </p:cNvPr>
          <p:cNvSpPr txBox="1"/>
          <p:nvPr/>
        </p:nvSpPr>
        <p:spPr>
          <a:xfrm>
            <a:off x="1415098" y="1235294"/>
            <a:ext cx="856170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First way for a Multi Line Comments</a:t>
            </a:r>
          </a:p>
          <a:p>
            <a:pPr algn="l" fontAlgn="base"/>
            <a:r>
              <a:rPr lang="en-US" sz="1400" b="1" dirty="0">
                <a:latin typeface="var(--font-din)"/>
              </a:rPr>
              <a:t>  </a:t>
            </a:r>
          </a:p>
        </p:txBody>
      </p:sp>
      <p:pic>
        <p:nvPicPr>
          <p:cNvPr id="6" name="תמונה 4">
            <a:extLst>
              <a:ext uri="{FF2B5EF4-FFF2-40B4-BE49-F238E27FC236}">
                <a16:creationId xmlns:a16="http://schemas.microsoft.com/office/drawing/2014/main" id="{258D8360-1A66-6D49-85E2-841A49421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098" y="1625377"/>
            <a:ext cx="5753100" cy="1628775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F472F4C-2890-1141-995F-91710C19B17E}"/>
              </a:ext>
            </a:extLst>
          </p:cNvPr>
          <p:cNvSpPr txBox="1"/>
          <p:nvPr/>
        </p:nvSpPr>
        <p:spPr>
          <a:xfrm>
            <a:off x="1415098" y="4017294"/>
            <a:ext cx="8561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Second way for a Multi Line Comments</a:t>
            </a:r>
          </a:p>
          <a:p>
            <a:pPr algn="l" fontAlgn="base"/>
            <a:r>
              <a:rPr lang="en-US" sz="1600" dirty="0"/>
              <a:t>  </a:t>
            </a:r>
          </a:p>
        </p:txBody>
      </p:sp>
      <p:pic>
        <p:nvPicPr>
          <p:cNvPr id="8" name="תמונה 9">
            <a:extLst>
              <a:ext uri="{FF2B5EF4-FFF2-40B4-BE49-F238E27FC236}">
                <a16:creationId xmlns:a16="http://schemas.microsoft.com/office/drawing/2014/main" id="{61D0707B-32A5-E34D-8051-E7A604661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097" y="4390354"/>
            <a:ext cx="73818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420AC7C-5A1A-9742-A0D6-7E8CC5ADCF89}"/>
              </a:ext>
            </a:extLst>
          </p:cNvPr>
          <p:cNvSpPr txBox="1"/>
          <p:nvPr/>
        </p:nvSpPr>
        <p:spPr>
          <a:xfrm>
            <a:off x="959213" y="26009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Variables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5F7BF32-8627-9A47-837A-8219E71DF761}"/>
              </a:ext>
            </a:extLst>
          </p:cNvPr>
          <p:cNvSpPr txBox="1"/>
          <p:nvPr/>
        </p:nvSpPr>
        <p:spPr>
          <a:xfrm>
            <a:off x="807185" y="1461622"/>
            <a:ext cx="4976073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Creating Variables</a:t>
            </a:r>
          </a:p>
          <a:p>
            <a:pPr algn="l" fontAlgn="base"/>
            <a:r>
              <a:rPr lang="en-US" sz="1600" dirty="0"/>
              <a:t>Python has no command for declaring a variable.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sz="1600" dirty="0"/>
              <a:t>A variable is created the moment you first assign a value to it.</a:t>
            </a:r>
          </a:p>
        </p:txBody>
      </p:sp>
      <p:pic>
        <p:nvPicPr>
          <p:cNvPr id="6" name="תמונה 3">
            <a:extLst>
              <a:ext uri="{FF2B5EF4-FFF2-40B4-BE49-F238E27FC236}">
                <a16:creationId xmlns:a16="http://schemas.microsoft.com/office/drawing/2014/main" id="{6D8D7DB5-8E39-0A44-A9B7-7160F0AC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506" y="1164705"/>
            <a:ext cx="5667375" cy="1571625"/>
          </a:xfrm>
          <a:prstGeom prst="rect">
            <a:avLst/>
          </a:prstGeom>
        </p:spPr>
      </p:pic>
      <p:pic>
        <p:nvPicPr>
          <p:cNvPr id="7" name="תמונה 7">
            <a:extLst>
              <a:ext uri="{FF2B5EF4-FFF2-40B4-BE49-F238E27FC236}">
                <a16:creationId xmlns:a16="http://schemas.microsoft.com/office/drawing/2014/main" id="{7DC2D12F-ED02-AF4E-BBA8-3D16FF595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506" y="2801564"/>
            <a:ext cx="2638425" cy="5334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D523C07A-4827-B743-9AD8-AB3C73DCF0C0}"/>
              </a:ext>
            </a:extLst>
          </p:cNvPr>
          <p:cNvSpPr txBox="1"/>
          <p:nvPr/>
        </p:nvSpPr>
        <p:spPr>
          <a:xfrm>
            <a:off x="807183" y="4495714"/>
            <a:ext cx="512810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/>
              <a:t>Variables do not need to be declared with any particular type, and can even change type after they have been set.</a:t>
            </a:r>
          </a:p>
        </p:txBody>
      </p:sp>
      <p:pic>
        <p:nvPicPr>
          <p:cNvPr id="9" name="תמונה 12">
            <a:extLst>
              <a:ext uri="{FF2B5EF4-FFF2-40B4-BE49-F238E27FC236}">
                <a16:creationId xmlns:a16="http://schemas.microsoft.com/office/drawing/2014/main" id="{F70BEEBF-BEA1-A74D-A281-445AA422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05" y="4081540"/>
            <a:ext cx="5649491" cy="157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7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4AF9D92-224C-B24F-9E72-1F5C68EA934A}"/>
              </a:ext>
            </a:extLst>
          </p:cNvPr>
          <p:cNvSpPr txBox="1"/>
          <p:nvPr/>
        </p:nvSpPr>
        <p:spPr>
          <a:xfrm>
            <a:off x="1037685" y="332602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Variables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61ED89F-C38D-7F46-BB02-549F76E9E71A}"/>
              </a:ext>
            </a:extLst>
          </p:cNvPr>
          <p:cNvSpPr txBox="1"/>
          <p:nvPr/>
        </p:nvSpPr>
        <p:spPr>
          <a:xfrm>
            <a:off x="1037686" y="1289526"/>
            <a:ext cx="85617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>
                <a:latin typeface="+mj-lt"/>
              </a:rPr>
              <a:t>If you want to specify the data type of a variable, this can be done with casting.</a:t>
            </a:r>
          </a:p>
        </p:txBody>
      </p:sp>
      <p:pic>
        <p:nvPicPr>
          <p:cNvPr id="6" name="תמונה 8">
            <a:extLst>
              <a:ext uri="{FF2B5EF4-FFF2-40B4-BE49-F238E27FC236}">
                <a16:creationId xmlns:a16="http://schemas.microsoft.com/office/drawing/2014/main" id="{1101D368-777B-F44D-A87B-5210AB23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19" y="1707523"/>
            <a:ext cx="4380037" cy="1706663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90CB057C-953F-9D40-8526-240FA1012B3E}"/>
              </a:ext>
            </a:extLst>
          </p:cNvPr>
          <p:cNvSpPr txBox="1"/>
          <p:nvPr/>
        </p:nvSpPr>
        <p:spPr>
          <a:xfrm>
            <a:off x="1037686" y="3724275"/>
            <a:ext cx="8561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>
                <a:latin typeface="+mj-lt"/>
              </a:rPr>
              <a:t>Get the Type</a:t>
            </a:r>
          </a:p>
          <a:p>
            <a:pPr algn="l" fontAlgn="base"/>
            <a:r>
              <a:rPr lang="en-US" sz="1600" dirty="0">
                <a:latin typeface="+mj-lt"/>
              </a:rPr>
              <a:t>You can get the data type of a variable with the type() function.</a:t>
            </a:r>
          </a:p>
        </p:txBody>
      </p:sp>
      <p:pic>
        <p:nvPicPr>
          <p:cNvPr id="8" name="תמונה 13">
            <a:extLst>
              <a:ext uri="{FF2B5EF4-FFF2-40B4-BE49-F238E27FC236}">
                <a16:creationId xmlns:a16="http://schemas.microsoft.com/office/drawing/2014/main" id="{7C89871F-4574-A448-8C3A-07238294B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219" y="4539634"/>
            <a:ext cx="4430836" cy="18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5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6CCF9D2-E5B8-C342-93FF-1C81A0A3570B}"/>
              </a:ext>
            </a:extLst>
          </p:cNvPr>
          <p:cNvSpPr txBox="1"/>
          <p:nvPr/>
        </p:nvSpPr>
        <p:spPr>
          <a:xfrm>
            <a:off x="1104167" y="27402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+mj-lt"/>
                <a:cs typeface="Trebuchet MS"/>
              </a:rPr>
              <a:t>Python Variables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E53192C-00E1-E640-A78F-95673A425C1B}"/>
              </a:ext>
            </a:extLst>
          </p:cNvPr>
          <p:cNvSpPr txBox="1"/>
          <p:nvPr/>
        </p:nvSpPr>
        <p:spPr>
          <a:xfrm>
            <a:off x="1104169" y="1183439"/>
            <a:ext cx="8561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>
                <a:latin typeface="+mj-lt"/>
              </a:rPr>
              <a:t>Single or Double Quotes? (Same as java)</a:t>
            </a:r>
          </a:p>
          <a:p>
            <a:pPr algn="l" fontAlgn="base"/>
            <a:r>
              <a:rPr lang="en-US" sz="1600" dirty="0">
                <a:latin typeface="+mj-lt"/>
              </a:rPr>
              <a:t>String variables can be declared either by using single or double quotes: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3B3BB79-282D-3C4B-A8D3-8B2A8FB4C7CC}"/>
              </a:ext>
            </a:extLst>
          </p:cNvPr>
          <p:cNvSpPr txBox="1"/>
          <p:nvPr/>
        </p:nvSpPr>
        <p:spPr>
          <a:xfrm>
            <a:off x="1104168" y="3722351"/>
            <a:ext cx="8561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600" dirty="0">
                <a:latin typeface="+mj-lt"/>
              </a:rPr>
              <a:t>Case-Sensitive (Same as java)</a:t>
            </a:r>
          </a:p>
          <a:p>
            <a:pPr algn="l" fontAlgn="base"/>
            <a:r>
              <a:rPr lang="en-US" sz="1600" dirty="0">
                <a:latin typeface="+mj-lt"/>
              </a:rPr>
              <a:t>Variable names are case-sensitive.</a:t>
            </a:r>
          </a:p>
        </p:txBody>
      </p:sp>
      <p:pic>
        <p:nvPicPr>
          <p:cNvPr id="7" name="תמונה 3">
            <a:extLst>
              <a:ext uri="{FF2B5EF4-FFF2-40B4-BE49-F238E27FC236}">
                <a16:creationId xmlns:a16="http://schemas.microsoft.com/office/drawing/2014/main" id="{1A7E0CD2-90C3-7445-8880-1FC05EBA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67" y="2006583"/>
            <a:ext cx="6280205" cy="1311619"/>
          </a:xfrm>
          <a:prstGeom prst="rect">
            <a:avLst/>
          </a:prstGeom>
        </p:spPr>
      </p:pic>
      <p:pic>
        <p:nvPicPr>
          <p:cNvPr id="8" name="תמונה 6">
            <a:extLst>
              <a:ext uri="{FF2B5EF4-FFF2-40B4-BE49-F238E27FC236}">
                <a16:creationId xmlns:a16="http://schemas.microsoft.com/office/drawing/2014/main" id="{A49F6D65-C7F7-AB40-BCD4-976B5129A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68" y="4631769"/>
            <a:ext cx="3946643" cy="17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52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955" y="28192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cs typeface="Trebuchet MS"/>
              </a:rPr>
              <a:t>Python - Variable Names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59957" y="2116080"/>
            <a:ext cx="4227929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A variable can have a short name (like x and y) or a more descriptive name (age, </a:t>
            </a:r>
            <a:r>
              <a:rPr lang="en-US" sz="1400" dirty="0" err="1"/>
              <a:t>carname</a:t>
            </a:r>
            <a:r>
              <a:rPr lang="en-US" sz="1400" dirty="0"/>
              <a:t>, </a:t>
            </a:r>
            <a:r>
              <a:rPr lang="en-US" sz="1400" dirty="0" err="1"/>
              <a:t>total_volume</a:t>
            </a:r>
            <a:r>
              <a:rPr lang="en-US" sz="1400" dirty="0"/>
              <a:t>). </a:t>
            </a:r>
            <a:endParaRPr lang="he-IL" sz="1400" dirty="0"/>
          </a:p>
          <a:p>
            <a:pPr algn="l" fontAlgn="base"/>
            <a:r>
              <a:rPr lang="en-US" sz="1400" dirty="0"/>
              <a:t>Rules for Python variables:</a:t>
            </a:r>
          </a:p>
          <a:p>
            <a:pPr algn="l" fontAlgn="base"/>
            <a:r>
              <a:rPr lang="en-US" sz="1400" dirty="0"/>
              <a:t>A variable name must start with a letter or the underscore character</a:t>
            </a:r>
          </a:p>
          <a:p>
            <a:pPr algn="l" fontAlgn="base"/>
            <a:r>
              <a:rPr lang="en-US" sz="1400" dirty="0"/>
              <a:t>A variable name cannot start with a number</a:t>
            </a:r>
          </a:p>
          <a:p>
            <a:pPr algn="l" fontAlgn="base"/>
            <a:r>
              <a:rPr lang="en-US" sz="1400" dirty="0"/>
              <a:t>A variable name can only contain alpha-numeric characters and underscores (A-z, 0-9, and _ )</a:t>
            </a:r>
          </a:p>
          <a:p>
            <a:pPr algn="l" fontAlgn="base"/>
            <a:r>
              <a:rPr lang="en-US" sz="1400" dirty="0"/>
              <a:t>Variable names are case-sensitive (age, Age and AGE are three different variables)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502D7FD-19C8-407E-8C19-721D6A81C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11" y="1114869"/>
            <a:ext cx="68580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575" y="366698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Trebuchet MS"/>
                <a:cs typeface="Trebuchet MS"/>
              </a:rPr>
              <a:t>Python Variables - </a:t>
            </a:r>
            <a:r>
              <a:rPr lang="fr-FR" sz="3200" dirty="0" err="1">
                <a:latin typeface="Trebuchet MS"/>
                <a:cs typeface="Trebuchet MS"/>
              </a:rPr>
              <a:t>Assign</a:t>
            </a:r>
            <a:r>
              <a:rPr lang="fr-FR" sz="3200" dirty="0">
                <a:latin typeface="Trebuchet MS"/>
                <a:cs typeface="Trebuchet MS"/>
              </a:rPr>
              <a:t> Multiple Values</a:t>
            </a:r>
            <a:endParaRPr lang="en-US" sz="3200" dirty="0">
              <a:latin typeface="Trebuchet MS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828625" y="1045837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Many Values to Multiple Variables</a:t>
            </a:r>
          </a:p>
          <a:p>
            <a:pPr algn="l" fontAlgn="base"/>
            <a:r>
              <a:rPr lang="en-US" sz="1400" dirty="0"/>
              <a:t>Python allows you to assign values to multiple variables in one line: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34405EB-ED1B-4B81-8CB4-CBBC6E8D925D}"/>
              </a:ext>
            </a:extLst>
          </p:cNvPr>
          <p:cNvSpPr txBox="1"/>
          <p:nvPr/>
        </p:nvSpPr>
        <p:spPr>
          <a:xfrm>
            <a:off x="828626" y="2789078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One Value to Multiple Variables</a:t>
            </a:r>
          </a:p>
          <a:p>
            <a:pPr algn="l" fontAlgn="base"/>
            <a:r>
              <a:rPr lang="en-US" sz="1400" dirty="0"/>
              <a:t>And you can assign the same value to multiple variables in one line: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AB998D1-0355-4374-BE6C-58AB9395D3F0}"/>
              </a:ext>
            </a:extLst>
          </p:cNvPr>
          <p:cNvSpPr txBox="1"/>
          <p:nvPr/>
        </p:nvSpPr>
        <p:spPr>
          <a:xfrm>
            <a:off x="828625" y="4674846"/>
            <a:ext cx="856170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Unpack a Collection</a:t>
            </a:r>
          </a:p>
          <a:p>
            <a:pPr algn="l" fontAlgn="base"/>
            <a:r>
              <a:rPr lang="en-US" sz="1400" dirty="0"/>
              <a:t>If you have a collection of values in a list, tuple etc. Python allows you extract the values into variables. This is called unpacking.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BCE7B6E-07DE-47F4-B6BC-8E5625338D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6"/>
          <a:stretch/>
        </p:blipFill>
        <p:spPr>
          <a:xfrm>
            <a:off x="828626" y="1765201"/>
            <a:ext cx="3781425" cy="690488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E392D451-5E10-4932-880F-1D24DDCC0A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241"/>
          <a:stretch/>
        </p:blipFill>
        <p:spPr>
          <a:xfrm>
            <a:off x="828625" y="3456408"/>
            <a:ext cx="5629275" cy="659155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D8F5F94C-5992-426F-9ED3-5705A2824A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4756"/>
          <a:stretch/>
        </p:blipFill>
        <p:spPr>
          <a:xfrm>
            <a:off x="828623" y="5451944"/>
            <a:ext cx="3733800" cy="12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0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27115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Output Variables</a:t>
            </a:r>
            <a:endParaRPr lang="en-US" sz="3200" dirty="0">
              <a:latin typeface="+mj-lt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831348" y="956591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The Python print statement is often used to output variables.</a:t>
            </a:r>
          </a:p>
          <a:p>
            <a:pPr algn="l" fontAlgn="base"/>
            <a:r>
              <a:rPr lang="en-US" sz="1400" dirty="0"/>
              <a:t>To combine both text and a variable, Python uses the + character: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34405EB-ED1B-4B81-8CB4-CBBC6E8D925D}"/>
              </a:ext>
            </a:extLst>
          </p:cNvPr>
          <p:cNvSpPr txBox="1"/>
          <p:nvPr/>
        </p:nvSpPr>
        <p:spPr>
          <a:xfrm>
            <a:off x="831349" y="2853499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You can also use the + character to add a variable to another variable: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AB998D1-0355-4374-BE6C-58AB9395D3F0}"/>
              </a:ext>
            </a:extLst>
          </p:cNvPr>
          <p:cNvSpPr txBox="1"/>
          <p:nvPr/>
        </p:nvSpPr>
        <p:spPr>
          <a:xfrm>
            <a:off x="831349" y="4821265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If you try to combine a string and a number, Python will give you an error: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EB51AB6-1284-4861-AFC8-D83C0C86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48" y="1471971"/>
            <a:ext cx="2828925" cy="95250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5423BD03-086A-46DC-84AE-BAB4DC130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375" y="1666626"/>
            <a:ext cx="1943100" cy="438151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EC2C160D-34E6-4E7A-AEB7-0A2B12C2B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41977"/>
            <a:ext cx="3438525" cy="1390651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007152D3-1F5E-4D02-B589-84966CBC2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647" y="3534595"/>
            <a:ext cx="1828800" cy="790575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CE8EC510-130E-4038-890C-E431B81A5F9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55000"/>
                    </a14:imgEffect>
                  </a14:imgLayer>
                </a14:imgProps>
              </a:ext>
            </a:extLst>
          </a:blip>
          <a:srcRect r="31342"/>
          <a:stretch/>
        </p:blipFill>
        <p:spPr>
          <a:xfrm>
            <a:off x="838201" y="5131131"/>
            <a:ext cx="5892209" cy="1371600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737A489-D56F-E79E-3B6A-E1CA53836F83}"/>
              </a:ext>
            </a:extLst>
          </p:cNvPr>
          <p:cNvSpPr txBox="1"/>
          <p:nvPr/>
        </p:nvSpPr>
        <p:spPr>
          <a:xfrm>
            <a:off x="8678641" y="4492998"/>
            <a:ext cx="305154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In order to print different types you can print with "," instead of "+"</a:t>
            </a:r>
            <a:endParaRPr lang="he-IL" sz="1400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DD742365-A2FF-F5D0-51AD-F03DD43767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8642" y="5189901"/>
            <a:ext cx="1428823" cy="1289116"/>
          </a:xfrm>
          <a:prstGeom prst="rect">
            <a:avLst/>
          </a:prstGeom>
        </p:spPr>
      </p:pic>
      <p:sp>
        <p:nvSpPr>
          <p:cNvPr id="17" name="חץ: ימינה 16">
            <a:extLst>
              <a:ext uri="{FF2B5EF4-FFF2-40B4-BE49-F238E27FC236}">
                <a16:creationId xmlns:a16="http://schemas.microsoft.com/office/drawing/2014/main" id="{9CC42332-D926-A425-813F-A4D50B63C3F7}"/>
              </a:ext>
            </a:extLst>
          </p:cNvPr>
          <p:cNvSpPr/>
          <p:nvPr/>
        </p:nvSpPr>
        <p:spPr>
          <a:xfrm>
            <a:off x="6953086" y="5506123"/>
            <a:ext cx="1429265" cy="790575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010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843" y="245330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Data Types</a:t>
            </a:r>
            <a:endParaRPr lang="en-US" sz="3200" dirty="0"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789844" y="1317517"/>
            <a:ext cx="856170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Built-in Data Types</a:t>
            </a:r>
          </a:p>
          <a:p>
            <a:pPr algn="l" fontAlgn="base"/>
            <a:r>
              <a:rPr lang="en-US" sz="1400" dirty="0"/>
              <a:t>In programming, data type is an important concept.</a:t>
            </a:r>
          </a:p>
          <a:p>
            <a:pPr algn="l" fontAlgn="base"/>
            <a:endParaRPr lang="en-US" sz="1400" dirty="0"/>
          </a:p>
          <a:p>
            <a:pPr algn="l" fontAlgn="base"/>
            <a:r>
              <a:rPr lang="en-US" sz="1400" dirty="0"/>
              <a:t>Variables can store data of different types, and different types can do different things.</a:t>
            </a:r>
          </a:p>
          <a:p>
            <a:pPr algn="l" fontAlgn="base"/>
            <a:endParaRPr lang="en-US" sz="1400" dirty="0"/>
          </a:p>
          <a:p>
            <a:pPr algn="l" fontAlgn="base"/>
            <a:r>
              <a:rPr lang="en-US" sz="1400" dirty="0"/>
              <a:t>Python has the following data types built-in by default, in these categories: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60C25D6-0ECA-4534-B9D4-8E132C76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15" y="3189923"/>
            <a:ext cx="6766571" cy="32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12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952" y="36838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Data Types </a:t>
            </a:r>
            <a:r>
              <a:rPr lang="fr-FR" sz="3200" dirty="0" err="1">
                <a:cs typeface="Trebuchet MS"/>
              </a:rPr>
              <a:t>Cont</a:t>
            </a:r>
            <a:r>
              <a:rPr lang="fr-FR" sz="3200" dirty="0">
                <a:cs typeface="Trebuchet MS"/>
              </a:rPr>
              <a:t>.</a:t>
            </a:r>
            <a:endParaRPr lang="en-US" sz="3200" dirty="0"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09601" y="1186429"/>
            <a:ext cx="8561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In Python, the data type is set when you assign a value to a variable: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5446708-29D8-4AF9-81BC-B9AFC2EA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7475"/>
            <a:ext cx="9479944" cy="446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88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133" y="20961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Random </a:t>
            </a:r>
            <a:r>
              <a:rPr lang="fr-FR" sz="3200" dirty="0" err="1">
                <a:latin typeface="+mj-lt"/>
                <a:cs typeface="Trebuchet MS"/>
              </a:rPr>
              <a:t>Number</a:t>
            </a:r>
            <a:endParaRPr lang="en-US" sz="3200" dirty="0">
              <a:latin typeface="+mj-lt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836134" y="1272542"/>
            <a:ext cx="856170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dirty="0"/>
              <a:t>Random Number</a:t>
            </a:r>
          </a:p>
          <a:p>
            <a:pPr algn="l" fontAlgn="base"/>
            <a:r>
              <a:rPr lang="en-US" dirty="0"/>
              <a:t>Python does not have a random() function to make a random number, but Python has a built-in module called random that can be used to make random numbers: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/>
              <a:t>Example</a:t>
            </a:r>
          </a:p>
          <a:p>
            <a:pPr algn="l" fontAlgn="base"/>
            <a:r>
              <a:rPr lang="en-US" dirty="0"/>
              <a:t>Import the random module, and display a random number between 1 and 9: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1188AC0-4178-4A78-96ED-F467EE5B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5" y="4152130"/>
            <a:ext cx="7281679" cy="100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1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112" y="34726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Multiline Strings</a:t>
            </a:r>
            <a:endParaRPr lang="en-US" sz="3200" dirty="0">
              <a:latin typeface="+mj-lt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64113" y="1628980"/>
            <a:ext cx="85617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dirty="0"/>
              <a:t>You can assign a multiline string to a variable by using three quotes: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E13FE40-8F0C-4C9B-B5E6-9ADBCA67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8" y="2343879"/>
            <a:ext cx="4923581" cy="190914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2122D81-624B-47D2-AF26-4F729DD97D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58"/>
          <a:stretch/>
        </p:blipFill>
        <p:spPr>
          <a:xfrm>
            <a:off x="5865206" y="2352714"/>
            <a:ext cx="4200525" cy="21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4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12" y="42661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Strings are </a:t>
            </a:r>
            <a:r>
              <a:rPr lang="fr-FR" sz="3200" dirty="0" err="1">
                <a:latin typeface="+mj-lt"/>
                <a:cs typeface="Trebuchet MS"/>
              </a:rPr>
              <a:t>Arrays</a:t>
            </a:r>
            <a:endParaRPr lang="en-US" sz="3200" dirty="0">
              <a:latin typeface="+mj-lt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778413" y="1179042"/>
            <a:ext cx="8561705" cy="1520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Like many other popular programming languages, strings in Python are arrays of bytes representing </a:t>
            </a:r>
            <a:r>
              <a:rPr lang="en-US" sz="1400" dirty="0" err="1"/>
              <a:t>unicode</a:t>
            </a:r>
            <a:r>
              <a:rPr lang="en-US" sz="1400" dirty="0"/>
              <a:t> characters.</a:t>
            </a:r>
          </a:p>
          <a:p>
            <a:pPr algn="l" fontAlgn="base"/>
            <a:endParaRPr lang="en-US" sz="1400" dirty="0"/>
          </a:p>
          <a:p>
            <a:pPr algn="l" fontAlgn="base"/>
            <a:r>
              <a:rPr lang="en-US" sz="1400" dirty="0"/>
              <a:t>However, Python does not have a character data type, a single character is simply a string with a length of 1.</a:t>
            </a:r>
          </a:p>
          <a:p>
            <a:pPr algn="l" fontAlgn="base"/>
            <a:endParaRPr lang="en-US" sz="1400" dirty="0"/>
          </a:p>
          <a:p>
            <a:pPr algn="l" fontAlgn="base"/>
            <a:r>
              <a:rPr lang="en-US" sz="1400" dirty="0"/>
              <a:t>Square brackets can be used to access elements of the string.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5B500B3-1D2E-4CE4-9CA7-1598DBC6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12" y="2737740"/>
            <a:ext cx="6486525" cy="1314451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F5C3D585-7BD8-4051-BEBD-72C19B1A630D}"/>
              </a:ext>
            </a:extLst>
          </p:cNvPr>
          <p:cNvSpPr txBox="1"/>
          <p:nvPr/>
        </p:nvSpPr>
        <p:spPr>
          <a:xfrm>
            <a:off x="778413" y="4464621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Looping Through a String</a:t>
            </a:r>
          </a:p>
          <a:p>
            <a:pPr algn="l" fontAlgn="base"/>
            <a:r>
              <a:rPr lang="en-US" sz="1400" dirty="0"/>
              <a:t>Since strings are arrays, we can loop through the characters in a string, with a for loop.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583FF1FD-9A34-44F3-8C9F-82F058EB2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13" y="5320761"/>
            <a:ext cx="3943351" cy="981075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E099260C-0FC3-4AFC-BB70-A0E3F1C86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150" y="5101685"/>
            <a:ext cx="6953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9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403" y="287523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 are </a:t>
            </a:r>
            <a:r>
              <a:rPr lang="fr-FR" sz="3200" dirty="0" err="1">
                <a:cs typeface="Trebuchet MS"/>
              </a:rPr>
              <a:t>Arrays</a:t>
            </a:r>
            <a:endParaRPr lang="en-US" sz="3200" dirty="0"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742365" y="999031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String Length</a:t>
            </a:r>
          </a:p>
          <a:p>
            <a:pPr algn="l" fontAlgn="base"/>
            <a:r>
              <a:rPr lang="en-US" sz="1400" dirty="0"/>
              <a:t>To get the length of a string, use the </a:t>
            </a:r>
            <a:r>
              <a:rPr lang="en-US" sz="1400" dirty="0" err="1"/>
              <a:t>len</a:t>
            </a:r>
            <a:r>
              <a:rPr lang="en-US" sz="1400" dirty="0"/>
              <a:t>() function.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5C3D585-7BD8-4051-BEBD-72C19B1A630D}"/>
              </a:ext>
            </a:extLst>
          </p:cNvPr>
          <p:cNvSpPr txBox="1"/>
          <p:nvPr/>
        </p:nvSpPr>
        <p:spPr>
          <a:xfrm>
            <a:off x="698404" y="3024709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Check String</a:t>
            </a:r>
          </a:p>
          <a:p>
            <a:pPr algn="l" fontAlgn="base"/>
            <a:r>
              <a:rPr lang="en-US" sz="1400" dirty="0"/>
              <a:t>To check if a certain phrase or character is present in a string, we can use the keyword in.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1027F4B-26CF-4EC2-914F-E8FAC51F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03" y="1442742"/>
            <a:ext cx="5143500" cy="1352551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C7090C9-C025-49B2-B122-9F2089F1A5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943"/>
          <a:stretch/>
        </p:blipFill>
        <p:spPr>
          <a:xfrm>
            <a:off x="698402" y="3468419"/>
            <a:ext cx="5355103" cy="2900344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4F9797D7-05F5-44E8-ABE4-5F5862142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504" y="4077899"/>
            <a:ext cx="2000251" cy="685800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25259CB9-E05A-4486-9BE4-D654055F3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504" y="5616288"/>
            <a:ext cx="2686051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31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503" y="362805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 are </a:t>
            </a:r>
            <a:r>
              <a:rPr lang="fr-FR" sz="3200" dirty="0" err="1">
                <a:cs typeface="Trebuchet MS"/>
              </a:rPr>
              <a:t>Arrays</a:t>
            </a:r>
            <a:endParaRPr lang="en-US" sz="3200" dirty="0"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39446" y="1188099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Check if NOT</a:t>
            </a:r>
          </a:p>
          <a:p>
            <a:pPr algn="l" fontAlgn="base"/>
            <a:r>
              <a:rPr lang="en-US" sz="1400" dirty="0"/>
              <a:t>To check if a certain phrase or character is NOT present in a string, we can use the keyword not in.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6B9088A-ADC4-47CC-A674-83166C6E9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02" y="1851039"/>
            <a:ext cx="6457951" cy="1409700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FBC61EF5-5339-4909-9589-61A81296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01" y="4028146"/>
            <a:ext cx="5962651" cy="1552575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2F1998B0-91DD-2D5B-0162-EEFAE03C9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452" y="2532406"/>
            <a:ext cx="2000251" cy="728333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57898743-DE54-C69D-F4DD-6A3D2DF13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485" y="5059994"/>
            <a:ext cx="2876699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29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292" y="31242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Strings</a:t>
            </a:r>
            <a:endParaRPr lang="en-US" sz="3200" dirty="0">
              <a:latin typeface="+mj-lt"/>
              <a:cs typeface="Trebuchet MS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B83BBE7-E808-42BC-B62E-6169E0F1F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68" y="998220"/>
            <a:ext cx="11083139" cy="5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63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4152" y="332934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</a:t>
            </a:r>
            <a:endParaRPr lang="en-US" sz="3200" dirty="0">
              <a:cs typeface="Trebuchet MS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53BB4B48-58F6-4B21-881B-DB6A0A4C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53" y="1066800"/>
            <a:ext cx="10061439" cy="521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86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BC00084-1578-4B20-A6E0-90AB55EA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712" y="332934"/>
            <a:ext cx="7462099" cy="6090727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01208E75-2231-B742-A6C7-6852347C8D4B}"/>
              </a:ext>
            </a:extLst>
          </p:cNvPr>
          <p:cNvSpPr txBox="1"/>
          <p:nvPr/>
        </p:nvSpPr>
        <p:spPr>
          <a:xfrm>
            <a:off x="984152" y="332934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</a:t>
            </a:r>
            <a:endParaRPr lang="en-US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67495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BC00084-1578-4B20-A6E0-90AB55EA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41" y="332934"/>
            <a:ext cx="7747212" cy="63234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6F5EA2A-B162-764F-9DB4-023F17F78474}"/>
              </a:ext>
            </a:extLst>
          </p:cNvPr>
          <p:cNvSpPr txBox="1"/>
          <p:nvPr/>
        </p:nvSpPr>
        <p:spPr>
          <a:xfrm>
            <a:off x="984152" y="332934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</a:t>
            </a:r>
            <a:endParaRPr lang="en-US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58693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68370AFE-2E84-48A2-89BC-A156334B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91" y="332933"/>
            <a:ext cx="8763000" cy="616219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340A5E9-348A-FC4F-BBBB-6B770E37018F}"/>
              </a:ext>
            </a:extLst>
          </p:cNvPr>
          <p:cNvSpPr txBox="1"/>
          <p:nvPr/>
        </p:nvSpPr>
        <p:spPr>
          <a:xfrm>
            <a:off x="984152" y="332934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Strings</a:t>
            </a:r>
            <a:endParaRPr lang="en-US" sz="32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32851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920" y="215731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</a:t>
            </a:r>
            <a:r>
              <a:rPr lang="fr-FR" sz="3200" dirty="0" err="1">
                <a:cs typeface="Trebuchet MS"/>
              </a:rPr>
              <a:t>Booleans</a:t>
            </a:r>
            <a:endParaRPr lang="fr-FR" sz="3200" dirty="0">
              <a:cs typeface="Trebuchet M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F4DD636-564F-4D0C-A86C-B31E81DB0186}"/>
              </a:ext>
            </a:extLst>
          </p:cNvPr>
          <p:cNvSpPr txBox="1"/>
          <p:nvPr/>
        </p:nvSpPr>
        <p:spPr>
          <a:xfrm>
            <a:off x="771921" y="1005354"/>
            <a:ext cx="8561705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Booleans represent one of two values: True or False.</a:t>
            </a:r>
          </a:p>
          <a:p>
            <a:pPr algn="l" fontAlgn="base"/>
            <a:r>
              <a:rPr lang="en-US" sz="1400" dirty="0"/>
              <a:t>Boolean Values</a:t>
            </a:r>
          </a:p>
          <a:p>
            <a:pPr algn="l" fontAlgn="base"/>
            <a:r>
              <a:rPr lang="en-US" sz="1400" dirty="0"/>
              <a:t>In programming you often need to know if an expression is True or False.</a:t>
            </a:r>
          </a:p>
          <a:p>
            <a:pPr algn="l" fontAlgn="base"/>
            <a:r>
              <a:rPr lang="en-US" sz="1400" dirty="0"/>
              <a:t>You can evaluate any expression in Python, and get one of two answers, True or False.</a:t>
            </a:r>
          </a:p>
          <a:p>
            <a:pPr algn="l" fontAlgn="base"/>
            <a:r>
              <a:rPr lang="en-US" sz="1400" dirty="0"/>
              <a:t>When you compare two values, the expression is evaluated and Python returns the Boolean answer: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A2A713BB-53F0-4002-824B-C4B5A8F0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21" y="2361309"/>
            <a:ext cx="2028431" cy="1477665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F0F0D3C1-A0F1-43B0-95BB-39622BBD9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1" y="2742953"/>
            <a:ext cx="1050009" cy="937508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AA423F3E-0BA6-4F25-9488-C7AD6D426827}"/>
              </a:ext>
            </a:extLst>
          </p:cNvPr>
          <p:cNvSpPr txBox="1"/>
          <p:nvPr/>
        </p:nvSpPr>
        <p:spPr>
          <a:xfrm>
            <a:off x="771921" y="4049231"/>
            <a:ext cx="85617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sz="1400" dirty="0"/>
              <a:t>Evaluate Values and Variables</a:t>
            </a:r>
          </a:p>
          <a:p>
            <a:pPr algn="l" fontAlgn="base"/>
            <a:r>
              <a:rPr lang="en-US" sz="1400" dirty="0"/>
              <a:t>The bool() function allows you to evaluate any value, and give you True or False in return,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01B5386D-3929-4B9F-88A7-E1C9E49FA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19" y="4596593"/>
            <a:ext cx="3708219" cy="1644515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097D9A62-2FDC-4EBD-A54A-59FC98297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489" y="5075146"/>
            <a:ext cx="1419225" cy="89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3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87" y="22336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Python </a:t>
            </a:r>
            <a:r>
              <a:rPr lang="fr-FR" sz="3200" dirty="0" err="1">
                <a:latin typeface="+mj-lt"/>
                <a:cs typeface="Trebuchet MS"/>
              </a:rPr>
              <a:t>Operators</a:t>
            </a:r>
            <a:endParaRPr lang="fr-FR" sz="3200" dirty="0">
              <a:latin typeface="+mj-lt"/>
              <a:cs typeface="Trebuchet M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F4DD636-564F-4D0C-A86C-B31E81DB0186}"/>
              </a:ext>
            </a:extLst>
          </p:cNvPr>
          <p:cNvSpPr txBox="1"/>
          <p:nvPr/>
        </p:nvSpPr>
        <p:spPr>
          <a:xfrm>
            <a:off x="657621" y="1184319"/>
            <a:ext cx="85617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fontAlgn="base"/>
            <a:r>
              <a:rPr lang="en-US" dirty="0"/>
              <a:t>Python Operators</a:t>
            </a:r>
          </a:p>
          <a:p>
            <a:pPr algn="l" fontAlgn="base"/>
            <a:r>
              <a:rPr lang="en-US" dirty="0"/>
              <a:t>Operators are used to perform operations on variables and values.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/>
              <a:t>In the example below, we use the + operator to add together two values: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BBF72DB-EC98-4B73-81FA-E88B160FE3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1"/>
          <a:stretch/>
        </p:blipFill>
        <p:spPr>
          <a:xfrm>
            <a:off x="646987" y="2742248"/>
            <a:ext cx="9893620" cy="362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72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920" y="41767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latin typeface="+mj-lt"/>
                <a:cs typeface="Trebuchet MS"/>
              </a:rPr>
              <a:t>Python </a:t>
            </a:r>
            <a:r>
              <a:rPr lang="fr-FR" sz="3200" dirty="0" err="1">
                <a:latin typeface="+mj-lt"/>
                <a:cs typeface="Trebuchet MS"/>
              </a:rPr>
              <a:t>Operators</a:t>
            </a:r>
            <a:endParaRPr lang="fr-FR" sz="3200" dirty="0">
              <a:latin typeface="+mj-lt"/>
              <a:cs typeface="Trebuchet M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BD25240-0805-4142-BC75-161039F6B4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878"/>
          <a:stretch/>
        </p:blipFill>
        <p:spPr>
          <a:xfrm>
            <a:off x="771921" y="1120141"/>
            <a:ext cx="9593612" cy="499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68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331" y="451969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>
                <a:latin typeface="+mj-lt"/>
                <a:cs typeface="Trebuchet MS"/>
              </a:rPr>
              <a:t>Python Operators</a:t>
            </a:r>
            <a:endParaRPr lang="fr-FR" sz="3200" dirty="0">
              <a:latin typeface="+mj-lt"/>
              <a:cs typeface="Trebuchet MS"/>
            </a:endParaRP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37033788-AB76-A17F-7B6B-7FB570601AB3}"/>
              </a:ext>
            </a:extLst>
          </p:cNvPr>
          <p:cNvGrpSpPr/>
          <p:nvPr/>
        </p:nvGrpSpPr>
        <p:grpSpPr>
          <a:xfrm>
            <a:off x="1520190" y="1605166"/>
            <a:ext cx="8686800" cy="4250295"/>
            <a:chOff x="1520190" y="1605166"/>
            <a:chExt cx="8686800" cy="4250295"/>
          </a:xfrm>
        </p:grpSpPr>
        <p:grpSp>
          <p:nvGrpSpPr>
            <p:cNvPr id="14" name="קבוצה 13">
              <a:extLst>
                <a:ext uri="{FF2B5EF4-FFF2-40B4-BE49-F238E27FC236}">
                  <a16:creationId xmlns:a16="http://schemas.microsoft.com/office/drawing/2014/main" id="{3CD26FC1-4832-CD84-3146-5E9FDE7BC128}"/>
                </a:ext>
              </a:extLst>
            </p:cNvPr>
            <p:cNvGrpSpPr/>
            <p:nvPr/>
          </p:nvGrpSpPr>
          <p:grpSpPr>
            <a:xfrm>
              <a:off x="1520190" y="1605166"/>
              <a:ext cx="8686800" cy="4250295"/>
              <a:chOff x="1520190" y="1605166"/>
              <a:chExt cx="8686800" cy="4250295"/>
            </a:xfrm>
          </p:grpSpPr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9D614560-694E-DAA8-F861-21A06D905F10}"/>
                  </a:ext>
                </a:extLst>
              </p:cNvPr>
              <p:cNvSpPr txBox="1"/>
              <p:nvPr/>
            </p:nvSpPr>
            <p:spPr>
              <a:xfrm>
                <a:off x="1520190" y="1605166"/>
                <a:ext cx="4587546" cy="42473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ctr"/>
                <a:endParaRPr lang="en-US" sz="5400" b="1" dirty="0"/>
              </a:p>
              <a:p>
                <a:pPr algn="ctr"/>
                <a:r>
                  <a:rPr lang="en-US" sz="5400" b="1" dirty="0" err="1"/>
                  <a:t>i</a:t>
                </a:r>
                <a:r>
                  <a:rPr lang="en-US" sz="5400" b="1" dirty="0"/>
                  <a:t>++</a:t>
                </a:r>
              </a:p>
              <a:p>
                <a:pPr algn="ctr"/>
                <a:endParaRPr lang="en-US" sz="5400" b="1" dirty="0"/>
              </a:p>
              <a:p>
                <a:pPr algn="ctr"/>
                <a:r>
                  <a:rPr lang="en-US" sz="5400" b="1" dirty="0" err="1"/>
                  <a:t>i</a:t>
                </a:r>
                <a:r>
                  <a:rPr lang="en-US" sz="5400" b="1" dirty="0"/>
                  <a:t> += 1</a:t>
                </a:r>
              </a:p>
              <a:p>
                <a:pPr algn="ctr"/>
                <a:endParaRPr lang="he-IL" sz="5400" b="1" dirty="0"/>
              </a:p>
            </p:txBody>
          </p:sp>
          <p:pic>
            <p:nvPicPr>
              <p:cNvPr id="13" name="תמונה 12">
                <a:extLst>
                  <a:ext uri="{FF2B5EF4-FFF2-40B4-BE49-F238E27FC236}">
                    <a16:creationId xmlns:a16="http://schemas.microsoft.com/office/drawing/2014/main" id="{76614DAC-37DC-37E0-4575-9AD98CBBCE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9669" r="1220"/>
              <a:stretch/>
            </p:blipFill>
            <p:spPr>
              <a:xfrm>
                <a:off x="6086566" y="1605166"/>
                <a:ext cx="4120424" cy="4250295"/>
              </a:xfrm>
              <a:prstGeom prst="rect">
                <a:avLst/>
              </a:prstGeom>
            </p:spPr>
          </p:pic>
        </p:grpSp>
        <p:sp>
          <p:nvSpPr>
            <p:cNvPr id="15" name="סימן כפל 14">
              <a:extLst>
                <a:ext uri="{FF2B5EF4-FFF2-40B4-BE49-F238E27FC236}">
                  <a16:creationId xmlns:a16="http://schemas.microsoft.com/office/drawing/2014/main" id="{6B0A1032-4E0C-A687-6DAC-802C410CD7FD}"/>
                </a:ext>
              </a:extLst>
            </p:cNvPr>
            <p:cNvSpPr/>
            <p:nvPr/>
          </p:nvSpPr>
          <p:spPr>
            <a:xfrm>
              <a:off x="2585238" y="1605166"/>
              <a:ext cx="2512542" cy="2601074"/>
            </a:xfrm>
            <a:prstGeom prst="mathMultiply">
              <a:avLst>
                <a:gd name="adj1" fmla="val 5789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983367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611" y="433167"/>
            <a:ext cx="1021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3200" dirty="0">
                <a:cs typeface="Trebuchet MS"/>
              </a:rPr>
              <a:t>Python </a:t>
            </a:r>
            <a:r>
              <a:rPr lang="fr-FR" sz="3200" dirty="0" err="1">
                <a:cs typeface="Trebuchet MS"/>
              </a:rPr>
              <a:t>Operators</a:t>
            </a:r>
            <a:endParaRPr lang="fr-FR" sz="3200" dirty="0">
              <a:cs typeface="Trebuchet MS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A913634-BE15-46B6-A124-04FE6E30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1" y="1360171"/>
            <a:ext cx="9258300" cy="217170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2CB25C0-F629-46A2-8D6F-C69A901C63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505"/>
          <a:stretch/>
        </p:blipFill>
        <p:spPr>
          <a:xfrm>
            <a:off x="1495426" y="3739243"/>
            <a:ext cx="9420225" cy="188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94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9619ED71C6D94591E8EB9E1E5EA7CA" ma:contentTypeVersion="11" ma:contentTypeDescription="Create a new document." ma:contentTypeScope="" ma:versionID="cb3b1cb077eee9b25e8d7bc0942cd321">
  <xsd:schema xmlns:xsd="http://www.w3.org/2001/XMLSchema" xmlns:xs="http://www.w3.org/2001/XMLSchema" xmlns:p="http://schemas.microsoft.com/office/2006/metadata/properties" xmlns:ns3="950f296b-d1f1-4909-9b84-698675328b81" targetNamespace="http://schemas.microsoft.com/office/2006/metadata/properties" ma:root="true" ma:fieldsID="4e3325fa399b706e8c741119c67a0dd8" ns3:_="">
    <xsd:import namespace="950f296b-d1f1-4909-9b84-698675328b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0f296b-d1f1-4909-9b84-698675328b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8E5AD3-A150-4524-96B2-E118C73CB4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0f296b-d1f1-4909-9b84-698675328b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A54268-37D0-41C9-9AD9-DAF5145085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3AC231-7E23-44F0-881F-22B96886341D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950f296b-d1f1-4909-9b84-698675328b81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אריג דמשק</Template>
  <TotalTime>1</TotalTime>
  <Words>872</Words>
  <Application>Microsoft Office PowerPoint</Application>
  <PresentationFormat>מסך רחב</PresentationFormat>
  <Paragraphs>106</Paragraphs>
  <Slides>28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4" baseType="lpstr">
      <vt:lpstr>Arial</vt:lpstr>
      <vt:lpstr>Bookman Old Style</vt:lpstr>
      <vt:lpstr>Rockwell</vt:lpstr>
      <vt:lpstr>Trebuchet MS</vt:lpstr>
      <vt:lpstr>var(--font-din)</vt:lpstr>
      <vt:lpstr>Damask</vt:lpstr>
      <vt:lpstr>מצגת של PowerPoint‏</vt:lpstr>
      <vt:lpstr>תכנות מונחה עצמים Python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משה עופר</dc:creator>
  <cp:lastModifiedBy>משה עופר</cp:lastModifiedBy>
  <cp:revision>1</cp:revision>
  <dcterms:created xsi:type="dcterms:W3CDTF">2025-11-09T12:18:00Z</dcterms:created>
  <dcterms:modified xsi:type="dcterms:W3CDTF">2025-11-09T12:19:09Z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0x010100AA9619ED71C6D94591E8EB9E1E5EA7CA</vt:lpwstr>
  </property>
</Properties>
</file>